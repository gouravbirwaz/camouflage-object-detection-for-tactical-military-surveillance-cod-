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omments/modernComment_100_0.xml" ContentType="application/vnd.ms-powerpoint.comments+xml"/>
  <Override PartName="/ppt/comments/modernComment_104_0.xml" ContentType="application/vnd.ms-powerpoint.comments+xml"/>
  <Override PartName="/ppt/comments/modernComment_11D_0.xml" ContentType="application/vnd.ms-powerpoint.comments+xml"/>
  <Override PartName="/ppt/comments/modernComment_123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76" r:id="rId9"/>
    <p:sldId id="277" r:id="rId10"/>
    <p:sldId id="278" r:id="rId11"/>
    <p:sldId id="263" r:id="rId12"/>
    <p:sldId id="264"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73" r:id="rId26"/>
    <p:sldId id="274" r:id="rId27"/>
    <p:sldId id="275" r:id="rId28"/>
    <p:sldId id="279" r:id="rId2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56745-D964-ABE5-5295-2C86784B0FE1}" name="Guest User" initials="GU" userId="S::urn:spo:tenantanon#bd5329bd-d635-4f24-abef-a20aa88bd2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0F0FA-2784-3FD6-28B7-857D9AC64AFC}" v="6" dt="2026-05-04T07:17:39.089"/>
    <p1510:client id="{ABE23DEE-A68E-BE08-C070-4916E0C7EBBC}" v="112" dt="2026-05-02T18:51:59.933"/>
    <p1510:client id="{D154200C-1B8B-9186-833D-E09E6D3E9458}" v="286" dt="2026-05-04T07:50:38.256"/>
    <p1510:client id="{E2F38D94-023A-6BF8-0E88-3BE87C22ED32}" v="258" dt="2026-05-03T05:32:19.42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omments/modernComment_11D_0.xml><?xml version="1.0" encoding="utf-8"?>
<p188:cmLst xmlns:a="http://schemas.openxmlformats.org/drawingml/2006/main" xmlns:r="http://schemas.openxmlformats.org/officeDocument/2006/relationships" xmlns:p188="http://schemas.microsoft.com/office/powerpoint/2018/8/main">
  <p188:cm id="{90FC4E44-C21D-4C96-B0D2-466E15793971}" authorId="{C3F56745-D964-ABE5-5295-2C86784B0FE1}" created="2026-05-03T05:06:10.056">
    <pc:sldMkLst xmlns:pc="http://schemas.microsoft.com/office/powerpoint/2013/main/command">
      <pc:docMk/>
      <pc:sldMk cId="0" sldId="285"/>
    </pc:sldMkLst>
    <p188:txBody>
      <a:bodyPr/>
      <a:lstStyle/>
      <a:p>
        <a:r>
          <a:rPr lang="en-GB"/>
          <a:t>yakshith:  i was just updated the software requirement , i don't whether it is correct or not ,let  me know</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3CA3F99C-2B4B-49ED-9844-75055CC6580E}" authorId="{C3F56745-D964-ABE5-5295-2C86784B0FE1}" created="2026-05-03T05:25:04.521">
    <pc:sldMkLst xmlns:pc="http://schemas.microsoft.com/office/powerpoint/2013/main/command">
      <pc:docMk/>
      <pc:sldMk cId="0" sldId="256"/>
    </pc:sldMkLst>
    <p188:txBody>
      <a:bodyPr/>
      <a:lstStyle/>
      <a:p>
        <a:r>
          <a:rPr lang="en-GB"/>
          <a:t>yakshith: i was changed the name to dr . maryjo maam insted of ycb sir</a:t>
        </a:r>
      </a:p>
    </p188:txBody>
  </p188:cm>
  <p188:cm id="{DB2E1495-C04B-476D-94D8-95BFC0F0406E}" authorId="{C3F56745-D964-ABE5-5295-2C86784B0FE1}" created="2026-05-03T05:31:49.957">
    <pc:sldMkLst xmlns:pc="http://schemas.microsoft.com/office/powerpoint/2013/main/command">
      <pc:docMk/>
      <pc:sldMk cId="0" sldId="256"/>
    </pc:sldMkLst>
    <p188:txBody>
      <a:bodyPr/>
      <a:lstStyle/>
      <a:p>
        <a:r>
          <a:rPr lang="en-GB"/>
          <a:t>Yakshith: @vinush, I think the editing date cannot be changed; it seems to be fixed</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14A817D0-737A-462D-884D-33C7679A9CE0}" authorId="{C3F56745-D964-ABE5-5295-2C86784B0FE1}" created="2026-05-03T05:22:06.518">
    <pc:sldMkLst xmlns:pc="http://schemas.microsoft.com/office/powerpoint/2013/main/command">
      <pc:docMk/>
      <pc:sldMk cId="0" sldId="260"/>
    </pc:sldMkLst>
    <p188:txBody>
      <a:bodyPr/>
      <a:lstStyle/>
      <a:p>
        <a:r>
          <a:rPr lang="en-GB"/>
          <a:t>yakshith:   @gourav remove one of the literature survey in this ppt slide which is not suitable for us and add u are dgnet realated paper since , we designed ml flow  using dgnet model right , so that's why im telling </a:t>
        </a:r>
      </a:p>
    </p188:txBody>
  </p188:cm>
</p188:cmLst>
</file>

<file path=ppt/comments/modernComment_123_0.xml><?xml version="1.0" encoding="utf-8"?>
<p188:cmLst xmlns:a="http://schemas.openxmlformats.org/drawingml/2006/main" xmlns:r="http://schemas.openxmlformats.org/officeDocument/2006/relationships" xmlns:p188="http://schemas.microsoft.com/office/powerpoint/2018/8/main">
  <p188:cm id="{251B1889-0CF0-4122-AFE1-9600373A1BDB}" authorId="{C3F56745-D964-ABE5-5295-2C86784B0FE1}" created="2026-05-03T05:18:04.432">
    <ac:deMkLst xmlns:ac="http://schemas.microsoft.com/office/drawing/2013/main/command">
      <pc:docMk xmlns:pc="http://schemas.microsoft.com/office/powerpoint/2013/main/command"/>
      <pc:sldMk xmlns:pc="http://schemas.microsoft.com/office/powerpoint/2013/main/command" cId="0" sldId="291"/>
      <ac:spMk id="3" creationId="{00000000-0000-0000-0000-000000000000}"/>
    </ac:deMkLst>
    <p188:txBody>
      <a:bodyPr/>
      <a:lstStyle/>
      <a:p>
        <a:r>
          <a:rPr lang="en-GB"/>
          <a:t>yakshith: i was updated the testing and evalution as per system specification</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44277" y="688269"/>
            <a:ext cx="4846320" cy="529590"/>
          </a:xfrm>
          <a:prstGeom prst="rect">
            <a:avLst/>
          </a:prstGeom>
        </p:spPr>
        <p:txBody>
          <a:bodyPr wrap="square" lIns="0" tIns="0" rIns="0" bIns="0">
            <a:spAutoFit/>
          </a:bodyPr>
          <a:lstStyle>
            <a:lvl1pPr>
              <a:defRPr sz="33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50" b="0" i="0">
                <a:solidFill>
                  <a:srgbClr val="7C7C7C"/>
                </a:solidFill>
                <a:latin typeface="Times New Roman"/>
                <a:cs typeface="Times New Roman"/>
              </a:defRPr>
            </a:lvl1pPr>
          </a:lstStyle>
          <a:p>
            <a:pPr marL="12700">
              <a:lnSpc>
                <a:spcPts val="1689"/>
              </a:lnSpc>
            </a:pPr>
            <a:r>
              <a:rPr spc="-10"/>
              <a:t>Dept</a:t>
            </a:r>
            <a:r>
              <a:rPr spc="-50"/>
              <a:t> </a:t>
            </a:r>
            <a:r>
              <a:rPr spc="-30">
                <a:solidFill>
                  <a:srgbClr val="7E7E7E"/>
                </a:solidFill>
              </a:rPr>
              <a:t>of</a:t>
            </a:r>
            <a:r>
              <a:rPr spc="-20">
                <a:solidFill>
                  <a:srgbClr val="7E7E7E"/>
                </a:solidFill>
              </a:rPr>
              <a:t> </a:t>
            </a:r>
            <a:r>
              <a:rPr spc="-85"/>
              <a:t>CSE(AIML)</a:t>
            </a:r>
          </a:p>
        </p:txBody>
      </p:sp>
      <p:sp>
        <p:nvSpPr>
          <p:cNvPr id="5" name="Holder 5"/>
          <p:cNvSpPr>
            <a:spLocks noGrp="1"/>
          </p:cNvSpPr>
          <p:nvPr>
            <p:ph type="dt" sz="half" idx="6"/>
          </p:nvPr>
        </p:nvSpPr>
        <p:spPr/>
        <p:txBody>
          <a:bodyPr lIns="0" tIns="0" rIns="0" bIns="0"/>
          <a:lstStyle>
            <a:lvl1pPr>
              <a:defRPr sz="1400" b="0" i="0">
                <a:solidFill>
                  <a:srgbClr val="7B7B7B"/>
                </a:solidFill>
                <a:latin typeface="Times New Roman"/>
                <a:cs typeface="Times New Roman"/>
              </a:defRPr>
            </a:lvl1pPr>
          </a:lstStyle>
          <a:p>
            <a:pPr marL="12700">
              <a:lnSpc>
                <a:spcPts val="1635"/>
              </a:lnSpc>
            </a:pPr>
            <a:r>
              <a:t>28-03-</a:t>
            </a:r>
            <a:r>
              <a:rPr spc="-20"/>
              <a:t>2025</a:t>
            </a:r>
          </a:p>
        </p:txBody>
      </p:sp>
      <p:sp>
        <p:nvSpPr>
          <p:cNvPr id="6" name="Holder 6"/>
          <p:cNvSpPr>
            <a:spLocks noGrp="1"/>
          </p:cNvSpPr>
          <p:nvPr>
            <p:ph type="sldNum" sz="quarter" idx="7"/>
          </p:nvPr>
        </p:nvSpPr>
        <p:spPr/>
        <p:txBody>
          <a:bodyPr lIns="0" tIns="0" rIns="0" bIns="0"/>
          <a:lstStyle>
            <a:lvl1pPr>
              <a:defRPr sz="1350" b="0" i="0">
                <a:solidFill>
                  <a:srgbClr val="545454"/>
                </a:solidFill>
                <a:latin typeface="Arial MT"/>
                <a:cs typeface="Arial MT"/>
              </a:defRPr>
            </a:lvl1pPr>
          </a:lstStyle>
          <a:p>
            <a:pPr marL="12700">
              <a:lnSpc>
                <a:spcPts val="1600"/>
              </a:lnSpc>
            </a:pPr>
            <a:fld id="{81D60167-4931-47E6-BA6A-407CBD079E47}" type="slidenum">
              <a:rPr spc="-25" dirty="0"/>
              <a:t>‹#›</a:t>
            </a:fld>
            <a:endParaRPr spc="-2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50" b="0" i="0">
                <a:solidFill>
                  <a:srgbClr val="7C7C7C"/>
                </a:solidFill>
                <a:latin typeface="Times New Roman"/>
                <a:cs typeface="Times New Roman"/>
              </a:defRPr>
            </a:lvl1pPr>
          </a:lstStyle>
          <a:p>
            <a:pPr marL="12700">
              <a:lnSpc>
                <a:spcPts val="1689"/>
              </a:lnSpc>
            </a:pPr>
            <a:r>
              <a:rPr spc="-10"/>
              <a:t>Dept</a:t>
            </a:r>
            <a:r>
              <a:rPr spc="-50"/>
              <a:t> </a:t>
            </a:r>
            <a:r>
              <a:rPr spc="-30">
                <a:solidFill>
                  <a:srgbClr val="7E7E7E"/>
                </a:solidFill>
              </a:rPr>
              <a:t>of</a:t>
            </a:r>
            <a:r>
              <a:rPr spc="-20">
                <a:solidFill>
                  <a:srgbClr val="7E7E7E"/>
                </a:solidFill>
              </a:rPr>
              <a:t> </a:t>
            </a:r>
            <a:r>
              <a:rPr spc="-85"/>
              <a:t>CSE(AIML)</a:t>
            </a:r>
          </a:p>
        </p:txBody>
      </p:sp>
      <p:sp>
        <p:nvSpPr>
          <p:cNvPr id="5" name="Holder 5"/>
          <p:cNvSpPr>
            <a:spLocks noGrp="1"/>
          </p:cNvSpPr>
          <p:nvPr>
            <p:ph type="dt" sz="half" idx="6"/>
          </p:nvPr>
        </p:nvSpPr>
        <p:spPr/>
        <p:txBody>
          <a:bodyPr lIns="0" tIns="0" rIns="0" bIns="0"/>
          <a:lstStyle>
            <a:lvl1pPr>
              <a:defRPr sz="1400" b="0" i="0">
                <a:solidFill>
                  <a:srgbClr val="7B7B7B"/>
                </a:solidFill>
                <a:latin typeface="Times New Roman"/>
                <a:cs typeface="Times New Roman"/>
              </a:defRPr>
            </a:lvl1pPr>
          </a:lstStyle>
          <a:p>
            <a:pPr marL="12700">
              <a:lnSpc>
                <a:spcPts val="1635"/>
              </a:lnSpc>
            </a:pPr>
            <a:r>
              <a:t>28-03-</a:t>
            </a:r>
            <a:r>
              <a:rPr spc="-20"/>
              <a:t>2025</a:t>
            </a:r>
          </a:p>
        </p:txBody>
      </p:sp>
      <p:sp>
        <p:nvSpPr>
          <p:cNvPr id="6" name="Holder 6"/>
          <p:cNvSpPr>
            <a:spLocks noGrp="1"/>
          </p:cNvSpPr>
          <p:nvPr>
            <p:ph type="sldNum" sz="quarter" idx="7"/>
          </p:nvPr>
        </p:nvSpPr>
        <p:spPr/>
        <p:txBody>
          <a:bodyPr lIns="0" tIns="0" rIns="0" bIns="0"/>
          <a:lstStyle>
            <a:lvl1pPr>
              <a:defRPr sz="1350" b="0" i="0">
                <a:solidFill>
                  <a:srgbClr val="545454"/>
                </a:solidFill>
                <a:latin typeface="Arial MT"/>
                <a:cs typeface="Arial MT"/>
              </a:defRPr>
            </a:lvl1pPr>
          </a:lstStyle>
          <a:p>
            <a:pPr marL="12700">
              <a:lnSpc>
                <a:spcPts val="1600"/>
              </a:lnSpc>
            </a:pPr>
            <a:fld id="{81D60167-4931-47E6-BA6A-407CBD079E47}" type="slidenum">
              <a:rPr spc="-25" dirty="0"/>
              <a:t>‹#›</a:t>
            </a:fld>
            <a:endParaRPr spc="-2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50" b="0" i="0">
                <a:solidFill>
                  <a:srgbClr val="7C7C7C"/>
                </a:solidFill>
                <a:latin typeface="Times New Roman"/>
                <a:cs typeface="Times New Roman"/>
              </a:defRPr>
            </a:lvl1pPr>
          </a:lstStyle>
          <a:p>
            <a:pPr marL="12700">
              <a:lnSpc>
                <a:spcPts val="1689"/>
              </a:lnSpc>
            </a:pPr>
            <a:r>
              <a:rPr spc="-10"/>
              <a:t>Dept</a:t>
            </a:r>
            <a:r>
              <a:rPr spc="-50"/>
              <a:t> </a:t>
            </a:r>
            <a:r>
              <a:rPr spc="-30">
                <a:solidFill>
                  <a:srgbClr val="7E7E7E"/>
                </a:solidFill>
              </a:rPr>
              <a:t>of</a:t>
            </a:r>
            <a:r>
              <a:rPr spc="-20">
                <a:solidFill>
                  <a:srgbClr val="7E7E7E"/>
                </a:solidFill>
              </a:rPr>
              <a:t> </a:t>
            </a:r>
            <a:r>
              <a:rPr spc="-85"/>
              <a:t>CSE(AIML)</a:t>
            </a:r>
          </a:p>
        </p:txBody>
      </p:sp>
      <p:sp>
        <p:nvSpPr>
          <p:cNvPr id="6" name="Holder 6"/>
          <p:cNvSpPr>
            <a:spLocks noGrp="1"/>
          </p:cNvSpPr>
          <p:nvPr>
            <p:ph type="dt" sz="half" idx="6"/>
          </p:nvPr>
        </p:nvSpPr>
        <p:spPr/>
        <p:txBody>
          <a:bodyPr lIns="0" tIns="0" rIns="0" bIns="0"/>
          <a:lstStyle>
            <a:lvl1pPr>
              <a:defRPr sz="1400" b="0" i="0">
                <a:solidFill>
                  <a:srgbClr val="7B7B7B"/>
                </a:solidFill>
                <a:latin typeface="Times New Roman"/>
                <a:cs typeface="Times New Roman"/>
              </a:defRPr>
            </a:lvl1pPr>
          </a:lstStyle>
          <a:p>
            <a:pPr marL="12700">
              <a:lnSpc>
                <a:spcPts val="1635"/>
              </a:lnSpc>
            </a:pPr>
            <a:r>
              <a:t>28-03-</a:t>
            </a:r>
            <a:r>
              <a:rPr spc="-20"/>
              <a:t>2025</a:t>
            </a:r>
          </a:p>
        </p:txBody>
      </p:sp>
      <p:sp>
        <p:nvSpPr>
          <p:cNvPr id="7" name="Holder 7"/>
          <p:cNvSpPr>
            <a:spLocks noGrp="1"/>
          </p:cNvSpPr>
          <p:nvPr>
            <p:ph type="sldNum" sz="quarter" idx="7"/>
          </p:nvPr>
        </p:nvSpPr>
        <p:spPr/>
        <p:txBody>
          <a:bodyPr lIns="0" tIns="0" rIns="0" bIns="0"/>
          <a:lstStyle>
            <a:lvl1pPr>
              <a:defRPr sz="1350" b="0" i="0">
                <a:solidFill>
                  <a:srgbClr val="545454"/>
                </a:solidFill>
                <a:latin typeface="Arial MT"/>
                <a:cs typeface="Arial MT"/>
              </a:defRPr>
            </a:lvl1pPr>
          </a:lstStyle>
          <a:p>
            <a:pPr marL="12700">
              <a:lnSpc>
                <a:spcPts val="1600"/>
              </a:lnSpc>
            </a:pPr>
            <a:fld id="{81D60167-4931-47E6-BA6A-407CBD079E47}" type="slidenum">
              <a:rPr spc="-25" dirty="0"/>
              <a:t>‹#›</a:t>
            </a:fld>
            <a:endParaRPr spc="-2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50" b="0" i="0">
                <a:solidFill>
                  <a:srgbClr val="7C7C7C"/>
                </a:solidFill>
                <a:latin typeface="Times New Roman"/>
                <a:cs typeface="Times New Roman"/>
              </a:defRPr>
            </a:lvl1pPr>
          </a:lstStyle>
          <a:p>
            <a:pPr marL="12700">
              <a:lnSpc>
                <a:spcPts val="1689"/>
              </a:lnSpc>
            </a:pPr>
            <a:r>
              <a:rPr spc="-10"/>
              <a:t>Dept</a:t>
            </a:r>
            <a:r>
              <a:rPr spc="-50"/>
              <a:t> </a:t>
            </a:r>
            <a:r>
              <a:rPr spc="-30">
                <a:solidFill>
                  <a:srgbClr val="7E7E7E"/>
                </a:solidFill>
              </a:rPr>
              <a:t>of</a:t>
            </a:r>
            <a:r>
              <a:rPr spc="-20">
                <a:solidFill>
                  <a:srgbClr val="7E7E7E"/>
                </a:solidFill>
              </a:rPr>
              <a:t> </a:t>
            </a:r>
            <a:r>
              <a:rPr spc="-85"/>
              <a:t>CSE(AIML)</a:t>
            </a:r>
          </a:p>
        </p:txBody>
      </p:sp>
      <p:sp>
        <p:nvSpPr>
          <p:cNvPr id="4" name="Holder 4"/>
          <p:cNvSpPr>
            <a:spLocks noGrp="1"/>
          </p:cNvSpPr>
          <p:nvPr>
            <p:ph type="dt" sz="half" idx="6"/>
          </p:nvPr>
        </p:nvSpPr>
        <p:spPr/>
        <p:txBody>
          <a:bodyPr lIns="0" tIns="0" rIns="0" bIns="0"/>
          <a:lstStyle>
            <a:lvl1pPr>
              <a:defRPr sz="1400" b="0" i="0">
                <a:solidFill>
                  <a:srgbClr val="7B7B7B"/>
                </a:solidFill>
                <a:latin typeface="Times New Roman"/>
                <a:cs typeface="Times New Roman"/>
              </a:defRPr>
            </a:lvl1pPr>
          </a:lstStyle>
          <a:p>
            <a:pPr marL="12700">
              <a:lnSpc>
                <a:spcPts val="1635"/>
              </a:lnSpc>
            </a:pPr>
            <a:r>
              <a:t>28-03-</a:t>
            </a:r>
            <a:r>
              <a:rPr spc="-20"/>
              <a:t>2025</a:t>
            </a:r>
          </a:p>
        </p:txBody>
      </p:sp>
      <p:sp>
        <p:nvSpPr>
          <p:cNvPr id="5" name="Holder 5"/>
          <p:cNvSpPr>
            <a:spLocks noGrp="1"/>
          </p:cNvSpPr>
          <p:nvPr>
            <p:ph type="sldNum" sz="quarter" idx="7"/>
          </p:nvPr>
        </p:nvSpPr>
        <p:spPr/>
        <p:txBody>
          <a:bodyPr lIns="0" tIns="0" rIns="0" bIns="0"/>
          <a:lstStyle>
            <a:lvl1pPr>
              <a:defRPr sz="1350" b="0" i="0">
                <a:solidFill>
                  <a:srgbClr val="545454"/>
                </a:solidFill>
                <a:latin typeface="Arial MT"/>
                <a:cs typeface="Arial MT"/>
              </a:defRPr>
            </a:lvl1pPr>
          </a:lstStyle>
          <a:p>
            <a:pPr marL="12700">
              <a:lnSpc>
                <a:spcPts val="1600"/>
              </a:lnSpc>
            </a:pPr>
            <a:fld id="{81D60167-4931-47E6-BA6A-407CBD079E47}" type="slidenum">
              <a:rPr spc="-25" dirty="0"/>
              <a:t>‹#›</a:t>
            </a:fld>
            <a:endParaRPr spc="-2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50" b="0" i="0">
                <a:solidFill>
                  <a:srgbClr val="7C7C7C"/>
                </a:solidFill>
                <a:latin typeface="Times New Roman"/>
                <a:cs typeface="Times New Roman"/>
              </a:defRPr>
            </a:lvl1pPr>
          </a:lstStyle>
          <a:p>
            <a:pPr marL="12700">
              <a:lnSpc>
                <a:spcPts val="1689"/>
              </a:lnSpc>
            </a:pPr>
            <a:r>
              <a:rPr spc="-10"/>
              <a:t>Dept</a:t>
            </a:r>
            <a:r>
              <a:rPr spc="-50"/>
              <a:t> </a:t>
            </a:r>
            <a:r>
              <a:rPr spc="-30">
                <a:solidFill>
                  <a:srgbClr val="7E7E7E"/>
                </a:solidFill>
              </a:rPr>
              <a:t>of</a:t>
            </a:r>
            <a:r>
              <a:rPr spc="-20">
                <a:solidFill>
                  <a:srgbClr val="7E7E7E"/>
                </a:solidFill>
              </a:rPr>
              <a:t> </a:t>
            </a:r>
            <a:r>
              <a:rPr spc="-85"/>
              <a:t>CSE(AIML)</a:t>
            </a:r>
          </a:p>
        </p:txBody>
      </p:sp>
      <p:sp>
        <p:nvSpPr>
          <p:cNvPr id="3" name="Holder 3"/>
          <p:cNvSpPr>
            <a:spLocks noGrp="1"/>
          </p:cNvSpPr>
          <p:nvPr>
            <p:ph type="dt" sz="half" idx="6"/>
          </p:nvPr>
        </p:nvSpPr>
        <p:spPr/>
        <p:txBody>
          <a:bodyPr lIns="0" tIns="0" rIns="0" bIns="0"/>
          <a:lstStyle>
            <a:lvl1pPr>
              <a:defRPr sz="1400" b="0" i="0">
                <a:solidFill>
                  <a:srgbClr val="7B7B7B"/>
                </a:solidFill>
                <a:latin typeface="Times New Roman"/>
                <a:cs typeface="Times New Roman"/>
              </a:defRPr>
            </a:lvl1pPr>
          </a:lstStyle>
          <a:p>
            <a:pPr marL="12700">
              <a:lnSpc>
                <a:spcPts val="1635"/>
              </a:lnSpc>
            </a:pPr>
            <a:r>
              <a:t>28-03-</a:t>
            </a:r>
            <a:r>
              <a:rPr spc="-20"/>
              <a:t>2025</a:t>
            </a:r>
          </a:p>
        </p:txBody>
      </p:sp>
      <p:sp>
        <p:nvSpPr>
          <p:cNvPr id="4" name="Holder 4"/>
          <p:cNvSpPr>
            <a:spLocks noGrp="1"/>
          </p:cNvSpPr>
          <p:nvPr>
            <p:ph type="sldNum" sz="quarter" idx="7"/>
          </p:nvPr>
        </p:nvSpPr>
        <p:spPr/>
        <p:txBody>
          <a:bodyPr lIns="0" tIns="0" rIns="0" bIns="0"/>
          <a:lstStyle>
            <a:lvl1pPr>
              <a:defRPr sz="1350" b="0" i="0">
                <a:solidFill>
                  <a:srgbClr val="545454"/>
                </a:solidFill>
                <a:latin typeface="Arial MT"/>
                <a:cs typeface="Arial MT"/>
              </a:defRPr>
            </a:lvl1pPr>
          </a:lstStyle>
          <a:p>
            <a:pPr marL="12700">
              <a:lnSpc>
                <a:spcPts val="1600"/>
              </a:lnSpc>
            </a:pPr>
            <a:fld id="{81D60167-4931-47E6-BA6A-407CBD079E47}" type="slidenum">
              <a:rPr spc="-25" dirty="0"/>
              <a:t>‹#›</a:t>
            </a:fld>
            <a:endParaRPr spc="-25"/>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0388" y="688269"/>
            <a:ext cx="11151223" cy="813505"/>
          </a:xfrm>
          <a:prstGeom prst="rect">
            <a:avLst/>
          </a:prstGeom>
        </p:spPr>
        <p:txBody>
          <a:bodyPr wrap="square" lIns="0" tIns="0" rIns="0" bIns="0">
            <a:spAutoFit/>
          </a:bodyPr>
          <a:lstStyle>
            <a:lvl1pPr>
              <a:defRPr sz="33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23153" y="1618544"/>
            <a:ext cx="11129645" cy="4114800"/>
          </a:xfrm>
          <a:prstGeom prst="rect">
            <a:avLst/>
          </a:prstGeom>
        </p:spPr>
        <p:txBody>
          <a:bodyPr wrap="square" lIns="0" tIns="0" rIns="0" bIns="0">
            <a:spAutoFit/>
          </a:bodyPr>
          <a:lstStyle>
            <a:lvl1pPr>
              <a:defRPr sz="18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048383" y="6321483"/>
            <a:ext cx="1445259" cy="230504"/>
          </a:xfrm>
          <a:prstGeom prst="rect">
            <a:avLst/>
          </a:prstGeom>
        </p:spPr>
        <p:txBody>
          <a:bodyPr wrap="square" lIns="0" tIns="0" rIns="0" bIns="0">
            <a:spAutoFit/>
          </a:bodyPr>
          <a:lstStyle>
            <a:lvl1pPr>
              <a:defRPr sz="1450" b="0" i="0">
                <a:solidFill>
                  <a:srgbClr val="7C7C7C"/>
                </a:solidFill>
                <a:latin typeface="Times New Roman"/>
                <a:cs typeface="Times New Roman"/>
              </a:defRPr>
            </a:lvl1pPr>
          </a:lstStyle>
          <a:p>
            <a:pPr marL="12700">
              <a:lnSpc>
                <a:spcPts val="1689"/>
              </a:lnSpc>
            </a:pPr>
            <a:r>
              <a:rPr spc="-10"/>
              <a:t>Dept</a:t>
            </a:r>
            <a:r>
              <a:rPr spc="-50"/>
              <a:t> </a:t>
            </a:r>
            <a:r>
              <a:rPr spc="-30">
                <a:solidFill>
                  <a:srgbClr val="7E7E7E"/>
                </a:solidFill>
              </a:rPr>
              <a:t>of</a:t>
            </a:r>
            <a:r>
              <a:rPr spc="-20">
                <a:solidFill>
                  <a:srgbClr val="7E7E7E"/>
                </a:solidFill>
              </a:rPr>
              <a:t> </a:t>
            </a:r>
            <a:r>
              <a:rPr spc="-85"/>
              <a:t>CSE(AIML)</a:t>
            </a:r>
          </a:p>
        </p:txBody>
      </p:sp>
      <p:sp>
        <p:nvSpPr>
          <p:cNvPr id="5" name="Holder 5"/>
          <p:cNvSpPr>
            <a:spLocks noGrp="1"/>
          </p:cNvSpPr>
          <p:nvPr>
            <p:ph type="dt" sz="half" idx="6"/>
          </p:nvPr>
        </p:nvSpPr>
        <p:spPr>
          <a:xfrm>
            <a:off x="1132803" y="6333334"/>
            <a:ext cx="869314" cy="224154"/>
          </a:xfrm>
          <a:prstGeom prst="rect">
            <a:avLst/>
          </a:prstGeom>
        </p:spPr>
        <p:txBody>
          <a:bodyPr wrap="square" lIns="0" tIns="0" rIns="0" bIns="0">
            <a:spAutoFit/>
          </a:bodyPr>
          <a:lstStyle>
            <a:lvl1pPr>
              <a:defRPr sz="1400" b="0" i="0">
                <a:solidFill>
                  <a:srgbClr val="7B7B7B"/>
                </a:solidFill>
                <a:latin typeface="Times New Roman"/>
                <a:cs typeface="Times New Roman"/>
              </a:defRPr>
            </a:lvl1pPr>
          </a:lstStyle>
          <a:p>
            <a:pPr marL="12700">
              <a:lnSpc>
                <a:spcPts val="1635"/>
              </a:lnSpc>
            </a:pPr>
            <a:r>
              <a:t>28-03-</a:t>
            </a:r>
            <a:r>
              <a:rPr spc="-20"/>
              <a:t>2025</a:t>
            </a:r>
          </a:p>
        </p:txBody>
      </p:sp>
      <p:sp>
        <p:nvSpPr>
          <p:cNvPr id="6" name="Holder 6"/>
          <p:cNvSpPr>
            <a:spLocks noGrp="1"/>
          </p:cNvSpPr>
          <p:nvPr>
            <p:ph type="sldNum" sz="quarter" idx="7"/>
          </p:nvPr>
        </p:nvSpPr>
        <p:spPr>
          <a:xfrm>
            <a:off x="11703277" y="6368138"/>
            <a:ext cx="244475" cy="219075"/>
          </a:xfrm>
          <a:prstGeom prst="rect">
            <a:avLst/>
          </a:prstGeom>
        </p:spPr>
        <p:txBody>
          <a:bodyPr wrap="square" lIns="0" tIns="0" rIns="0" bIns="0">
            <a:spAutoFit/>
          </a:bodyPr>
          <a:lstStyle>
            <a:lvl1pPr>
              <a:defRPr sz="1350" b="0" i="0">
                <a:solidFill>
                  <a:srgbClr val="545454"/>
                </a:solidFill>
                <a:latin typeface="Arial MT"/>
                <a:cs typeface="Arial MT"/>
              </a:defRPr>
            </a:lvl1pPr>
          </a:lstStyle>
          <a:p>
            <a:pPr marL="12700">
              <a:lnSpc>
                <a:spcPts val="1600"/>
              </a:lnSpc>
            </a:pPr>
            <a:fld id="{81D60167-4931-47E6-BA6A-407CBD079E47}" type="slidenum">
              <a:rPr spc="-25" dirty="0"/>
              <a:t>‹#›</a:t>
            </a:fld>
            <a:endParaRPr spc="-2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0_0.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1D_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23_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https://doi.org/10.1038/s41598-025-18886-y"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3390/s25103001" TargetMode="External"/><Relationship Id="rId2" Type="http://schemas.openxmlformats.org/officeDocument/2006/relationships/hyperlink" Target="https://doi.org/10.1007/s40747-025-02201-3"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xfrm>
            <a:off x="5284485" y="6289230"/>
            <a:ext cx="1445259" cy="218008"/>
          </a:xfrm>
          <a:prstGeom prst="rect">
            <a:avLst/>
          </a:prstGeom>
        </p:spPr>
        <p:txBody>
          <a:bodyPr vert="horz" wrap="square" lIns="0" tIns="0" rIns="0" bIns="0" rtlCol="0">
            <a:spAutoFit/>
          </a:bodyPr>
          <a:lstStyle/>
          <a:p>
            <a:pPr marL="12700">
              <a:lnSpc>
                <a:spcPts val="1689"/>
              </a:lnSpc>
            </a:pPr>
            <a:r>
              <a:rPr lang="en-IN" spc="-10"/>
              <a:t>    </a:t>
            </a:r>
            <a:r>
              <a:rPr spc="-10"/>
              <a:t>Dept</a:t>
            </a:r>
            <a:r>
              <a:rPr spc="-50"/>
              <a:t> </a:t>
            </a:r>
            <a:r>
              <a:rPr spc="-30">
                <a:solidFill>
                  <a:srgbClr val="7E7E7E"/>
                </a:solidFill>
              </a:rPr>
              <a:t>of</a:t>
            </a:r>
            <a:r>
              <a:rPr spc="-20">
                <a:solidFill>
                  <a:srgbClr val="7E7E7E"/>
                </a:solidFill>
              </a:rPr>
              <a:t> </a:t>
            </a:r>
            <a:r>
              <a:rPr spc="-85"/>
              <a:t>AIML</a:t>
            </a:r>
          </a:p>
        </p:txBody>
      </p:sp>
      <p:sp>
        <p:nvSpPr>
          <p:cNvPr id="10" name="object 10"/>
          <p:cNvSpPr txBox="1">
            <a:spLocks noGrp="1"/>
          </p:cNvSpPr>
          <p:nvPr>
            <p:ph type="dt" sz="half" idx="6"/>
          </p:nvPr>
        </p:nvSpPr>
        <p:spPr>
          <a:xfrm>
            <a:off x="1132803" y="6333334"/>
            <a:ext cx="869314" cy="205184"/>
          </a:xfrm>
          <a:prstGeom prst="rect">
            <a:avLst/>
          </a:prstGeom>
        </p:spPr>
        <p:txBody>
          <a:bodyPr vert="horz" wrap="square" lIns="0" tIns="0" rIns="0" bIns="0" rtlCol="0">
            <a:spAutoFit/>
          </a:bodyPr>
          <a:lstStyle/>
          <a:p>
            <a:pPr marL="12700">
              <a:lnSpc>
                <a:spcPts val="1635"/>
              </a:lnSpc>
            </a:pPr>
            <a:r>
              <a:rPr lang="en-IN"/>
              <a:t>03</a:t>
            </a:r>
            <a:r>
              <a:t>-03-</a:t>
            </a:r>
            <a:r>
              <a:rPr spc="-20"/>
              <a:t>202</a:t>
            </a:r>
            <a:r>
              <a:rPr lang="en-IN" spc="-20"/>
              <a:t>6</a:t>
            </a:r>
            <a:endParaRPr spc="-2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600"/>
              </a:lnSpc>
            </a:pPr>
            <a:fld id="{81D60167-4931-47E6-BA6A-407CBD079E47}" type="slidenum">
              <a:rPr spc="-25" dirty="0"/>
              <a:t>1</a:t>
            </a:fld>
            <a:endParaRPr spc="-25"/>
          </a:p>
        </p:txBody>
      </p:sp>
      <p:sp>
        <p:nvSpPr>
          <p:cNvPr id="5" name="object 5"/>
          <p:cNvSpPr txBox="1"/>
          <p:nvPr/>
        </p:nvSpPr>
        <p:spPr>
          <a:xfrm>
            <a:off x="1613815" y="66498"/>
            <a:ext cx="10177780" cy="1268095"/>
          </a:xfrm>
          <a:prstGeom prst="rect">
            <a:avLst/>
          </a:prstGeom>
        </p:spPr>
        <p:txBody>
          <a:bodyPr vert="horz" wrap="square" lIns="0" tIns="15875" rIns="0" bIns="0" rtlCol="0" anchor="t">
            <a:spAutoFit/>
          </a:bodyPr>
          <a:lstStyle/>
          <a:p>
            <a:pPr marL="12700">
              <a:lnSpc>
                <a:spcPts val="3020"/>
              </a:lnSpc>
              <a:spcBef>
                <a:spcPts val="125"/>
              </a:spcBef>
              <a:tabLst>
                <a:tab pos="4298950" algn="l"/>
                <a:tab pos="7403465" algn="l"/>
              </a:tabLst>
            </a:pPr>
            <a:r>
              <a:rPr sz="2550" spc="140">
                <a:solidFill>
                  <a:srgbClr val="F90000"/>
                </a:solidFill>
                <a:latin typeface="Times New Roman"/>
                <a:cs typeface="Times New Roman"/>
              </a:rPr>
              <a:t>MANGALORE</a:t>
            </a:r>
            <a:r>
              <a:rPr sz="2550" spc="295">
                <a:solidFill>
                  <a:srgbClr val="F90000"/>
                </a:solidFill>
                <a:latin typeface="Times New Roman"/>
                <a:cs typeface="Times New Roman"/>
              </a:rPr>
              <a:t> </a:t>
            </a:r>
            <a:r>
              <a:rPr sz="2550" spc="114">
                <a:solidFill>
                  <a:srgbClr val="FB0000"/>
                </a:solidFill>
                <a:latin typeface="Times New Roman"/>
                <a:cs typeface="Times New Roman"/>
              </a:rPr>
              <a:t>INSTITUTE</a:t>
            </a:r>
            <a:r>
              <a:rPr sz="2550">
                <a:solidFill>
                  <a:srgbClr val="FB0000"/>
                </a:solidFill>
                <a:latin typeface="Times New Roman"/>
                <a:cs typeface="Times New Roman"/>
              </a:rPr>
              <a:t>	</a:t>
            </a:r>
            <a:r>
              <a:rPr sz="2550" spc="140">
                <a:solidFill>
                  <a:srgbClr val="F90001"/>
                </a:solidFill>
                <a:latin typeface="Times New Roman"/>
                <a:cs typeface="Times New Roman"/>
              </a:rPr>
              <a:t>OF</a:t>
            </a:r>
            <a:r>
              <a:rPr sz="2550" spc="165">
                <a:solidFill>
                  <a:srgbClr val="F90001"/>
                </a:solidFill>
                <a:latin typeface="Times New Roman"/>
                <a:cs typeface="Times New Roman"/>
              </a:rPr>
              <a:t> </a:t>
            </a:r>
            <a:r>
              <a:rPr sz="2550" spc="140">
                <a:solidFill>
                  <a:srgbClr val="FB0700"/>
                </a:solidFill>
                <a:latin typeface="Times New Roman"/>
                <a:cs typeface="Times New Roman"/>
              </a:rPr>
              <a:t>TECHNOLOGY</a:t>
            </a:r>
            <a:r>
              <a:rPr sz="2550">
                <a:solidFill>
                  <a:srgbClr val="FB0700"/>
                </a:solidFill>
                <a:latin typeface="Times New Roman"/>
                <a:cs typeface="Times New Roman"/>
              </a:rPr>
              <a:t>	</a:t>
            </a:r>
            <a:r>
              <a:rPr sz="2550" spc="135">
                <a:solidFill>
                  <a:srgbClr val="FB0001"/>
                </a:solidFill>
                <a:latin typeface="Times New Roman"/>
                <a:cs typeface="Times New Roman"/>
              </a:rPr>
              <a:t>&amp;</a:t>
            </a:r>
            <a:r>
              <a:rPr sz="2550" spc="105">
                <a:solidFill>
                  <a:srgbClr val="FB0001"/>
                </a:solidFill>
                <a:latin typeface="Times New Roman"/>
                <a:cs typeface="Times New Roman"/>
              </a:rPr>
              <a:t> </a:t>
            </a:r>
            <a:r>
              <a:rPr sz="2550" spc="125">
                <a:solidFill>
                  <a:srgbClr val="FB0300"/>
                </a:solidFill>
                <a:latin typeface="Times New Roman"/>
                <a:cs typeface="Times New Roman"/>
              </a:rPr>
              <a:t>ENGINEERING</a:t>
            </a:r>
            <a:endParaRPr sz="2550">
              <a:latin typeface="Times New Roman"/>
              <a:cs typeface="Times New Roman"/>
            </a:endParaRPr>
          </a:p>
          <a:p>
            <a:pPr marL="2484755">
              <a:lnSpc>
                <a:spcPts val="2220"/>
              </a:lnSpc>
            </a:pPr>
            <a:r>
              <a:rPr sz="1900">
                <a:solidFill>
                  <a:srgbClr val="001F5E"/>
                </a:solidFill>
                <a:latin typeface="Times New Roman"/>
                <a:cs typeface="Times New Roman"/>
              </a:rPr>
              <a:t>(A</a:t>
            </a:r>
            <a:r>
              <a:rPr sz="1900" spc="215">
                <a:solidFill>
                  <a:srgbClr val="001F5E"/>
                </a:solidFill>
                <a:latin typeface="Times New Roman"/>
                <a:cs typeface="Times New Roman"/>
              </a:rPr>
              <a:t> </a:t>
            </a:r>
            <a:r>
              <a:rPr sz="1900">
                <a:solidFill>
                  <a:srgbClr val="002167"/>
                </a:solidFill>
                <a:latin typeface="Times New Roman"/>
                <a:cs typeface="Times New Roman"/>
              </a:rPr>
              <a:t>Unit</a:t>
            </a:r>
            <a:r>
              <a:rPr sz="1900" spc="204">
                <a:solidFill>
                  <a:srgbClr val="002167"/>
                </a:solidFill>
                <a:latin typeface="Times New Roman"/>
                <a:cs typeface="Times New Roman"/>
              </a:rPr>
              <a:t> </a:t>
            </a:r>
            <a:r>
              <a:rPr sz="1900">
                <a:solidFill>
                  <a:srgbClr val="002156"/>
                </a:solidFill>
                <a:latin typeface="Times New Roman"/>
                <a:cs typeface="Times New Roman"/>
              </a:rPr>
              <a:t>of</a:t>
            </a:r>
            <a:r>
              <a:rPr sz="1900" spc="120">
                <a:solidFill>
                  <a:srgbClr val="002156"/>
                </a:solidFill>
                <a:latin typeface="Times New Roman"/>
                <a:cs typeface="Times New Roman"/>
              </a:rPr>
              <a:t> </a:t>
            </a:r>
            <a:r>
              <a:rPr sz="1900" err="1">
                <a:solidFill>
                  <a:srgbClr val="002162"/>
                </a:solidFill>
                <a:latin typeface="Times New Roman"/>
                <a:cs typeface="Times New Roman"/>
              </a:rPr>
              <a:t>Rajalaxmi</a:t>
            </a:r>
            <a:r>
              <a:rPr sz="1900" spc="204">
                <a:solidFill>
                  <a:srgbClr val="002162"/>
                </a:solidFill>
                <a:latin typeface="Times New Roman"/>
                <a:cs typeface="Times New Roman"/>
              </a:rPr>
              <a:t> </a:t>
            </a:r>
            <a:r>
              <a:rPr sz="1900">
                <a:solidFill>
                  <a:srgbClr val="031859"/>
                </a:solidFill>
                <a:latin typeface="Times New Roman"/>
                <a:cs typeface="Times New Roman"/>
              </a:rPr>
              <a:t>Education</a:t>
            </a:r>
            <a:r>
              <a:rPr sz="1900" spc="315">
                <a:solidFill>
                  <a:srgbClr val="031859"/>
                </a:solidFill>
                <a:latin typeface="Times New Roman"/>
                <a:cs typeface="Times New Roman"/>
              </a:rPr>
              <a:t> </a:t>
            </a:r>
            <a:r>
              <a:rPr sz="1900" err="1">
                <a:solidFill>
                  <a:srgbClr val="08216B"/>
                </a:solidFill>
                <a:latin typeface="Times New Roman"/>
                <a:cs typeface="Times New Roman"/>
              </a:rPr>
              <a:t>Trust</a:t>
            </a:r>
            <a:r>
              <a:rPr sz="1900" err="1">
                <a:solidFill>
                  <a:srgbClr val="051F5D"/>
                </a:solidFill>
                <a:latin typeface="Times New Roman"/>
                <a:cs typeface="Times New Roman"/>
              </a:rPr>
              <a:t>O</a:t>
            </a:r>
            <a:r>
              <a:rPr sz="1900">
                <a:solidFill>
                  <a:srgbClr val="051F5D"/>
                </a:solidFill>
                <a:latin typeface="Times New Roman"/>
                <a:cs typeface="Times New Roman"/>
              </a:rPr>
              <a:t>,</a:t>
            </a:r>
            <a:r>
              <a:rPr sz="1900" spc="95">
                <a:solidFill>
                  <a:srgbClr val="051F5D"/>
                </a:solidFill>
                <a:latin typeface="Times New Roman"/>
                <a:cs typeface="Times New Roman"/>
              </a:rPr>
              <a:t> </a:t>
            </a:r>
            <a:r>
              <a:rPr sz="1900" spc="-10">
                <a:solidFill>
                  <a:srgbClr val="001F64"/>
                </a:solidFill>
                <a:latin typeface="Times New Roman"/>
                <a:cs typeface="Times New Roman"/>
              </a:rPr>
              <a:t>Mangalore)</a:t>
            </a:r>
            <a:endParaRPr sz="1900">
              <a:latin typeface="Times New Roman"/>
              <a:cs typeface="Times New Roman"/>
            </a:endParaRPr>
          </a:p>
          <a:p>
            <a:pPr marL="1743075" marR="562610" indent="-711200">
              <a:lnSpc>
                <a:spcPts val="2250"/>
              </a:lnSpc>
              <a:spcBef>
                <a:spcPts val="85"/>
              </a:spcBef>
            </a:pPr>
            <a:r>
              <a:rPr sz="1900">
                <a:solidFill>
                  <a:srgbClr val="011C5D"/>
                </a:solidFill>
                <a:latin typeface="Times New Roman"/>
                <a:cs typeface="Times New Roman"/>
              </a:rPr>
              <a:t>Autonomous</a:t>
            </a:r>
            <a:r>
              <a:rPr sz="1900" spc="200">
                <a:solidFill>
                  <a:srgbClr val="011C5D"/>
                </a:solidFill>
                <a:latin typeface="Times New Roman"/>
                <a:cs typeface="Times New Roman"/>
              </a:rPr>
              <a:t> </a:t>
            </a:r>
            <a:r>
              <a:rPr sz="1900">
                <a:solidFill>
                  <a:srgbClr val="052162"/>
                </a:solidFill>
                <a:latin typeface="Times New Roman"/>
                <a:cs typeface="Times New Roman"/>
              </a:rPr>
              <a:t>Institute</a:t>
            </a:r>
            <a:r>
              <a:rPr sz="1900" spc="170">
                <a:solidFill>
                  <a:srgbClr val="052162"/>
                </a:solidFill>
                <a:latin typeface="Times New Roman"/>
                <a:cs typeface="Times New Roman"/>
              </a:rPr>
              <a:t> </a:t>
            </a:r>
            <a:r>
              <a:rPr sz="1900" err="1">
                <a:solidFill>
                  <a:srgbClr val="011F62"/>
                </a:solidFill>
                <a:latin typeface="Times New Roman"/>
                <a:cs typeface="Times New Roman"/>
              </a:rPr>
              <a:t>affiEated</a:t>
            </a:r>
            <a:r>
              <a:rPr sz="1900" spc="155">
                <a:solidFill>
                  <a:srgbClr val="011F62"/>
                </a:solidFill>
                <a:latin typeface="Times New Roman"/>
                <a:cs typeface="Times New Roman"/>
              </a:rPr>
              <a:t> </a:t>
            </a:r>
            <a:r>
              <a:rPr sz="1900">
                <a:solidFill>
                  <a:srgbClr val="011C64"/>
                </a:solidFill>
                <a:latin typeface="Times New Roman"/>
                <a:cs typeface="Times New Roman"/>
              </a:rPr>
              <a:t>to </a:t>
            </a:r>
            <a:r>
              <a:rPr sz="1900" spc="-55">
                <a:solidFill>
                  <a:srgbClr val="052462"/>
                </a:solidFill>
                <a:latin typeface="Times New Roman"/>
                <a:cs typeface="Times New Roman"/>
              </a:rPr>
              <a:t>V.T.U.,</a:t>
            </a:r>
            <a:r>
              <a:rPr sz="1900" spc="60">
                <a:solidFill>
                  <a:srgbClr val="052462"/>
                </a:solidFill>
                <a:latin typeface="Times New Roman"/>
                <a:cs typeface="Times New Roman"/>
              </a:rPr>
              <a:t> </a:t>
            </a:r>
            <a:r>
              <a:rPr sz="1900">
                <a:solidFill>
                  <a:srgbClr val="032160"/>
                </a:solidFill>
                <a:latin typeface="Times New Roman"/>
                <a:cs typeface="Times New Roman"/>
              </a:rPr>
              <a:t>Belagavi,</a:t>
            </a:r>
            <a:r>
              <a:rPr sz="1900" spc="180">
                <a:solidFill>
                  <a:srgbClr val="032160"/>
                </a:solidFill>
                <a:latin typeface="Times New Roman"/>
                <a:cs typeface="Times New Roman"/>
              </a:rPr>
              <a:t> </a:t>
            </a:r>
            <a:r>
              <a:rPr sz="1900">
                <a:solidFill>
                  <a:srgbClr val="001D54"/>
                </a:solidFill>
                <a:latin typeface="Times New Roman"/>
                <a:cs typeface="Times New Roman"/>
              </a:rPr>
              <a:t>Approved</a:t>
            </a:r>
            <a:r>
              <a:rPr sz="1900" spc="320">
                <a:solidFill>
                  <a:srgbClr val="001D54"/>
                </a:solidFill>
                <a:latin typeface="Times New Roman"/>
                <a:cs typeface="Times New Roman"/>
              </a:rPr>
              <a:t> </a:t>
            </a:r>
            <a:r>
              <a:rPr sz="1900">
                <a:solidFill>
                  <a:srgbClr val="001F60"/>
                </a:solidFill>
                <a:latin typeface="Times New Roman"/>
                <a:cs typeface="Times New Roman"/>
              </a:rPr>
              <a:t>by</a:t>
            </a:r>
            <a:r>
              <a:rPr sz="1900" spc="70">
                <a:solidFill>
                  <a:srgbClr val="001F60"/>
                </a:solidFill>
                <a:latin typeface="Times New Roman"/>
                <a:cs typeface="Times New Roman"/>
              </a:rPr>
              <a:t> </a:t>
            </a:r>
            <a:r>
              <a:rPr sz="1900">
                <a:solidFill>
                  <a:srgbClr val="03215D"/>
                </a:solidFill>
                <a:latin typeface="Times New Roman"/>
                <a:cs typeface="Times New Roman"/>
              </a:rPr>
              <a:t>AICTE,</a:t>
            </a:r>
            <a:r>
              <a:rPr sz="1900" spc="165">
                <a:solidFill>
                  <a:srgbClr val="03215D"/>
                </a:solidFill>
                <a:latin typeface="Times New Roman"/>
                <a:cs typeface="Times New Roman"/>
              </a:rPr>
              <a:t> </a:t>
            </a:r>
            <a:r>
              <a:rPr sz="1900" spc="-30">
                <a:solidFill>
                  <a:srgbClr val="001C59"/>
                </a:solidFill>
                <a:latin typeface="Times New Roman"/>
                <a:cs typeface="Times New Roman"/>
              </a:rPr>
              <a:t>New</a:t>
            </a:r>
            <a:r>
              <a:rPr sz="1900" spc="150">
                <a:solidFill>
                  <a:srgbClr val="001C59"/>
                </a:solidFill>
                <a:latin typeface="Times New Roman"/>
                <a:cs typeface="Times New Roman"/>
              </a:rPr>
              <a:t> </a:t>
            </a:r>
            <a:r>
              <a:rPr sz="1900" spc="-10">
                <a:solidFill>
                  <a:srgbClr val="031C5B"/>
                </a:solidFill>
                <a:latin typeface="Times New Roman"/>
                <a:cs typeface="Times New Roman"/>
              </a:rPr>
              <a:t>Delhi. </a:t>
            </a:r>
            <a:r>
              <a:rPr sz="1900">
                <a:solidFill>
                  <a:srgbClr val="001F5D"/>
                </a:solidFill>
                <a:latin typeface="Times New Roman"/>
                <a:cs typeface="Times New Roman"/>
              </a:rPr>
              <a:t>Accredited</a:t>
            </a:r>
            <a:r>
              <a:rPr sz="1900" spc="265">
                <a:solidFill>
                  <a:srgbClr val="001F5D"/>
                </a:solidFill>
                <a:latin typeface="Times New Roman"/>
                <a:cs typeface="Times New Roman"/>
              </a:rPr>
              <a:t> </a:t>
            </a:r>
            <a:r>
              <a:rPr sz="1900">
                <a:solidFill>
                  <a:srgbClr val="011F64"/>
                </a:solidFill>
                <a:latin typeface="Times New Roman"/>
                <a:cs typeface="Times New Roman"/>
              </a:rPr>
              <a:t>by</a:t>
            </a:r>
            <a:r>
              <a:rPr sz="1900" spc="65">
                <a:solidFill>
                  <a:srgbClr val="011F64"/>
                </a:solidFill>
                <a:latin typeface="Times New Roman"/>
                <a:cs typeface="Times New Roman"/>
              </a:rPr>
              <a:t> </a:t>
            </a:r>
            <a:r>
              <a:rPr sz="1900" spc="-10">
                <a:solidFill>
                  <a:srgbClr val="031F5B"/>
                </a:solidFill>
                <a:latin typeface="Times New Roman"/>
                <a:cs typeface="Times New Roman"/>
              </a:rPr>
              <a:t>NAAC</a:t>
            </a:r>
            <a:r>
              <a:rPr sz="1900" spc="135">
                <a:solidFill>
                  <a:srgbClr val="031F5B"/>
                </a:solidFill>
                <a:latin typeface="Times New Roman"/>
                <a:cs typeface="Times New Roman"/>
              </a:rPr>
              <a:t> </a:t>
            </a:r>
            <a:r>
              <a:rPr sz="1900">
                <a:solidFill>
                  <a:srgbClr val="002360"/>
                </a:solidFill>
                <a:latin typeface="Times New Roman"/>
                <a:cs typeface="Times New Roman"/>
              </a:rPr>
              <a:t>with</a:t>
            </a:r>
            <a:r>
              <a:rPr sz="1900" spc="55">
                <a:solidFill>
                  <a:srgbClr val="002360"/>
                </a:solidFill>
                <a:latin typeface="Times New Roman"/>
                <a:cs typeface="Times New Roman"/>
              </a:rPr>
              <a:t> </a:t>
            </a:r>
            <a:r>
              <a:rPr sz="1900">
                <a:solidFill>
                  <a:srgbClr val="002164"/>
                </a:solidFill>
                <a:latin typeface="Times New Roman"/>
                <a:cs typeface="Times New Roman"/>
              </a:rPr>
              <a:t>A+</a:t>
            </a:r>
            <a:r>
              <a:rPr sz="1900" spc="85">
                <a:solidFill>
                  <a:srgbClr val="002164"/>
                </a:solidFill>
                <a:latin typeface="Times New Roman"/>
                <a:cs typeface="Times New Roman"/>
              </a:rPr>
              <a:t> </a:t>
            </a:r>
            <a:r>
              <a:rPr sz="1900" spc="55">
                <a:solidFill>
                  <a:srgbClr val="00215D"/>
                </a:solidFill>
                <a:latin typeface="Times New Roman"/>
                <a:cs typeface="Times New Roman"/>
              </a:rPr>
              <a:t>Grade,</a:t>
            </a:r>
            <a:r>
              <a:rPr sz="1900" spc="10">
                <a:solidFill>
                  <a:srgbClr val="00215D"/>
                </a:solidFill>
                <a:latin typeface="Times New Roman"/>
                <a:cs typeface="Times New Roman"/>
              </a:rPr>
              <a:t> </a:t>
            </a:r>
            <a:r>
              <a:rPr sz="1900">
                <a:solidFill>
                  <a:srgbClr val="001F60"/>
                </a:solidFill>
                <a:latin typeface="Times New Roman"/>
                <a:cs typeface="Times New Roman"/>
              </a:rPr>
              <a:t>An</a:t>
            </a:r>
            <a:r>
              <a:rPr sz="1900" spc="75">
                <a:solidFill>
                  <a:srgbClr val="001F60"/>
                </a:solidFill>
                <a:latin typeface="Times New Roman"/>
                <a:cs typeface="Times New Roman"/>
              </a:rPr>
              <a:t> </a:t>
            </a:r>
            <a:r>
              <a:rPr sz="1900">
                <a:solidFill>
                  <a:srgbClr val="001F5E"/>
                </a:solidFill>
                <a:latin typeface="Times New Roman"/>
                <a:cs typeface="Times New Roman"/>
              </a:rPr>
              <a:t>ISO</a:t>
            </a:r>
            <a:r>
              <a:rPr sz="1900" spc="-5">
                <a:solidFill>
                  <a:srgbClr val="001F5E"/>
                </a:solidFill>
                <a:latin typeface="Times New Roman"/>
                <a:cs typeface="Times New Roman"/>
              </a:rPr>
              <a:t> </a:t>
            </a:r>
            <a:r>
              <a:rPr sz="1900">
                <a:solidFill>
                  <a:srgbClr val="051856"/>
                </a:solidFill>
                <a:latin typeface="Times New Roman"/>
                <a:cs typeface="Times New Roman"/>
              </a:rPr>
              <a:t>9001:</a:t>
            </a:r>
            <a:r>
              <a:rPr sz="1900" spc="100">
                <a:solidFill>
                  <a:srgbClr val="051856"/>
                </a:solidFill>
                <a:latin typeface="Times New Roman"/>
                <a:cs typeface="Times New Roman"/>
              </a:rPr>
              <a:t> </a:t>
            </a:r>
            <a:r>
              <a:rPr sz="1900" spc="-10">
                <a:solidFill>
                  <a:srgbClr val="00235B"/>
                </a:solidFill>
                <a:latin typeface="Times New Roman"/>
                <a:cs typeface="Times New Roman"/>
              </a:rPr>
              <a:t>2015</a:t>
            </a:r>
            <a:r>
              <a:rPr sz="1900" spc="15">
                <a:solidFill>
                  <a:srgbClr val="00235B"/>
                </a:solidFill>
                <a:latin typeface="Times New Roman"/>
                <a:cs typeface="Times New Roman"/>
              </a:rPr>
              <a:t> </a:t>
            </a:r>
            <a:r>
              <a:rPr sz="1900">
                <a:solidFill>
                  <a:srgbClr val="001F5B"/>
                </a:solidFill>
                <a:latin typeface="Times New Roman"/>
                <a:cs typeface="Times New Roman"/>
              </a:rPr>
              <a:t>Certified</a:t>
            </a:r>
            <a:r>
              <a:rPr sz="1900" spc="90">
                <a:solidFill>
                  <a:srgbClr val="001F5B"/>
                </a:solidFill>
                <a:latin typeface="Times New Roman"/>
                <a:cs typeface="Times New Roman"/>
              </a:rPr>
              <a:t> </a:t>
            </a:r>
            <a:r>
              <a:rPr sz="1900" spc="-10">
                <a:solidFill>
                  <a:srgbClr val="071D64"/>
                </a:solidFill>
                <a:latin typeface="Times New Roman"/>
                <a:cs typeface="Times New Roman"/>
              </a:rPr>
              <a:t>Institution</a:t>
            </a:r>
            <a:endParaRPr sz="1900">
              <a:latin typeface="Times New Roman"/>
              <a:cs typeface="Times New Roman"/>
            </a:endParaRPr>
          </a:p>
        </p:txBody>
      </p:sp>
      <p:sp>
        <p:nvSpPr>
          <p:cNvPr id="6" name="object 6"/>
          <p:cNvSpPr txBox="1"/>
          <p:nvPr/>
        </p:nvSpPr>
        <p:spPr>
          <a:xfrm>
            <a:off x="239451" y="1327959"/>
            <a:ext cx="11755025" cy="2989408"/>
          </a:xfrm>
          <a:prstGeom prst="rect">
            <a:avLst/>
          </a:prstGeom>
        </p:spPr>
        <p:txBody>
          <a:bodyPr vert="horz" wrap="square" lIns="0" tIns="119380" rIns="0" bIns="0" rtlCol="0" anchor="t">
            <a:spAutoFit/>
          </a:bodyPr>
          <a:lstStyle/>
          <a:p>
            <a:pPr marL="1536700">
              <a:lnSpc>
                <a:spcPct val="100000"/>
              </a:lnSpc>
              <a:spcBef>
                <a:spcPts val="940"/>
              </a:spcBef>
            </a:pPr>
            <a:r>
              <a:rPr sz="2100" dirty="0">
                <a:solidFill>
                  <a:srgbClr val="006EC3"/>
                </a:solidFill>
                <a:latin typeface="Times New Roman"/>
                <a:cs typeface="Times New Roman"/>
              </a:rPr>
              <a:t>DEPARTMENT</a:t>
            </a:r>
            <a:r>
              <a:rPr sz="2100" spc="370" dirty="0">
                <a:solidFill>
                  <a:srgbClr val="006EC3"/>
                </a:solidFill>
                <a:latin typeface="Times New Roman"/>
                <a:cs typeface="Times New Roman"/>
              </a:rPr>
              <a:t> </a:t>
            </a:r>
            <a:r>
              <a:rPr sz="2100" spc="140" dirty="0">
                <a:solidFill>
                  <a:srgbClr val="0070C1"/>
                </a:solidFill>
                <a:latin typeface="Times New Roman"/>
                <a:cs typeface="Times New Roman"/>
              </a:rPr>
              <a:t>OF</a:t>
            </a:r>
            <a:r>
              <a:rPr lang="en-IN" sz="2100" spc="50" dirty="0">
                <a:solidFill>
                  <a:srgbClr val="0070C1"/>
                </a:solidFill>
                <a:latin typeface="Times New Roman"/>
                <a:cs typeface="Times New Roman"/>
              </a:rPr>
              <a:t> </a:t>
            </a:r>
            <a:r>
              <a:rPr sz="2100" spc="95" dirty="0">
                <a:solidFill>
                  <a:srgbClr val="0072C3"/>
                </a:solidFill>
                <a:latin typeface="Times New Roman"/>
                <a:cs typeface="Times New Roman"/>
              </a:rPr>
              <a:t>ARTIFICIAL</a:t>
            </a:r>
            <a:r>
              <a:rPr sz="2100" spc="-5" dirty="0">
                <a:solidFill>
                  <a:srgbClr val="0072C3"/>
                </a:solidFill>
                <a:latin typeface="Times New Roman"/>
                <a:cs typeface="Times New Roman"/>
              </a:rPr>
              <a:t> </a:t>
            </a:r>
            <a:r>
              <a:rPr sz="2100" spc="70" dirty="0">
                <a:solidFill>
                  <a:srgbClr val="0570B5"/>
                </a:solidFill>
                <a:latin typeface="Times New Roman"/>
                <a:cs typeface="Times New Roman"/>
              </a:rPr>
              <a:t>INTELLIGENCE</a:t>
            </a:r>
            <a:r>
              <a:rPr sz="2100" spc="490" dirty="0">
                <a:solidFill>
                  <a:srgbClr val="0570B5"/>
                </a:solidFill>
                <a:latin typeface="Times New Roman"/>
                <a:cs typeface="Times New Roman"/>
              </a:rPr>
              <a:t> </a:t>
            </a:r>
            <a:r>
              <a:rPr sz="2100" dirty="0">
                <a:solidFill>
                  <a:srgbClr val="0072C4"/>
                </a:solidFill>
                <a:latin typeface="Times New Roman"/>
                <a:cs typeface="Times New Roman"/>
              </a:rPr>
              <a:t>AND</a:t>
            </a:r>
            <a:r>
              <a:rPr sz="2100" spc="185" dirty="0">
                <a:solidFill>
                  <a:srgbClr val="0072C4"/>
                </a:solidFill>
                <a:latin typeface="Times New Roman"/>
                <a:cs typeface="Times New Roman"/>
              </a:rPr>
              <a:t> </a:t>
            </a:r>
            <a:r>
              <a:rPr sz="2100" spc="65" dirty="0">
                <a:solidFill>
                  <a:srgbClr val="0070BF"/>
                </a:solidFill>
                <a:latin typeface="Times New Roman"/>
                <a:cs typeface="Times New Roman"/>
              </a:rPr>
              <a:t>MACHINE</a:t>
            </a:r>
            <a:r>
              <a:rPr sz="2100" spc="330" dirty="0">
                <a:solidFill>
                  <a:srgbClr val="0070BF"/>
                </a:solidFill>
                <a:latin typeface="Times New Roman"/>
                <a:cs typeface="Times New Roman"/>
              </a:rPr>
              <a:t> </a:t>
            </a:r>
            <a:r>
              <a:rPr sz="2100" spc="-10" dirty="0">
                <a:solidFill>
                  <a:srgbClr val="0172BF"/>
                </a:solidFill>
                <a:latin typeface="Times New Roman"/>
                <a:cs typeface="Times New Roman"/>
              </a:rPr>
              <a:t>LEARNING</a:t>
            </a:r>
            <a:endParaRPr sz="2100" dirty="0">
              <a:latin typeface="Times New Roman"/>
              <a:cs typeface="Times New Roman"/>
            </a:endParaRPr>
          </a:p>
          <a:p>
            <a:pPr marL="635" algn="ctr">
              <a:spcBef>
                <a:spcPts val="1505"/>
              </a:spcBef>
            </a:pPr>
            <a:r>
              <a:rPr lang="en-GB" sz="3850" dirty="0">
                <a:solidFill>
                  <a:srgbClr val="0C54DF"/>
                </a:solidFill>
                <a:latin typeface="Times New Roman"/>
                <a:cs typeface="Times New Roman"/>
              </a:rPr>
              <a:t>Project</a:t>
            </a:r>
            <a:r>
              <a:rPr lang="en-GB" sz="3850" spc="500" dirty="0">
                <a:solidFill>
                  <a:srgbClr val="0C54DF"/>
                </a:solidFill>
                <a:latin typeface="Times New Roman"/>
                <a:cs typeface="Times New Roman"/>
              </a:rPr>
              <a:t> </a:t>
            </a:r>
            <a:r>
              <a:rPr lang="en-GB" sz="3850" spc="-10" dirty="0">
                <a:solidFill>
                  <a:srgbClr val="0A5DD6"/>
                </a:solidFill>
                <a:latin typeface="Times New Roman"/>
                <a:cs typeface="Times New Roman"/>
              </a:rPr>
              <a:t>Phase</a:t>
            </a:r>
            <a:endParaRPr lang="en-IN" sz="3850" spc="-10" dirty="0">
              <a:solidFill>
                <a:srgbClr val="000000"/>
              </a:solidFill>
              <a:latin typeface="Times New Roman"/>
              <a:cs typeface="Times New Roman"/>
            </a:endParaRPr>
          </a:p>
          <a:p>
            <a:pPr marL="635" algn="ctr">
              <a:spcBef>
                <a:spcPts val="1505"/>
              </a:spcBef>
            </a:pPr>
            <a:r>
              <a:rPr sz="1850" dirty="0">
                <a:solidFill>
                  <a:srgbClr val="0F59DA"/>
                </a:solidFill>
                <a:latin typeface="Times New Roman"/>
                <a:cs typeface="Times New Roman"/>
              </a:rPr>
              <a:t>(Subject</a:t>
            </a:r>
            <a:r>
              <a:rPr sz="1850" spc="409" dirty="0">
                <a:solidFill>
                  <a:srgbClr val="0F59DA"/>
                </a:solidFill>
                <a:latin typeface="Times New Roman"/>
                <a:cs typeface="Times New Roman"/>
              </a:rPr>
              <a:t> </a:t>
            </a:r>
            <a:r>
              <a:rPr sz="1850" spc="-10" dirty="0">
                <a:solidFill>
                  <a:srgbClr val="135DDD"/>
                </a:solidFill>
                <a:latin typeface="Times New Roman"/>
                <a:cs typeface="Times New Roman"/>
              </a:rPr>
              <a:t>Code:</a:t>
            </a:r>
            <a:r>
              <a:rPr lang="en-IN" sz="1850" spc="-10" dirty="0">
                <a:solidFill>
                  <a:srgbClr val="135DDD"/>
                </a:solidFill>
                <a:latin typeface="Times New Roman"/>
                <a:cs typeface="Times New Roman"/>
              </a:rPr>
              <a:t>23AISE309)</a:t>
            </a:r>
            <a:endParaRPr lang="en-US" sz="2600" dirty="0">
              <a:solidFill>
                <a:srgbClr val="000000"/>
              </a:solidFill>
              <a:latin typeface="Times New Roman"/>
              <a:cs typeface="Times New Roman"/>
            </a:endParaRPr>
          </a:p>
          <a:p>
            <a:pPr marL="635" algn="ctr">
              <a:spcBef>
                <a:spcPts val="1505"/>
              </a:spcBef>
            </a:pPr>
            <a:r>
              <a:rPr lang="en-US" sz="2600">
                <a:solidFill>
                  <a:srgbClr val="F20305"/>
                </a:solidFill>
                <a:latin typeface="Times New Roman"/>
                <a:cs typeface="Times New Roman"/>
              </a:rPr>
              <a:t>"</a:t>
            </a:r>
            <a:r>
              <a:rPr lang="en-US" sz="1800" b="1">
                <a:solidFill>
                  <a:srgbClr val="0000FF"/>
                </a:solidFill>
                <a:effectLst/>
                <a:latin typeface="Times New Roman"/>
                <a:ea typeface="Times New Roman" panose="02020603050405020304" pitchFamily="18" charset="0"/>
                <a:cs typeface="Times New Roman"/>
              </a:rPr>
              <a:t> </a:t>
            </a:r>
            <a:r>
              <a:rPr lang="en-US" sz="2800">
                <a:solidFill>
                  <a:srgbClr val="FF0000"/>
                </a:solidFill>
                <a:latin typeface="Times New Roman"/>
                <a:cs typeface="Times New Roman"/>
              </a:rPr>
              <a:t>Edge-Optimized ML Framework for Realtime Camouflaged Target Detection in Tactical Military Surveillance Systems </a:t>
            </a:r>
            <a:r>
              <a:rPr lang="en-US" sz="2600" spc="-10">
                <a:solidFill>
                  <a:srgbClr val="FB0000"/>
                </a:solidFill>
                <a:latin typeface="Times New Roman"/>
                <a:cs typeface="Times New Roman"/>
              </a:rPr>
              <a:t>"</a:t>
            </a:r>
            <a:endParaRPr lang="en-US" sz="2600">
              <a:latin typeface="Times New Roman"/>
              <a:cs typeface="Times New Roman"/>
            </a:endParaRPr>
          </a:p>
          <a:p>
            <a:pPr marL="12700">
              <a:lnSpc>
                <a:spcPts val="1700"/>
              </a:lnSpc>
            </a:pPr>
            <a:r>
              <a:rPr sz="2200" b="1" u="sng" dirty="0">
                <a:solidFill>
                  <a:srgbClr val="232323"/>
                </a:solidFill>
                <a:latin typeface="Times New Roman"/>
                <a:cs typeface="Times New Roman"/>
              </a:rPr>
              <a:t>Project</a:t>
            </a:r>
            <a:r>
              <a:rPr sz="2200" b="1" u="sng" spc="275" dirty="0">
                <a:solidFill>
                  <a:srgbClr val="232323"/>
                </a:solidFill>
                <a:latin typeface="Times New Roman"/>
                <a:cs typeface="Times New Roman"/>
              </a:rPr>
              <a:t> </a:t>
            </a:r>
            <a:r>
              <a:rPr sz="2200" b="1" u="sng" spc="-10" dirty="0">
                <a:solidFill>
                  <a:srgbClr val="232323"/>
                </a:solidFill>
                <a:latin typeface="Times New Roman"/>
                <a:cs typeface="Times New Roman"/>
              </a:rPr>
              <a:t>Associates:</a:t>
            </a:r>
            <a:endParaRPr sz="2200" b="1" u="sng" dirty="0">
              <a:latin typeface="Times New Roman"/>
              <a:cs typeface="Times New Roman"/>
            </a:endParaRPr>
          </a:p>
        </p:txBody>
      </p:sp>
      <p:sp>
        <p:nvSpPr>
          <p:cNvPr id="7" name="object 7"/>
          <p:cNvSpPr txBox="1"/>
          <p:nvPr/>
        </p:nvSpPr>
        <p:spPr>
          <a:xfrm>
            <a:off x="240422" y="4468253"/>
            <a:ext cx="3881914" cy="1673600"/>
          </a:xfrm>
          <a:prstGeom prst="rect">
            <a:avLst/>
          </a:prstGeom>
        </p:spPr>
        <p:txBody>
          <a:bodyPr vert="horz" wrap="square" lIns="0" tIns="10795" rIns="0" bIns="0" rtlCol="0" anchor="t">
            <a:spAutoFit/>
          </a:bodyPr>
          <a:lstStyle/>
          <a:p>
            <a:pPr marL="12700" marR="5080" indent="4445">
              <a:lnSpc>
                <a:spcPct val="115599"/>
              </a:lnSpc>
              <a:spcBef>
                <a:spcPts val="85"/>
              </a:spcBef>
            </a:pPr>
            <a:br>
              <a:rPr lang="en-US"/>
            </a:br>
            <a:r>
              <a:rPr lang="en-IN" sz="1900" spc="45">
                <a:latin typeface="Times New Roman"/>
                <a:cs typeface="Times New Roman"/>
              </a:rPr>
              <a:t>Chaithanya R Rao</a:t>
            </a:r>
            <a:r>
              <a:rPr lang="en-US" sz="1900" spc="45">
                <a:latin typeface="Times New Roman"/>
                <a:cs typeface="Times New Roman"/>
              </a:rPr>
              <a:t> (</a:t>
            </a:r>
            <a:r>
              <a:rPr lang="en-IN" sz="1900" spc="45">
                <a:latin typeface="Times New Roman"/>
                <a:cs typeface="Times New Roman"/>
              </a:rPr>
              <a:t>4MT23AI014) </a:t>
            </a:r>
            <a:endParaRPr lang="en-US"/>
          </a:p>
          <a:p>
            <a:pPr marL="12700" marR="5080" indent="4445">
              <a:lnSpc>
                <a:spcPct val="115599"/>
              </a:lnSpc>
              <a:spcBef>
                <a:spcPts val="85"/>
              </a:spcBef>
            </a:pPr>
            <a:r>
              <a:rPr lang="en-IN" sz="1850" spc="45">
                <a:latin typeface="Times New Roman"/>
                <a:cs typeface="Times New Roman"/>
              </a:rPr>
              <a:t>Gourav</a:t>
            </a:r>
            <a:r>
              <a:rPr sz="1850" spc="45">
                <a:latin typeface="Times New Roman"/>
                <a:cs typeface="Times New Roman"/>
              </a:rPr>
              <a:t> </a:t>
            </a:r>
            <a:r>
              <a:rPr sz="1850" spc="-10">
                <a:latin typeface="Times New Roman"/>
                <a:cs typeface="Times New Roman"/>
              </a:rPr>
              <a:t>(4MT2</a:t>
            </a:r>
            <a:r>
              <a:rPr lang="en-IN" sz="1850" spc="-10">
                <a:latin typeface="Times New Roman"/>
                <a:cs typeface="Times New Roman"/>
              </a:rPr>
              <a:t>3AI024</a:t>
            </a:r>
            <a:r>
              <a:rPr sz="1850" spc="-10">
                <a:latin typeface="Times New Roman"/>
                <a:cs typeface="Times New Roman"/>
              </a:rPr>
              <a:t>) </a:t>
            </a:r>
            <a:endParaRPr lang="en-IN" sz="1850" spc="-10">
              <a:latin typeface="Times New Roman"/>
              <a:cs typeface="Times New Roman"/>
            </a:endParaRPr>
          </a:p>
          <a:p>
            <a:pPr marL="12700" marR="5080" indent="4445">
              <a:lnSpc>
                <a:spcPct val="115599"/>
              </a:lnSpc>
              <a:spcBef>
                <a:spcPts val="85"/>
              </a:spcBef>
            </a:pPr>
            <a:r>
              <a:rPr lang="en-IN" sz="1900" spc="-10">
                <a:latin typeface="Times New Roman"/>
                <a:cs typeface="Times New Roman"/>
              </a:rPr>
              <a:t>Vinush Kumar</a:t>
            </a:r>
            <a:r>
              <a:rPr lang="en-US" sz="1900" spc="-10">
                <a:latin typeface="Times New Roman"/>
                <a:cs typeface="Times New Roman"/>
              </a:rPr>
              <a:t> (</a:t>
            </a:r>
            <a:r>
              <a:rPr lang="en-IN" sz="1900" spc="-10">
                <a:latin typeface="Times New Roman"/>
                <a:cs typeface="Times New Roman"/>
              </a:rPr>
              <a:t>4MT23AI061</a:t>
            </a:r>
            <a:r>
              <a:rPr lang="en-US" sz="1900" spc="-10">
                <a:latin typeface="Times New Roman"/>
                <a:cs typeface="Times New Roman"/>
              </a:rPr>
              <a:t>)</a:t>
            </a:r>
            <a:endParaRPr lang="en-IN"/>
          </a:p>
          <a:p>
            <a:pPr marL="12700" marR="5080" indent="4445">
              <a:lnSpc>
                <a:spcPct val="115599"/>
              </a:lnSpc>
              <a:spcBef>
                <a:spcPts val="85"/>
              </a:spcBef>
            </a:pPr>
            <a:r>
              <a:rPr lang="en-IN" sz="1850" spc="-10" err="1">
                <a:latin typeface="Times New Roman"/>
                <a:cs typeface="Times New Roman"/>
              </a:rPr>
              <a:t>Yakshith</a:t>
            </a:r>
            <a:r>
              <a:rPr lang="en-IN" sz="1850" spc="-10">
                <a:latin typeface="Times New Roman"/>
                <a:cs typeface="Times New Roman"/>
              </a:rPr>
              <a:t> K D</a:t>
            </a:r>
            <a:r>
              <a:rPr sz="1850" spc="10">
                <a:latin typeface="Times New Roman"/>
                <a:cs typeface="Times New Roman"/>
              </a:rPr>
              <a:t> </a:t>
            </a:r>
            <a:r>
              <a:rPr sz="1850" spc="-10">
                <a:latin typeface="Times New Roman"/>
                <a:cs typeface="Times New Roman"/>
              </a:rPr>
              <a:t>(</a:t>
            </a:r>
            <a:r>
              <a:rPr lang="en-IN" sz="1850" spc="-10">
                <a:latin typeface="Times New Roman"/>
                <a:cs typeface="Times New Roman"/>
              </a:rPr>
              <a:t>4MT23AI062</a:t>
            </a:r>
            <a:r>
              <a:rPr sz="1850" spc="-10">
                <a:latin typeface="Times New Roman"/>
                <a:cs typeface="Times New Roman"/>
              </a:rPr>
              <a:t>) </a:t>
            </a:r>
            <a:endParaRPr lang="en-IN" sz="1850" spc="-10">
              <a:latin typeface="Times New Roman"/>
              <a:cs typeface="Times New Roman"/>
            </a:endParaRPr>
          </a:p>
        </p:txBody>
      </p:sp>
      <p:sp>
        <p:nvSpPr>
          <p:cNvPr id="8" name="object 8"/>
          <p:cNvSpPr txBox="1"/>
          <p:nvPr/>
        </p:nvSpPr>
        <p:spPr>
          <a:xfrm>
            <a:off x="8860841" y="4870410"/>
            <a:ext cx="3093824" cy="1413913"/>
          </a:xfrm>
          <a:prstGeom prst="rect">
            <a:avLst/>
          </a:prstGeom>
        </p:spPr>
        <p:txBody>
          <a:bodyPr vert="horz" wrap="square" lIns="0" tIns="15875" rIns="0" bIns="0" rtlCol="0" anchor="t">
            <a:spAutoFit/>
          </a:bodyPr>
          <a:lstStyle/>
          <a:p>
            <a:pPr marL="333375" marR="5080" indent="-321310">
              <a:lnSpc>
                <a:spcPct val="112900"/>
              </a:lnSpc>
              <a:spcBef>
                <a:spcPts val="125"/>
              </a:spcBef>
            </a:pPr>
            <a:r>
              <a:rPr sz="1900" u="heavy">
                <a:solidFill>
                  <a:schemeClr val="accent2">
                    <a:lumMod val="75000"/>
                  </a:schemeClr>
                </a:solidFill>
                <a:uFill>
                  <a:solidFill>
                    <a:srgbClr val="B30F0F"/>
                  </a:solidFill>
                </a:uFill>
                <a:latin typeface="Times New Roman"/>
                <a:cs typeface="Times New Roman"/>
              </a:rPr>
              <a:t>Under</a:t>
            </a:r>
            <a:r>
              <a:rPr sz="1900" u="heavy" spc="225">
                <a:solidFill>
                  <a:srgbClr val="C68C87"/>
                </a:solidFill>
                <a:uFill>
                  <a:solidFill>
                    <a:srgbClr val="B30F0F"/>
                  </a:solidFill>
                </a:uFill>
                <a:latin typeface="Times New Roman"/>
                <a:cs typeface="Times New Roman"/>
              </a:rPr>
              <a:t> </a:t>
            </a:r>
            <a:r>
              <a:rPr sz="1900" u="heavy">
                <a:solidFill>
                  <a:srgbClr val="C30000"/>
                </a:solidFill>
                <a:uFill>
                  <a:solidFill>
                    <a:srgbClr val="B30F0F"/>
                  </a:solidFill>
                </a:uFill>
                <a:latin typeface="Times New Roman"/>
                <a:cs typeface="Times New Roman"/>
              </a:rPr>
              <a:t>the</a:t>
            </a:r>
            <a:r>
              <a:rPr sz="1900" u="heavy" spc="165">
                <a:solidFill>
                  <a:srgbClr val="C30000"/>
                </a:solidFill>
                <a:uFill>
                  <a:solidFill>
                    <a:srgbClr val="B30F0F"/>
                  </a:solidFill>
                </a:uFill>
                <a:latin typeface="Times New Roman"/>
                <a:cs typeface="Times New Roman"/>
              </a:rPr>
              <a:t> </a:t>
            </a:r>
            <a:r>
              <a:rPr sz="1900" u="heavy">
                <a:solidFill>
                  <a:srgbClr val="BA0301"/>
                </a:solidFill>
                <a:uFill>
                  <a:solidFill>
                    <a:srgbClr val="B30F0F"/>
                  </a:solidFill>
                </a:uFill>
                <a:latin typeface="Times New Roman"/>
                <a:cs typeface="Times New Roman"/>
              </a:rPr>
              <a:t>Guidance</a:t>
            </a:r>
            <a:r>
              <a:rPr sz="1900" u="heavy" spc="280">
                <a:solidFill>
                  <a:srgbClr val="BA0301"/>
                </a:solidFill>
                <a:uFill>
                  <a:solidFill>
                    <a:srgbClr val="B30F0F"/>
                  </a:solidFill>
                </a:uFill>
                <a:latin typeface="Times New Roman"/>
                <a:cs typeface="Times New Roman"/>
              </a:rPr>
              <a:t> </a:t>
            </a:r>
            <a:r>
              <a:rPr sz="1900" u="heavy">
                <a:solidFill>
                  <a:srgbClr val="B80000"/>
                </a:solidFill>
                <a:uFill>
                  <a:solidFill>
                    <a:srgbClr val="B30F0F"/>
                  </a:solidFill>
                </a:uFill>
                <a:latin typeface="Times New Roman"/>
                <a:cs typeface="Times New Roman"/>
              </a:rPr>
              <a:t>of:</a:t>
            </a:r>
            <a:r>
              <a:rPr lang="en-GB" sz="1900" u="heavy" spc="125">
                <a:solidFill>
                  <a:srgbClr val="B80000"/>
                </a:solidFill>
                <a:uFill>
                  <a:solidFill>
                    <a:srgbClr val="B30F0F"/>
                  </a:solidFill>
                </a:uFill>
                <a:latin typeface="Times New Roman"/>
                <a:cs typeface="Times New Roman"/>
              </a:rPr>
              <a:t> </a:t>
            </a:r>
            <a:r>
              <a:rPr lang="en-GB" sz="1900" spc="125">
                <a:solidFill>
                  <a:srgbClr val="B80000"/>
                </a:solidFill>
                <a:latin typeface="Times New Roman"/>
                <a:cs typeface="Times New Roman"/>
              </a:rPr>
              <a:t> </a:t>
            </a:r>
            <a:endParaRPr lang="en-US" sz="1900">
              <a:solidFill>
                <a:srgbClr val="000000"/>
              </a:solidFill>
              <a:latin typeface="Times New Roman"/>
              <a:cs typeface="Times New Roman"/>
            </a:endParaRPr>
          </a:p>
          <a:p>
            <a:pPr marL="333375" marR="5080" indent="-321310">
              <a:lnSpc>
                <a:spcPct val="112900"/>
              </a:lnSpc>
              <a:spcBef>
                <a:spcPts val="125"/>
              </a:spcBef>
            </a:pPr>
            <a:r>
              <a:rPr lang="en-GB" sz="2000" cap="all">
                <a:solidFill>
                  <a:schemeClr val="tx1"/>
                </a:solidFill>
                <a:highlight>
                  <a:srgbClr val="FAFAFA"/>
                </a:highlight>
                <a:latin typeface="Times New Roman"/>
                <a:cs typeface="Times New Roman"/>
              </a:rPr>
              <a:t>Dr. Maryjo M George</a:t>
            </a:r>
            <a:endParaRPr lang="en-US" sz="2000">
              <a:solidFill>
                <a:schemeClr val="tx1"/>
              </a:solidFill>
              <a:latin typeface="Times New Roman"/>
              <a:cs typeface="Times New Roman"/>
            </a:endParaRPr>
          </a:p>
          <a:p>
            <a:pPr marL="333375" marR="5080" indent="-321310">
              <a:lnSpc>
                <a:spcPct val="112900"/>
              </a:lnSpc>
              <a:spcBef>
                <a:spcPts val="125"/>
              </a:spcBef>
            </a:pPr>
            <a:r>
              <a:rPr lang="en-GB" sz="2000" spc="-25">
                <a:solidFill>
                  <a:schemeClr val="tx1"/>
                </a:solidFill>
                <a:latin typeface="Times New Roman"/>
                <a:cs typeface="Times New Roman"/>
              </a:rPr>
              <a:t>     </a:t>
            </a:r>
            <a:r>
              <a:rPr lang="en-GB" sz="2000">
                <a:solidFill>
                  <a:schemeClr val="tx1"/>
                </a:solidFill>
                <a:highlight>
                  <a:srgbClr val="FAFAFA"/>
                </a:highlight>
                <a:latin typeface="Times New Roman"/>
                <a:cs typeface="Times New Roman"/>
              </a:rPr>
              <a:t>Associate Professor</a:t>
            </a:r>
            <a:endParaRPr lang="en-US" sz="2000" spc="-10">
              <a:solidFill>
                <a:schemeClr val="tx1"/>
              </a:solidFill>
              <a:latin typeface="Times New Roman"/>
              <a:cs typeface="Times New Roman"/>
            </a:endParaRPr>
          </a:p>
          <a:p>
            <a:pPr marL="568325">
              <a:lnSpc>
                <a:spcPct val="100000"/>
              </a:lnSpc>
              <a:spcBef>
                <a:spcPts val="320"/>
              </a:spcBef>
            </a:pPr>
            <a:r>
              <a:rPr sz="2000">
                <a:solidFill>
                  <a:schemeClr val="tx1"/>
                </a:solidFill>
                <a:latin typeface="Times New Roman"/>
                <a:cs typeface="Times New Roman"/>
              </a:rPr>
              <a:t>Dept</a:t>
            </a:r>
            <a:r>
              <a:rPr sz="2000" spc="45">
                <a:solidFill>
                  <a:schemeClr val="tx1"/>
                </a:solidFill>
                <a:latin typeface="Times New Roman"/>
                <a:cs typeface="Times New Roman"/>
              </a:rPr>
              <a:t> </a:t>
            </a:r>
            <a:r>
              <a:rPr sz="2000">
                <a:solidFill>
                  <a:schemeClr val="tx1"/>
                </a:solidFill>
                <a:latin typeface="Times New Roman"/>
                <a:cs typeface="Times New Roman"/>
              </a:rPr>
              <a:t>of</a:t>
            </a:r>
            <a:r>
              <a:rPr sz="2000" spc="-15">
                <a:solidFill>
                  <a:schemeClr val="tx1"/>
                </a:solidFill>
                <a:latin typeface="Times New Roman"/>
                <a:cs typeface="Times New Roman"/>
              </a:rPr>
              <a:t> </a:t>
            </a:r>
            <a:r>
              <a:rPr sz="2000" spc="-20">
                <a:solidFill>
                  <a:schemeClr val="tx1"/>
                </a:solidFill>
                <a:latin typeface="Times New Roman"/>
                <a:cs typeface="Times New Roman"/>
              </a:rPr>
              <a:t>AIML</a:t>
            </a:r>
            <a:endParaRPr sz="2000" b="1">
              <a:solidFill>
                <a:schemeClr val="tx1"/>
              </a:solidFill>
              <a:latin typeface="Times New Roman"/>
              <a:cs typeface="Times New Roman"/>
            </a:endParaRPr>
          </a:p>
        </p:txBody>
      </p:sp>
      <p:pic>
        <p:nvPicPr>
          <p:cNvPr id="12" name="Picture 11">
            <a:extLst>
              <a:ext uri="{FF2B5EF4-FFF2-40B4-BE49-F238E27FC236}">
                <a16:creationId xmlns:a16="http://schemas.microsoft.com/office/drawing/2014/main" id="{966A7510-EECC-91C7-31F4-9A421C796F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136" y="180065"/>
            <a:ext cx="1348361" cy="1381813"/>
          </a:xfrm>
          <a:prstGeom prst="rect">
            <a:avLst/>
          </a:prstGeom>
          <a:noFill/>
          <a:ln>
            <a:noFill/>
          </a:ln>
        </p:spPr>
      </p:pic>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6A9186E-67EE-2565-FEF1-911594AD4D50}"/>
              </a:ext>
            </a:extLst>
          </p:cNvPr>
          <p:cNvSpPr/>
          <p:nvPr/>
        </p:nvSpPr>
        <p:spPr>
          <a:xfrm>
            <a:off x="400569" y="1531768"/>
            <a:ext cx="11411883" cy="4596778"/>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p:nvPr/>
        </p:nvSpPr>
        <p:spPr>
          <a:xfrm>
            <a:off x="401531" y="1535852"/>
            <a:ext cx="0" cy="4581525"/>
          </a:xfrm>
          <a:custGeom>
            <a:avLst/>
            <a:gdLst/>
            <a:ahLst/>
            <a:cxnLst/>
            <a:rect l="l" t="t" r="r" b="b"/>
            <a:pathLst>
              <a:path h="4581525">
                <a:moveTo>
                  <a:pt x="0" y="4581312"/>
                </a:moveTo>
                <a:lnTo>
                  <a:pt x="0" y="0"/>
                </a:lnTo>
              </a:path>
            </a:pathLst>
          </a:custGeom>
          <a:ln w="14816">
            <a:solidFill>
              <a:srgbClr val="1F1F1F"/>
            </a:solidFill>
          </a:ln>
        </p:spPr>
        <p:txBody>
          <a:bodyPr wrap="square" lIns="0" tIns="0" rIns="0" bIns="0" rtlCol="0"/>
          <a:lstStyle/>
          <a:p>
            <a:endParaRPr/>
          </a:p>
        </p:txBody>
      </p:sp>
      <p:grpSp>
        <p:nvGrpSpPr>
          <p:cNvPr id="3" name="object 3"/>
          <p:cNvGrpSpPr/>
          <p:nvPr/>
        </p:nvGrpSpPr>
        <p:grpSpPr>
          <a:xfrm>
            <a:off x="420728" y="1498808"/>
            <a:ext cx="11405278" cy="4610171"/>
            <a:chOff x="394123" y="1535852"/>
            <a:chExt cx="11388090" cy="4581525"/>
          </a:xfrm>
        </p:grpSpPr>
        <p:sp>
          <p:nvSpPr>
            <p:cNvPr id="4" name="object 4"/>
            <p:cNvSpPr/>
            <p:nvPr/>
          </p:nvSpPr>
          <p:spPr>
            <a:xfrm>
              <a:off x="11774803" y="1535852"/>
              <a:ext cx="0" cy="4581525"/>
            </a:xfrm>
            <a:custGeom>
              <a:avLst/>
              <a:gdLst/>
              <a:ahLst/>
              <a:cxnLst/>
              <a:rect l="l" t="t" r="r" b="b"/>
              <a:pathLst>
                <a:path h="4581525">
                  <a:moveTo>
                    <a:pt x="0" y="4581312"/>
                  </a:moveTo>
                  <a:lnTo>
                    <a:pt x="0" y="0"/>
                  </a:lnTo>
                </a:path>
              </a:pathLst>
            </a:custGeom>
            <a:ln w="14816">
              <a:solidFill>
                <a:srgbClr val="1F1F1F"/>
              </a:solidFill>
            </a:ln>
          </p:spPr>
          <p:txBody>
            <a:bodyPr wrap="square" lIns="0" tIns="0" rIns="0" bIns="0" rtlCol="0"/>
            <a:lstStyle/>
            <a:p>
              <a:endParaRPr/>
            </a:p>
          </p:txBody>
        </p:sp>
        <p:sp>
          <p:nvSpPr>
            <p:cNvPr id="5" name="object 5"/>
            <p:cNvSpPr/>
            <p:nvPr/>
          </p:nvSpPr>
          <p:spPr>
            <a:xfrm>
              <a:off x="394123" y="1543261"/>
              <a:ext cx="11388090" cy="0"/>
            </a:xfrm>
            <a:custGeom>
              <a:avLst/>
              <a:gdLst/>
              <a:ahLst/>
              <a:cxnLst/>
              <a:rect l="l" t="t" r="r" b="b"/>
              <a:pathLst>
                <a:path w="11388090">
                  <a:moveTo>
                    <a:pt x="0" y="0"/>
                  </a:moveTo>
                  <a:lnTo>
                    <a:pt x="11388087" y="0"/>
                  </a:lnTo>
                </a:path>
              </a:pathLst>
            </a:custGeom>
            <a:ln w="14816">
              <a:solidFill>
                <a:srgbClr val="1F1F1F"/>
              </a:solidFill>
            </a:ln>
          </p:spPr>
          <p:txBody>
            <a:bodyPr wrap="square" lIns="0" tIns="0" rIns="0" bIns="0" rtlCol="0"/>
            <a:lstStyle/>
            <a:p>
              <a:endParaRPr/>
            </a:p>
          </p:txBody>
        </p:sp>
        <p:sp>
          <p:nvSpPr>
            <p:cNvPr id="6" name="object 6"/>
            <p:cNvSpPr/>
            <p:nvPr/>
          </p:nvSpPr>
          <p:spPr>
            <a:xfrm>
              <a:off x="394123" y="6109758"/>
              <a:ext cx="11388090" cy="0"/>
            </a:xfrm>
            <a:custGeom>
              <a:avLst/>
              <a:gdLst/>
              <a:ahLst/>
              <a:cxnLst/>
              <a:rect l="l" t="t" r="r" b="b"/>
              <a:pathLst>
                <a:path w="11388090">
                  <a:moveTo>
                    <a:pt x="0" y="0"/>
                  </a:moveTo>
                  <a:lnTo>
                    <a:pt x="11388087" y="0"/>
                  </a:lnTo>
                </a:path>
              </a:pathLst>
            </a:custGeom>
            <a:ln w="14816">
              <a:solidFill>
                <a:srgbClr val="1F1F1F"/>
              </a:solidFill>
            </a:ln>
          </p:spPr>
          <p:txBody>
            <a:bodyPr wrap="square" lIns="0" tIns="0" rIns="0" bIns="0" rtlCol="0"/>
            <a:lstStyle/>
            <a:p>
              <a:endParaRPr/>
            </a:p>
          </p:txBody>
        </p:sp>
      </p:grpSp>
      <p:sp>
        <p:nvSpPr>
          <p:cNvPr id="7" name="object 7"/>
          <p:cNvSpPr txBox="1"/>
          <p:nvPr/>
        </p:nvSpPr>
        <p:spPr>
          <a:xfrm>
            <a:off x="524734" y="1698331"/>
            <a:ext cx="11277096" cy="4417171"/>
          </a:xfrm>
          <a:prstGeom prst="rect">
            <a:avLst/>
          </a:prstGeom>
        </p:spPr>
        <p:txBody>
          <a:bodyPr vert="horz" wrap="square" lIns="0" tIns="16510" rIns="0" bIns="0" rtlCol="0" anchor="t">
            <a:spAutoFit/>
          </a:bodyPr>
          <a:lstStyle/>
          <a:p>
            <a:pPr marL="12700">
              <a:lnSpc>
                <a:spcPct val="100000"/>
              </a:lnSpc>
              <a:spcBef>
                <a:spcPts val="130"/>
              </a:spcBef>
            </a:pPr>
            <a:r>
              <a:rPr sz="2000" spc="-10">
                <a:latin typeface="Times New Roman"/>
                <a:cs typeface="Times New Roman"/>
              </a:rPr>
              <a:t>Abstract</a:t>
            </a:r>
            <a:endParaRPr sz="2000">
              <a:latin typeface="Times New Roman"/>
              <a:cs typeface="Times New Roman"/>
            </a:endParaRPr>
          </a:p>
          <a:p>
            <a:pPr marL="13970">
              <a:lnSpc>
                <a:spcPct val="100000"/>
              </a:lnSpc>
              <a:spcBef>
                <a:spcPts val="1839"/>
              </a:spcBef>
            </a:pPr>
            <a:r>
              <a:rPr sz="2000" spc="-10">
                <a:latin typeface="Times New Roman"/>
                <a:cs typeface="Times New Roman"/>
              </a:rPr>
              <a:t>Introduction</a:t>
            </a:r>
            <a:endParaRPr sz="2000">
              <a:latin typeface="Times New Roman"/>
              <a:cs typeface="Times New Roman"/>
            </a:endParaRPr>
          </a:p>
          <a:p>
            <a:pPr marL="15240">
              <a:lnSpc>
                <a:spcPct val="100000"/>
              </a:lnSpc>
              <a:spcBef>
                <a:spcPts val="1789"/>
              </a:spcBef>
            </a:pPr>
            <a:r>
              <a:rPr sz="2000">
                <a:latin typeface="Times New Roman"/>
                <a:cs typeface="Times New Roman"/>
              </a:rPr>
              <a:t>Literature</a:t>
            </a:r>
            <a:r>
              <a:rPr sz="2000" spc="130">
                <a:latin typeface="Times New Roman"/>
                <a:cs typeface="Times New Roman"/>
              </a:rPr>
              <a:t> </a:t>
            </a:r>
            <a:r>
              <a:rPr sz="2000" spc="-10">
                <a:latin typeface="Times New Roman"/>
                <a:cs typeface="Times New Roman"/>
              </a:rPr>
              <a:t>Survey</a:t>
            </a:r>
            <a:endParaRPr sz="2000">
              <a:latin typeface="Times New Roman"/>
              <a:cs typeface="Times New Roman"/>
            </a:endParaRPr>
          </a:p>
          <a:p>
            <a:pPr marL="15875" marR="5080">
              <a:lnSpc>
                <a:spcPct val="166700"/>
              </a:lnSpc>
              <a:spcBef>
                <a:spcPts val="40"/>
              </a:spcBef>
            </a:pPr>
            <a:r>
              <a:rPr sz="2000" spc="-10">
                <a:latin typeface="Times New Roman"/>
                <a:cs typeface="Times New Roman"/>
              </a:rPr>
              <a:t>Problem Statement and Objectives</a:t>
            </a:r>
            <a:endParaRPr sz="2000">
              <a:latin typeface="Times New Roman"/>
              <a:cs typeface="Times New Roman"/>
            </a:endParaRPr>
          </a:p>
          <a:p>
            <a:pPr marL="15875" marR="5080">
              <a:lnSpc>
                <a:spcPct val="166700"/>
              </a:lnSpc>
              <a:spcBef>
                <a:spcPts val="40"/>
              </a:spcBef>
            </a:pPr>
            <a:r>
              <a:rPr sz="2000" spc="-10">
                <a:latin typeface="Times New Roman"/>
                <a:cs typeface="Times New Roman"/>
              </a:rPr>
              <a:t>Research Gap</a:t>
            </a:r>
            <a:endParaRPr sz="2000">
              <a:latin typeface="Times New Roman"/>
              <a:cs typeface="Times New Roman"/>
            </a:endParaRPr>
          </a:p>
          <a:p>
            <a:pPr marL="15875" marR="5080">
              <a:lnSpc>
                <a:spcPct val="166700"/>
              </a:lnSpc>
              <a:spcBef>
                <a:spcPts val="40"/>
              </a:spcBef>
            </a:pPr>
            <a:r>
              <a:rPr sz="2000" spc="-10">
                <a:latin typeface="Times New Roman"/>
                <a:cs typeface="Times New Roman"/>
              </a:rPr>
              <a:t>Proposed System</a:t>
            </a:r>
            <a:endParaRPr sz="2000">
              <a:latin typeface="Times New Roman"/>
              <a:cs typeface="Times New Roman"/>
            </a:endParaRPr>
          </a:p>
          <a:p>
            <a:pPr marL="15875" marR="5080">
              <a:lnSpc>
                <a:spcPct val="166700"/>
              </a:lnSpc>
              <a:spcBef>
                <a:spcPts val="40"/>
              </a:spcBef>
            </a:pPr>
            <a:r>
              <a:rPr sz="2000" spc="-10">
                <a:latin typeface="Times New Roman"/>
                <a:cs typeface="Times New Roman"/>
              </a:rPr>
              <a:t>Requirements (Functional, Non-Functional, Software, Hardware)</a:t>
            </a:r>
            <a:endParaRPr sz="2000">
              <a:latin typeface="Times New Roman"/>
              <a:cs typeface="Times New Roman"/>
            </a:endParaRPr>
          </a:p>
          <a:p>
            <a:pPr marL="15875" marR="5080">
              <a:lnSpc>
                <a:spcPct val="166700"/>
              </a:lnSpc>
              <a:spcBef>
                <a:spcPts val="40"/>
              </a:spcBef>
            </a:pPr>
            <a:r>
              <a:rPr sz="2000" spc="-10">
                <a:latin typeface="Times New Roman"/>
                <a:cs typeface="Times New Roman"/>
              </a:rPr>
              <a:t>System Architecture, Execution Flow &amp; Use Case Diagram</a:t>
            </a:r>
            <a:endParaRPr sz="2000">
              <a:latin typeface="Times New Roman"/>
              <a:cs typeface="Times New Roman"/>
            </a:endParaRPr>
          </a:p>
          <a:p>
            <a:pPr marL="15875" marR="5080">
              <a:lnSpc>
                <a:spcPct val="166700"/>
              </a:lnSpc>
              <a:spcBef>
                <a:spcPts val="40"/>
              </a:spcBef>
            </a:pPr>
            <a:r>
              <a:rPr sz="2000" spc="-10">
                <a:latin typeface="Times New Roman"/>
                <a:cs typeface="Times New Roman"/>
              </a:rPr>
              <a:t>Constraints, Testing &amp; Evaluation, Conclusion</a:t>
            </a:r>
            <a:endParaRPr sz="2000">
              <a:latin typeface="Times New Roman"/>
              <a:cs typeface="Times New Roman"/>
            </a:endParaRPr>
          </a:p>
        </p:txBody>
      </p:sp>
      <p:sp>
        <p:nvSpPr>
          <p:cNvPr id="9" name="object 9"/>
          <p:cNvSpPr txBox="1">
            <a:spLocks noGrp="1"/>
          </p:cNvSpPr>
          <p:nvPr>
            <p:ph type="ftr" sz="quarter" idx="5"/>
          </p:nvPr>
        </p:nvSpPr>
        <p:spPr>
          <a:xfrm>
            <a:off x="5638800" y="6312566"/>
            <a:ext cx="1445259" cy="218008"/>
          </a:xfrm>
          <a:prstGeom prst="rect">
            <a:avLst/>
          </a:prstGeom>
        </p:spPr>
        <p:txBody>
          <a:bodyPr vert="horz" wrap="square" lIns="0" tIns="0" rIns="0" bIns="0" rtlCol="0">
            <a:spAutoFit/>
          </a:bodyPr>
          <a:lstStyle/>
          <a:p>
            <a:pPr marL="12700">
              <a:lnSpc>
                <a:spcPts val="1689"/>
              </a:lnSpc>
            </a:pPr>
            <a:r>
              <a:rPr spc="-10"/>
              <a:t>Dept</a:t>
            </a:r>
            <a:r>
              <a:rPr spc="-50"/>
              <a:t> </a:t>
            </a:r>
            <a:r>
              <a:rPr spc="-30">
                <a:solidFill>
                  <a:srgbClr val="7E7E7E"/>
                </a:solidFill>
              </a:rPr>
              <a:t>of</a:t>
            </a:r>
            <a:r>
              <a:rPr spc="-20">
                <a:solidFill>
                  <a:srgbClr val="7E7E7E"/>
                </a:solidFill>
              </a:rPr>
              <a:t> </a:t>
            </a:r>
            <a:r>
              <a:rPr spc="-85"/>
              <a:t>AIML</a:t>
            </a:r>
          </a:p>
        </p:txBody>
      </p:sp>
      <p:sp>
        <p:nvSpPr>
          <p:cNvPr id="10" name="object 10"/>
          <p:cNvSpPr txBox="1">
            <a:spLocks noGrp="1"/>
          </p:cNvSpPr>
          <p:nvPr>
            <p:ph type="dt" sz="half" idx="6"/>
          </p:nvPr>
        </p:nvSpPr>
        <p:spPr>
          <a:xfrm>
            <a:off x="1143000" y="6327833"/>
            <a:ext cx="869314" cy="205184"/>
          </a:xfrm>
          <a:prstGeom prst="rect">
            <a:avLst/>
          </a:prstGeom>
        </p:spPr>
        <p:txBody>
          <a:bodyPr vert="horz" wrap="square" lIns="0" tIns="0" rIns="0" bIns="0" rtlCol="0">
            <a:spAutoFit/>
          </a:bodyPr>
          <a:lstStyle/>
          <a:p>
            <a:pPr marL="12700">
              <a:lnSpc>
                <a:spcPts val="1635"/>
              </a:lnSpc>
            </a:pPr>
            <a:r>
              <a:rPr lang="en-IN"/>
              <a:t>03</a:t>
            </a:r>
            <a:r>
              <a:t>-03-</a:t>
            </a:r>
            <a:r>
              <a:rPr spc="-20"/>
              <a:t>2025</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600"/>
              </a:lnSpc>
            </a:pPr>
            <a:fld id="{81D60167-4931-47E6-BA6A-407CBD079E47}" type="slidenum">
              <a:rPr spc="-25" dirty="0"/>
              <a:t>2</a:t>
            </a:fld>
            <a:endParaRPr spc="-25"/>
          </a:p>
        </p:txBody>
      </p:sp>
      <p:sp>
        <p:nvSpPr>
          <p:cNvPr id="8" name="object 8"/>
          <p:cNvSpPr txBox="1">
            <a:spLocks noGrp="1"/>
          </p:cNvSpPr>
          <p:nvPr>
            <p:ph type="title"/>
          </p:nvPr>
        </p:nvSpPr>
        <p:spPr>
          <a:prstGeom prst="rect">
            <a:avLst/>
          </a:prstGeom>
        </p:spPr>
        <p:txBody>
          <a:bodyPr vert="horz" wrap="square" lIns="0" tIns="13335" rIns="0" bIns="0" rtlCol="0">
            <a:spAutoFit/>
          </a:bodyPr>
          <a:lstStyle/>
          <a:p>
            <a:pPr marL="4398010">
              <a:lnSpc>
                <a:spcPct val="100000"/>
              </a:lnSpc>
              <a:spcBef>
                <a:spcPts val="105"/>
              </a:spcBef>
            </a:pPr>
            <a:r>
              <a:rPr spc="110"/>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486400" y="6339480"/>
            <a:ext cx="1445259" cy="218008"/>
          </a:xfrm>
          <a:prstGeom prst="rect">
            <a:avLst/>
          </a:prstGeom>
        </p:spPr>
        <p:txBody>
          <a:bodyPr vert="horz" wrap="square" lIns="0" tIns="0" rIns="0" bIns="0" rtlCol="0">
            <a:spAutoFit/>
          </a:bodyPr>
          <a:lstStyle/>
          <a:p>
            <a:pPr marL="12700">
              <a:lnSpc>
                <a:spcPts val="1689"/>
              </a:lnSpc>
            </a:pPr>
            <a:r>
              <a:rPr lang="en-IN" spc="-10"/>
              <a:t>    </a:t>
            </a:r>
            <a:r>
              <a:rPr spc="-10"/>
              <a:t>Dept</a:t>
            </a:r>
            <a:r>
              <a:rPr spc="-50"/>
              <a:t> </a:t>
            </a:r>
            <a:r>
              <a:rPr spc="-30">
                <a:solidFill>
                  <a:srgbClr val="7E7E7E"/>
                </a:solidFill>
              </a:rPr>
              <a:t>of</a:t>
            </a:r>
            <a:r>
              <a:rPr spc="-20">
                <a:solidFill>
                  <a:srgbClr val="7E7E7E"/>
                </a:solidFill>
              </a:rPr>
              <a:t> </a:t>
            </a:r>
            <a:r>
              <a:rPr spc="-85"/>
              <a:t>AIML</a:t>
            </a:r>
          </a:p>
        </p:txBody>
      </p:sp>
      <p:sp>
        <p:nvSpPr>
          <p:cNvPr id="5" name="object 5"/>
          <p:cNvSpPr txBox="1">
            <a:spLocks noGrp="1"/>
          </p:cNvSpPr>
          <p:nvPr>
            <p:ph type="dt" sz="half" idx="6"/>
          </p:nvPr>
        </p:nvSpPr>
        <p:spPr>
          <a:xfrm>
            <a:off x="1132803" y="6333334"/>
            <a:ext cx="869314" cy="205184"/>
          </a:xfrm>
          <a:prstGeom prst="rect">
            <a:avLst/>
          </a:prstGeom>
        </p:spPr>
        <p:txBody>
          <a:bodyPr vert="horz" wrap="square" lIns="0" tIns="0" rIns="0" bIns="0" rtlCol="0">
            <a:spAutoFit/>
          </a:bodyPr>
          <a:lstStyle/>
          <a:p>
            <a:pPr marL="12700">
              <a:lnSpc>
                <a:spcPts val="1635"/>
              </a:lnSpc>
            </a:pPr>
            <a:r>
              <a:rPr lang="en-IN"/>
              <a:t>03</a:t>
            </a:r>
            <a:r>
              <a:t>-03-</a:t>
            </a:r>
            <a:r>
              <a:rPr spc="-20"/>
              <a:t>202</a:t>
            </a:r>
            <a:r>
              <a:rPr lang="en-IN" spc="-20"/>
              <a:t>6</a:t>
            </a:r>
            <a:endParaRPr spc="-2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600"/>
              </a:lnSpc>
            </a:pPr>
            <a:fld id="{81D60167-4931-47E6-BA6A-407CBD079E47}" type="slidenum">
              <a:rPr spc="-25" dirty="0"/>
              <a:t>3</a:t>
            </a:fld>
            <a:endParaRPr spc="-25"/>
          </a:p>
        </p:txBody>
      </p:sp>
      <p:sp>
        <p:nvSpPr>
          <p:cNvPr id="2" name="object 2"/>
          <p:cNvSpPr txBox="1">
            <a:spLocks noGrp="1"/>
          </p:cNvSpPr>
          <p:nvPr>
            <p:ph type="title"/>
          </p:nvPr>
        </p:nvSpPr>
        <p:spPr>
          <a:xfrm>
            <a:off x="346821" y="300512"/>
            <a:ext cx="11151223" cy="813505"/>
          </a:xfrm>
          <a:prstGeom prst="rect">
            <a:avLst/>
          </a:prstGeom>
        </p:spPr>
        <p:txBody>
          <a:bodyPr vert="horz" wrap="square" lIns="0" tIns="13335" rIns="0" bIns="0" rtlCol="0">
            <a:spAutoFit/>
          </a:bodyPr>
          <a:lstStyle/>
          <a:p>
            <a:pPr marL="4410075">
              <a:lnSpc>
                <a:spcPct val="100000"/>
              </a:lnSpc>
              <a:spcBef>
                <a:spcPts val="105"/>
              </a:spcBef>
            </a:pPr>
            <a:r>
              <a:rPr spc="70"/>
              <a:t>ABSTRACT</a:t>
            </a:r>
          </a:p>
        </p:txBody>
      </p:sp>
      <p:sp>
        <p:nvSpPr>
          <p:cNvPr id="7" name="Rectangle 1">
            <a:extLst>
              <a:ext uri="{FF2B5EF4-FFF2-40B4-BE49-F238E27FC236}">
                <a16:creationId xmlns:a16="http://schemas.microsoft.com/office/drawing/2014/main" id="{A6064377-7AD9-4B6A-7A2F-49551695E058}"/>
              </a:ext>
            </a:extLst>
          </p:cNvPr>
          <p:cNvSpPr>
            <a:spLocks noChangeArrowheads="1"/>
          </p:cNvSpPr>
          <p:nvPr/>
        </p:nvSpPr>
        <p:spPr bwMode="auto">
          <a:xfrm>
            <a:off x="852714" y="804588"/>
            <a:ext cx="10972800" cy="5516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Modern military surveillance systems struggle to detect camouflaged personnel and vehicles due to high visual similarity between targets and natural backgrounds, leading to missed or delayed threat identification.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Existing camouflaged object detection (COD) models achieve strong accuracy but are computationally intensive, GPU-dependent, and lack real-time validation on resource-constrained edge devices used in drones and battlefield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This research proposes a lightweight, hardware-aware camouflage detection framework optimized for real-time inference on embedded military platforms, incorporating model compression, quantization, and efficient feature modeling.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system enables live drone video processing with autonomous trigger-based response mechanisms, ensuring secure, low-latency, cloud-independent battlefield surveillance under realistic operational conditions.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373369" y="6339480"/>
            <a:ext cx="1445259" cy="218008"/>
          </a:xfrm>
          <a:prstGeom prst="rect">
            <a:avLst/>
          </a:prstGeom>
        </p:spPr>
        <p:txBody>
          <a:bodyPr vert="horz" wrap="square" lIns="0" tIns="0" rIns="0" bIns="0" rtlCol="0">
            <a:spAutoFit/>
          </a:bodyPr>
          <a:lstStyle/>
          <a:p>
            <a:pPr marL="12700">
              <a:lnSpc>
                <a:spcPts val="1689"/>
              </a:lnSpc>
            </a:pPr>
            <a:r>
              <a:rPr lang="en-IN" spc="-10"/>
              <a:t>    </a:t>
            </a:r>
            <a:r>
              <a:rPr spc="-10"/>
              <a:t>Dept</a:t>
            </a:r>
            <a:r>
              <a:rPr spc="-50"/>
              <a:t> </a:t>
            </a:r>
            <a:r>
              <a:rPr spc="-30">
                <a:solidFill>
                  <a:srgbClr val="7E7E7E"/>
                </a:solidFill>
              </a:rPr>
              <a:t>of</a:t>
            </a:r>
            <a:r>
              <a:rPr lang="en-IN" spc="-20">
                <a:solidFill>
                  <a:srgbClr val="7E7E7E"/>
                </a:solidFill>
              </a:rPr>
              <a:t> </a:t>
            </a:r>
            <a:r>
              <a:rPr spc="-85"/>
              <a:t>AIML</a:t>
            </a:r>
          </a:p>
        </p:txBody>
      </p:sp>
      <p:sp>
        <p:nvSpPr>
          <p:cNvPr id="5" name="object 5"/>
          <p:cNvSpPr txBox="1">
            <a:spLocks noGrp="1"/>
          </p:cNvSpPr>
          <p:nvPr>
            <p:ph type="dt" sz="half" idx="6"/>
          </p:nvPr>
        </p:nvSpPr>
        <p:spPr>
          <a:xfrm>
            <a:off x="1132803" y="6333334"/>
            <a:ext cx="869314" cy="205184"/>
          </a:xfrm>
          <a:prstGeom prst="rect">
            <a:avLst/>
          </a:prstGeom>
        </p:spPr>
        <p:txBody>
          <a:bodyPr vert="horz" wrap="square" lIns="0" tIns="0" rIns="0" bIns="0" rtlCol="0">
            <a:spAutoFit/>
          </a:bodyPr>
          <a:lstStyle/>
          <a:p>
            <a:pPr marL="12700">
              <a:lnSpc>
                <a:spcPts val="1635"/>
              </a:lnSpc>
            </a:pPr>
            <a:r>
              <a:rPr lang="en-IN"/>
              <a:t>03</a:t>
            </a:r>
            <a:r>
              <a:t>-03-</a:t>
            </a:r>
            <a:r>
              <a:rPr spc="-20"/>
              <a:t>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600"/>
              </a:lnSpc>
            </a:pPr>
            <a:fld id="{81D60167-4931-47E6-BA6A-407CBD079E47}" type="slidenum">
              <a:rPr spc="-25" dirty="0"/>
              <a:t>4</a:t>
            </a:fld>
            <a:endParaRPr spc="-25"/>
          </a:p>
        </p:txBody>
      </p:sp>
      <p:sp>
        <p:nvSpPr>
          <p:cNvPr id="2" name="object 2"/>
          <p:cNvSpPr txBox="1">
            <a:spLocks noGrp="1"/>
          </p:cNvSpPr>
          <p:nvPr>
            <p:ph type="title"/>
          </p:nvPr>
        </p:nvSpPr>
        <p:spPr>
          <a:xfrm>
            <a:off x="520388" y="300512"/>
            <a:ext cx="11151223" cy="813505"/>
          </a:xfrm>
          <a:prstGeom prst="rect">
            <a:avLst/>
          </a:prstGeom>
        </p:spPr>
        <p:txBody>
          <a:bodyPr vert="horz" wrap="square" lIns="0" tIns="13335" rIns="0" bIns="0" rtlCol="0">
            <a:spAutoFit/>
          </a:bodyPr>
          <a:lstStyle/>
          <a:p>
            <a:pPr marL="3806190">
              <a:lnSpc>
                <a:spcPct val="100000"/>
              </a:lnSpc>
              <a:spcBef>
                <a:spcPts val="105"/>
              </a:spcBef>
            </a:pPr>
            <a:r>
              <a:rPr spc="105"/>
              <a:t>INTRODUCTION</a:t>
            </a:r>
          </a:p>
        </p:txBody>
      </p:sp>
      <p:sp>
        <p:nvSpPr>
          <p:cNvPr id="7" name="Rectangle 1">
            <a:extLst>
              <a:ext uri="{FF2B5EF4-FFF2-40B4-BE49-F238E27FC236}">
                <a16:creationId xmlns:a16="http://schemas.microsoft.com/office/drawing/2014/main" id="{FF2F373D-FB59-6459-6E8B-57D6F76F400F}"/>
              </a:ext>
            </a:extLst>
          </p:cNvPr>
          <p:cNvSpPr>
            <a:spLocks noChangeArrowheads="1"/>
          </p:cNvSpPr>
          <p:nvPr/>
        </p:nvSpPr>
        <p:spPr bwMode="auto">
          <a:xfrm flipV="1">
            <a:off x="153318" y="3167435"/>
            <a:ext cx="1203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853592FA-00D9-219D-C740-196E9DE67D32}"/>
              </a:ext>
            </a:extLst>
          </p:cNvPr>
          <p:cNvSpPr>
            <a:spLocks noChangeArrowheads="1"/>
          </p:cNvSpPr>
          <p:nvPr/>
        </p:nvSpPr>
        <p:spPr bwMode="auto">
          <a:xfrm>
            <a:off x="458577" y="912630"/>
            <a:ext cx="11429082"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Modern military surveillance increasingly relies on UAVs and autonomous reconnaissance systems for real-time intelligence gathering; however, detecting camouflaged personnel and vehicles in complex natural environments remains a major computer vision challenge.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Camouflaged Object Detection (COD) is difficult due to high structural similarity between foreground and background, boundary ambiguity, saliency noise, and limited global–local contextual understanding in existing deep learning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Although recent CNN-, transformer-, and attention-based frameworks improve detection accuracy, most models are computationally heavy, GPU-dependent, and not optimized for real-time edge deployment in battlefield conditions.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Therefore, there is a critical need for a lightweight, hardware-aware, real-time camouflage detection framework that can operate autonomously on resource-constrained </a:t>
            </a:r>
            <a:r>
              <a:rPr lang="en-IN" sz="2300">
                <a:latin typeface="Times New Roman" panose="02020603050405020304" pitchFamily="18" charset="0"/>
                <a:cs typeface="Times New Roman" panose="02020603050405020304" pitchFamily="18" charset="0"/>
              </a:rPr>
              <a:t>Combat</a:t>
            </a:r>
            <a:r>
              <a:rPr lang="en-IN" sz="2400"/>
              <a:t> </a:t>
            </a:r>
            <a:r>
              <a:rPr lang="en-IN" sz="2300">
                <a:latin typeface="Times New Roman" panose="02020603050405020304" pitchFamily="18" charset="0"/>
                <a:cs typeface="Times New Roman" panose="02020603050405020304" pitchFamily="18" charset="0"/>
              </a:rPr>
              <a:t>equipment</a:t>
            </a:r>
            <a:r>
              <a:rPr lang="en-IN" sz="2400"/>
              <a:t> </a:t>
            </a: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without cloud dependency.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764107" y="205669"/>
            <a:ext cx="4628515" cy="529590"/>
          </a:xfrm>
          <a:prstGeom prst="rect">
            <a:avLst/>
          </a:prstGeom>
        </p:spPr>
        <p:txBody>
          <a:bodyPr vert="horz" wrap="square" lIns="0" tIns="13335" rIns="0" bIns="0" rtlCol="0">
            <a:spAutoFit/>
          </a:bodyPr>
          <a:lstStyle/>
          <a:p>
            <a:pPr marL="12700">
              <a:lnSpc>
                <a:spcPct val="100000"/>
              </a:lnSpc>
              <a:spcBef>
                <a:spcPts val="105"/>
              </a:spcBef>
            </a:pPr>
            <a:r>
              <a:rPr b="1">
                <a:latin typeface="Times New Roman"/>
                <a:cs typeface="Times New Roman"/>
              </a:rPr>
              <a:t>LITERATURE</a:t>
            </a:r>
            <a:r>
              <a:rPr b="1" spc="85">
                <a:latin typeface="Times New Roman"/>
                <a:cs typeface="Times New Roman"/>
              </a:rPr>
              <a:t> </a:t>
            </a:r>
            <a:r>
              <a:rPr b="1" spc="-10">
                <a:latin typeface="Times New Roman"/>
                <a:cs typeface="Times New Roman"/>
              </a:rPr>
              <a:t>SURVEY</a:t>
            </a:r>
          </a:p>
        </p:txBody>
      </p:sp>
      <p:graphicFrame>
        <p:nvGraphicFramePr>
          <p:cNvPr id="16" name="Table 16">
            <a:extLst>
              <a:ext uri="{FF2B5EF4-FFF2-40B4-BE49-F238E27FC236}">
                <a16:creationId xmlns:a16="http://schemas.microsoft.com/office/drawing/2014/main" id="{5079FF79-531E-F49B-CA15-596BEBD848F5}"/>
              </a:ext>
            </a:extLst>
          </p:cNvPr>
          <p:cNvGraphicFramePr>
            <a:graphicFrameLocks noGrp="1"/>
          </p:cNvGraphicFramePr>
          <p:nvPr>
            <p:extLst>
              <p:ext uri="{D42A27DB-BD31-4B8C-83A1-F6EECF244321}">
                <p14:modId xmlns:p14="http://schemas.microsoft.com/office/powerpoint/2010/main" val="3361720327"/>
              </p:ext>
            </p:extLst>
          </p:nvPr>
        </p:nvGraphicFramePr>
        <p:xfrm>
          <a:off x="2032000" y="719666"/>
          <a:ext cx="8128002" cy="7416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694460894"/>
                    </a:ext>
                  </a:extLst>
                </a:gridCol>
                <a:gridCol w="1354667">
                  <a:extLst>
                    <a:ext uri="{9D8B030D-6E8A-4147-A177-3AD203B41FA5}">
                      <a16:colId xmlns:a16="http://schemas.microsoft.com/office/drawing/2014/main" val="3073123990"/>
                    </a:ext>
                  </a:extLst>
                </a:gridCol>
                <a:gridCol w="1354667">
                  <a:extLst>
                    <a:ext uri="{9D8B030D-6E8A-4147-A177-3AD203B41FA5}">
                      <a16:colId xmlns:a16="http://schemas.microsoft.com/office/drawing/2014/main" val="4067877947"/>
                    </a:ext>
                  </a:extLst>
                </a:gridCol>
                <a:gridCol w="1354667">
                  <a:extLst>
                    <a:ext uri="{9D8B030D-6E8A-4147-A177-3AD203B41FA5}">
                      <a16:colId xmlns:a16="http://schemas.microsoft.com/office/drawing/2014/main" val="4067249599"/>
                    </a:ext>
                  </a:extLst>
                </a:gridCol>
                <a:gridCol w="1354667">
                  <a:extLst>
                    <a:ext uri="{9D8B030D-6E8A-4147-A177-3AD203B41FA5}">
                      <a16:colId xmlns:a16="http://schemas.microsoft.com/office/drawing/2014/main" val="1981084844"/>
                    </a:ext>
                  </a:extLst>
                </a:gridCol>
                <a:gridCol w="1354667">
                  <a:extLst>
                    <a:ext uri="{9D8B030D-6E8A-4147-A177-3AD203B41FA5}">
                      <a16:colId xmlns:a16="http://schemas.microsoft.com/office/drawing/2014/main" val="2224690184"/>
                    </a:ext>
                  </a:extLst>
                </a:gridCol>
              </a:tblGrid>
              <a:tr h="370840">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extLst>
                  <a:ext uri="{0D108BD9-81ED-4DB2-BD59-A6C34878D82A}">
                    <a16:rowId xmlns:a16="http://schemas.microsoft.com/office/drawing/2014/main" val="2987574657"/>
                  </a:ext>
                </a:extLst>
              </a:tr>
              <a:tr h="370840">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tc>
                  <a:txBody>
                    <a:bodyPr/>
                    <a:lstStyle/>
                    <a:p>
                      <a:endParaRPr lang="en-IN">
                        <a:ln>
                          <a:solidFill>
                            <a:schemeClr val="bg1"/>
                          </a:solidFill>
                        </a:ln>
                        <a:solidFill>
                          <a:schemeClr val="bg1"/>
                        </a:solidFill>
                      </a:endParaRPr>
                    </a:p>
                  </a:txBody>
                  <a:tcPr>
                    <a:solidFill>
                      <a:schemeClr val="bg1"/>
                    </a:solidFill>
                  </a:tcPr>
                </a:tc>
                <a:extLst>
                  <a:ext uri="{0D108BD9-81ED-4DB2-BD59-A6C34878D82A}">
                    <a16:rowId xmlns:a16="http://schemas.microsoft.com/office/drawing/2014/main" val="3253148570"/>
                  </a:ext>
                </a:extLst>
              </a:tr>
            </a:tbl>
          </a:graphicData>
        </a:graphic>
      </p:graphicFrame>
      <p:graphicFrame>
        <p:nvGraphicFramePr>
          <p:cNvPr id="17" name="Table 17">
            <a:extLst>
              <a:ext uri="{FF2B5EF4-FFF2-40B4-BE49-F238E27FC236}">
                <a16:creationId xmlns:a16="http://schemas.microsoft.com/office/drawing/2014/main" id="{B1068539-E5F8-EAC2-58F4-041329762EC3}"/>
              </a:ext>
            </a:extLst>
          </p:cNvPr>
          <p:cNvGraphicFramePr>
            <a:graphicFrameLocks noGrp="1"/>
          </p:cNvGraphicFramePr>
          <p:nvPr>
            <p:extLst>
              <p:ext uri="{D42A27DB-BD31-4B8C-83A1-F6EECF244321}">
                <p14:modId xmlns:p14="http://schemas.microsoft.com/office/powerpoint/2010/main" val="1196780689"/>
              </p:ext>
            </p:extLst>
          </p:nvPr>
        </p:nvGraphicFramePr>
        <p:xfrm>
          <a:off x="990599" y="735259"/>
          <a:ext cx="10712670" cy="5403075"/>
        </p:xfrm>
        <a:graphic>
          <a:graphicData uri="http://schemas.openxmlformats.org/drawingml/2006/table">
            <a:tbl>
              <a:tblPr firstRow="1" bandRow="1">
                <a:tableStyleId>{5C22544A-7EE6-4342-B048-85BDC9FD1C3A}</a:tableStyleId>
              </a:tblPr>
              <a:tblGrid>
                <a:gridCol w="1066801">
                  <a:extLst>
                    <a:ext uri="{9D8B030D-6E8A-4147-A177-3AD203B41FA5}">
                      <a16:colId xmlns:a16="http://schemas.microsoft.com/office/drawing/2014/main" val="1179573773"/>
                    </a:ext>
                  </a:extLst>
                </a:gridCol>
                <a:gridCol w="1828800">
                  <a:extLst>
                    <a:ext uri="{9D8B030D-6E8A-4147-A177-3AD203B41FA5}">
                      <a16:colId xmlns:a16="http://schemas.microsoft.com/office/drawing/2014/main" val="4012167054"/>
                    </a:ext>
                  </a:extLst>
                </a:gridCol>
                <a:gridCol w="2466588">
                  <a:extLst>
                    <a:ext uri="{9D8B030D-6E8A-4147-A177-3AD203B41FA5}">
                      <a16:colId xmlns:a16="http://schemas.microsoft.com/office/drawing/2014/main" val="614798839"/>
                    </a:ext>
                  </a:extLst>
                </a:gridCol>
                <a:gridCol w="2325641">
                  <a:extLst>
                    <a:ext uri="{9D8B030D-6E8A-4147-A177-3AD203B41FA5}">
                      <a16:colId xmlns:a16="http://schemas.microsoft.com/office/drawing/2014/main" val="1849338153"/>
                    </a:ext>
                  </a:extLst>
                </a:gridCol>
                <a:gridCol w="1684766">
                  <a:extLst>
                    <a:ext uri="{9D8B030D-6E8A-4147-A177-3AD203B41FA5}">
                      <a16:colId xmlns:a16="http://schemas.microsoft.com/office/drawing/2014/main" val="3254172498"/>
                    </a:ext>
                  </a:extLst>
                </a:gridCol>
                <a:gridCol w="1340074">
                  <a:extLst>
                    <a:ext uri="{9D8B030D-6E8A-4147-A177-3AD203B41FA5}">
                      <a16:colId xmlns:a16="http://schemas.microsoft.com/office/drawing/2014/main" val="1501499403"/>
                    </a:ext>
                  </a:extLst>
                </a:gridCol>
              </a:tblGrid>
              <a:tr h="649528">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dirty="0" err="1">
                          <a:solidFill>
                            <a:schemeClr val="tx1"/>
                          </a:solidFill>
                          <a:latin typeface="Times New Roman"/>
                          <a:cs typeface="Times New Roman"/>
                        </a:rPr>
                        <a:t>S.No</a:t>
                      </a:r>
                      <a:endParaRPr sz="1800" dirty="0" err="1">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93980">
                        <a:lnSpc>
                          <a:spcPct val="100000"/>
                        </a:lnSpc>
                      </a:pPr>
                      <a:r>
                        <a:rPr sz="1800" b="1">
                          <a:solidFill>
                            <a:schemeClr val="tx1"/>
                          </a:solidFill>
                          <a:latin typeface="Times New Roman"/>
                          <a:cs typeface="Times New Roman"/>
                        </a:rPr>
                        <a:t>Paper</a:t>
                      </a:r>
                      <a:r>
                        <a:rPr sz="1800" b="1" spc="-75" dirty="0">
                          <a:solidFill>
                            <a:schemeClr val="tx1"/>
                          </a:solidFill>
                          <a:latin typeface="Times New Roman"/>
                          <a:cs typeface="Times New Roman"/>
                        </a:rPr>
                        <a:t> </a:t>
                      </a:r>
                      <a:r>
                        <a:rPr sz="1800" b="1" spc="-10">
                          <a:solidFill>
                            <a:schemeClr val="tx1"/>
                          </a:solidFill>
                          <a:latin typeface="Times New Roman"/>
                          <a:cs typeface="Times New Roman"/>
                        </a:rPr>
                        <a:t>Title</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286385">
                        <a:lnSpc>
                          <a:spcPct val="100000"/>
                        </a:lnSpc>
                      </a:pPr>
                      <a:r>
                        <a:rPr sz="1800" b="1" spc="-10">
                          <a:solidFill>
                            <a:schemeClr val="tx1"/>
                          </a:solidFill>
                          <a:latin typeface="Times New Roman"/>
                          <a:cs typeface="Times New Roman"/>
                        </a:rPr>
                        <a:t>Methodology</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361315">
                        <a:lnSpc>
                          <a:spcPct val="100000"/>
                        </a:lnSpc>
                      </a:pPr>
                      <a:r>
                        <a:rPr sz="1800" b="1" spc="-10">
                          <a:solidFill>
                            <a:schemeClr val="tx1"/>
                          </a:solidFill>
                          <a:latin typeface="Times New Roman"/>
                          <a:cs typeface="Times New Roman"/>
                        </a:rPr>
                        <a:t>Limitations</a:t>
                      </a:r>
                      <a:endParaRPr sz="1800">
                        <a:solidFill>
                          <a:schemeClr val="tx1"/>
                        </a:solidFill>
                        <a:latin typeface="Times New Roman"/>
                        <a:cs typeface="Times New Roman"/>
                      </a:endParaRPr>
                    </a:p>
                  </a:txBody>
                  <a:tcPr marL="0" marR="0" marT="5715" marB="0"/>
                </a:tc>
                <a:tc>
                  <a:txBody>
                    <a:bodyPr/>
                    <a:lstStyle/>
                    <a:p>
                      <a:pPr marL="261620" marR="85725" indent="-169545" algn="ctr">
                        <a:lnSpc>
                          <a:spcPts val="1380"/>
                        </a:lnSpc>
                        <a:spcBef>
                          <a:spcPts val="840"/>
                        </a:spcBef>
                      </a:pPr>
                      <a:r>
                        <a:rPr lang="en-IN" sz="1800" b="1" spc="-10" dirty="0">
                          <a:solidFill>
                            <a:schemeClr val="tx1"/>
                          </a:solidFill>
                          <a:latin typeface="Times New Roman"/>
                          <a:cs typeface="Times New Roman"/>
                        </a:rPr>
                        <a:t>   </a:t>
                      </a:r>
                      <a:r>
                        <a:rPr sz="1800" b="1" spc="-10">
                          <a:solidFill>
                            <a:schemeClr val="tx1"/>
                          </a:solidFill>
                          <a:latin typeface="Times New Roman"/>
                          <a:cs typeface="Times New Roman"/>
                        </a:rPr>
                        <a:t>Research</a:t>
                      </a:r>
                      <a:r>
                        <a:rPr sz="1800" b="1" spc="-5" dirty="0">
                          <a:solidFill>
                            <a:schemeClr val="tx1"/>
                          </a:solidFill>
                          <a:latin typeface="Times New Roman"/>
                          <a:cs typeface="Times New Roman"/>
                        </a:rPr>
                        <a:t> </a:t>
                      </a:r>
                      <a:r>
                        <a:rPr sz="1800" b="1" spc="-20">
                          <a:solidFill>
                            <a:schemeClr val="tx1"/>
                          </a:solidFill>
                          <a:latin typeface="Times New Roman"/>
                          <a:cs typeface="Times New Roman"/>
                        </a:rPr>
                        <a:t>Gaps </a:t>
                      </a:r>
                      <a:r>
                        <a:rPr sz="1800" b="1" spc="-10">
                          <a:solidFill>
                            <a:schemeClr val="tx1"/>
                          </a:solidFill>
                          <a:latin typeface="Times New Roman"/>
                          <a:cs typeface="Times New Roman"/>
                        </a:rPr>
                        <a:t>Identified</a:t>
                      </a:r>
                      <a:endParaRPr sz="1800">
                        <a:solidFill>
                          <a:schemeClr val="tx1"/>
                        </a:solidFill>
                        <a:latin typeface="Times New Roman"/>
                        <a:cs typeface="Times New Roman"/>
                      </a:endParaRPr>
                    </a:p>
                  </a:txBody>
                  <a:tcPr marL="0" marR="0" marT="106680" marB="0"/>
                </a:tc>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Year</a:t>
                      </a:r>
                      <a:endParaRPr sz="1800">
                        <a:solidFill>
                          <a:schemeClr val="tx1"/>
                        </a:solidFill>
                        <a:latin typeface="Times New Roman"/>
                        <a:cs typeface="Times New Roman"/>
                      </a:endParaRPr>
                    </a:p>
                  </a:txBody>
                  <a:tcPr marL="0" marR="0" marT="5715" marB="0"/>
                </a:tc>
                <a:extLst>
                  <a:ext uri="{0D108BD9-81ED-4DB2-BD59-A6C34878D82A}">
                    <a16:rowId xmlns:a16="http://schemas.microsoft.com/office/drawing/2014/main" val="1976892308"/>
                  </a:ext>
                </a:extLst>
              </a:tr>
              <a:tr h="4753547">
                <a:tc>
                  <a:txBody>
                    <a:bodyPr/>
                    <a:lstStyle/>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spcBef>
                          <a:spcPts val="385"/>
                        </a:spcBef>
                      </a:pPr>
                      <a:endParaRPr sz="1800">
                        <a:solidFill>
                          <a:schemeClr val="tx1"/>
                        </a:solidFill>
                        <a:latin typeface="Times New Roman"/>
                        <a:cs typeface="Times New Roman"/>
                      </a:endParaRPr>
                    </a:p>
                    <a:p>
                      <a:pPr algn="ctr">
                        <a:lnSpc>
                          <a:spcPct val="100000"/>
                        </a:lnSpc>
                      </a:pPr>
                      <a:r>
                        <a:rPr sz="1800" spc="-50">
                          <a:solidFill>
                            <a:schemeClr val="tx1"/>
                          </a:solidFill>
                          <a:latin typeface="Times New Roman"/>
                          <a:cs typeface="Times New Roman"/>
                        </a:rPr>
                        <a:t>1</a:t>
                      </a:r>
                      <a:endParaRPr sz="1800">
                        <a:solidFill>
                          <a:schemeClr val="tx1"/>
                        </a:solidFill>
                        <a:latin typeface="Times New Roman"/>
                        <a:cs typeface="Times New Roman"/>
                      </a:endParaRPr>
                    </a:p>
                  </a:txBody>
                  <a:tcPr marL="0" marR="0" marT="0" marB="0"/>
                </a:tc>
                <a:tc>
                  <a:txBody>
                    <a:bodyPr/>
                    <a:lstStyle/>
                    <a:p>
                      <a:pPr marL="67945">
                        <a:lnSpc>
                          <a:spcPts val="1380"/>
                        </a:lnSpc>
                      </a:pPr>
                      <a:endParaRPr lang="en-IN" sz="1800" spc="-10">
                        <a:solidFill>
                          <a:schemeClr val="tx1"/>
                        </a:solidFill>
                        <a:latin typeface="Times New Roman"/>
                        <a:cs typeface="Times New Roman"/>
                      </a:endParaRPr>
                    </a:p>
                    <a:p>
                      <a:pPr marL="67945">
                        <a:lnSpc>
                          <a:spcPts val="1380"/>
                        </a:lnSpc>
                      </a:pPr>
                      <a:endParaRPr lang="en-IN" sz="1800" spc="-10">
                        <a:solidFill>
                          <a:schemeClr val="tx1"/>
                        </a:solidFill>
                        <a:latin typeface="Times New Roman"/>
                        <a:cs typeface="Times New Roman"/>
                      </a:endParaRPr>
                    </a:p>
                    <a:p>
                      <a:pPr marL="67945">
                        <a:lnSpc>
                          <a:spcPts val="1380"/>
                        </a:lnSpc>
                      </a:pPr>
                      <a:endParaRPr lang="en-US" sz="1000" b="0" i="0" u="none" strike="noStrike" noProof="0" dirty="0">
                        <a:latin typeface="Calibri"/>
                        <a:ea typeface="Calibri"/>
                        <a:cs typeface="Calibri"/>
                      </a:endParaRPr>
                    </a:p>
                    <a:p>
                      <a:pPr marL="67945" lvl="0">
                        <a:lnSpc>
                          <a:spcPts val="1380"/>
                        </a:lnSpc>
                        <a:buNone/>
                      </a:pPr>
                      <a:endParaRPr lang="en-US" sz="1000" b="0" i="0" u="none" strike="noStrike" noProof="0" dirty="0">
                        <a:latin typeface="Calibri"/>
                        <a:ea typeface="Calibri"/>
                        <a:cs typeface="Calibri"/>
                      </a:endParaRPr>
                    </a:p>
                    <a:p>
                      <a:pPr marL="67945" lvl="0">
                        <a:lnSpc>
                          <a:spcPts val="1380"/>
                        </a:lnSpc>
                        <a:buNone/>
                      </a:pPr>
                      <a:endParaRPr lang="en-US" sz="1000" b="0" i="0" u="none" strike="noStrike" noProof="0" dirty="0">
                        <a:latin typeface="Calibri"/>
                        <a:ea typeface="Calibri"/>
                        <a:cs typeface="Calibri"/>
                      </a:endParaRPr>
                    </a:p>
                    <a:p>
                      <a:pPr marL="67945" lvl="0">
                        <a:lnSpc>
                          <a:spcPts val="1380"/>
                        </a:lnSpc>
                        <a:buNone/>
                      </a:pPr>
                      <a:endParaRPr lang="en-US" sz="1800" b="0" i="0" u="none" strike="noStrike" noProof="0" dirty="0">
                        <a:latin typeface="Times New Roman"/>
                        <a:ea typeface="Calibri"/>
                        <a:cs typeface="Times New Roman"/>
                      </a:endParaRPr>
                    </a:p>
                    <a:p>
                      <a:pPr marL="67945" lvl="0">
                        <a:lnSpc>
                          <a:spcPct val="150000"/>
                        </a:lnSpc>
                        <a:buNone/>
                      </a:pPr>
                      <a:r>
                        <a:rPr lang="en-US" sz="1800" b="0" i="0" u="none" strike="noStrike" noProof="0">
                          <a:latin typeface="Times New Roman"/>
                          <a:ea typeface="Calibri"/>
                          <a:cs typeface="Times New Roman"/>
                        </a:rPr>
                        <a:t>Deep Gradient</a:t>
                      </a:r>
                      <a:endParaRPr lang="en-US" sz="1800">
                        <a:latin typeface="Times New Roman"/>
                        <a:cs typeface="Times New Roman"/>
                      </a:endParaRPr>
                    </a:p>
                    <a:p>
                      <a:pPr marL="67945" lvl="0">
                        <a:lnSpc>
                          <a:spcPct val="150000"/>
                        </a:lnSpc>
                        <a:buNone/>
                      </a:pPr>
                      <a:r>
                        <a:rPr lang="en-US" sz="1800" b="0" i="0" u="none" strike="noStrike" noProof="0" dirty="0">
                          <a:latin typeface="Times New Roman"/>
                          <a:ea typeface="Calibri"/>
                          <a:cs typeface="Times New Roman"/>
                        </a:rPr>
                        <a:t> </a:t>
                      </a:r>
                      <a:r>
                        <a:rPr lang="en-US" sz="1800" b="0" i="0" u="none" strike="noStrike" noProof="0">
                          <a:latin typeface="Times New Roman"/>
                          <a:ea typeface="Calibri"/>
                          <a:cs typeface="Times New Roman"/>
                        </a:rPr>
                        <a:t>Learning for</a:t>
                      </a:r>
                      <a:endParaRPr lang="en-US" sz="1800">
                        <a:latin typeface="Times New Roman"/>
                        <a:cs typeface="Times New Roman"/>
                      </a:endParaRPr>
                    </a:p>
                    <a:p>
                      <a:pPr marL="67945" lvl="0">
                        <a:lnSpc>
                          <a:spcPct val="150000"/>
                        </a:lnSpc>
                        <a:buNone/>
                      </a:pPr>
                      <a:r>
                        <a:rPr lang="en-US" sz="1800" b="0" i="0" u="none" strike="noStrike" noProof="0" dirty="0">
                          <a:latin typeface="Times New Roman"/>
                          <a:ea typeface="Calibri"/>
                          <a:cs typeface="Times New Roman"/>
                        </a:rPr>
                        <a:t> </a:t>
                      </a:r>
                      <a:r>
                        <a:rPr lang="en-US" sz="1800" b="0" i="0" u="none" strike="noStrike" noProof="0">
                          <a:latin typeface="Times New Roman"/>
                          <a:ea typeface="Calibri"/>
                          <a:cs typeface="Times New Roman"/>
                        </a:rPr>
                        <a:t>Efficient</a:t>
                      </a:r>
                      <a:endParaRPr lang="en-US" sz="1800">
                        <a:latin typeface="Times New Roman"/>
                        <a:cs typeface="Times New Roman"/>
                      </a:endParaRPr>
                    </a:p>
                    <a:p>
                      <a:pPr marL="67945" lvl="0">
                        <a:lnSpc>
                          <a:spcPct val="150000"/>
                        </a:lnSpc>
                        <a:buNone/>
                      </a:pPr>
                      <a:r>
                        <a:rPr lang="en-US" sz="1800" b="0" i="0" u="none" strike="noStrike" noProof="0" dirty="0">
                          <a:latin typeface="Times New Roman"/>
                          <a:ea typeface="Calibri"/>
                          <a:cs typeface="Times New Roman"/>
                        </a:rPr>
                        <a:t> Camouflaged Object Detection (</a:t>
                      </a:r>
                      <a:r>
                        <a:rPr lang="en-US" sz="1800" b="0" i="0" u="none" strike="noStrike" noProof="0" dirty="0" err="1">
                          <a:latin typeface="Times New Roman"/>
                          <a:ea typeface="Calibri"/>
                          <a:cs typeface="Times New Roman"/>
                        </a:rPr>
                        <a:t>DGNet</a:t>
                      </a:r>
                      <a:r>
                        <a:rPr lang="en-US" sz="1800" b="0" i="0" u="none" strike="noStrike" noProof="0" dirty="0">
                          <a:latin typeface="Times New Roman"/>
                          <a:ea typeface="Calibri"/>
                          <a:cs typeface="Times New Roman"/>
                        </a:rPr>
                        <a:t>)</a:t>
                      </a:r>
                      <a:endParaRPr lang="en-US" sz="1800">
                        <a:latin typeface="Times New Roman"/>
                        <a:cs typeface="Times New Roman"/>
                      </a:endParaRPr>
                    </a:p>
                    <a:p>
                      <a:pPr marL="285750" lvl="0" indent="-285750" algn="l">
                        <a:lnSpc>
                          <a:spcPct val="150000"/>
                        </a:lnSpc>
                        <a:spcBef>
                          <a:spcPts val="0"/>
                        </a:spcBef>
                        <a:spcAft>
                          <a:spcPts val="0"/>
                        </a:spcAft>
                        <a:buFont typeface="Arial"/>
                        <a:buChar char="•"/>
                      </a:pPr>
                      <a:endParaRPr lang="en-US"/>
                    </a:p>
                    <a:p>
                      <a:pPr marL="67945" lvl="0">
                        <a:lnSpc>
                          <a:spcPts val="1380"/>
                        </a:lnSpc>
                        <a:buNone/>
                      </a:pPr>
                      <a:endParaRPr sz="1000" dirty="0"/>
                    </a:p>
                  </a:txBody>
                  <a:tcPr marL="0" marR="0" marT="0" marB="0"/>
                </a:tc>
                <a:tc>
                  <a:txBody>
                    <a:bodyPr/>
                    <a:lstStyle/>
                    <a:p>
                      <a:pPr marL="68580">
                        <a:lnSpc>
                          <a:spcPts val="1380"/>
                        </a:lnSpc>
                      </a:pPr>
                      <a:endParaRPr lang="en-IN" sz="1800">
                        <a:solidFill>
                          <a:schemeClr val="tx1"/>
                        </a:solidFill>
                        <a:latin typeface="Times New Roman"/>
                        <a:cs typeface="Times New Roman"/>
                      </a:endParaRPr>
                    </a:p>
                    <a:p>
                      <a:pPr marL="68580">
                        <a:lnSpc>
                          <a:spcPts val="1380"/>
                        </a:lnSpc>
                      </a:pPr>
                      <a:endParaRPr lang="en-IN" sz="1800">
                        <a:solidFill>
                          <a:schemeClr val="tx1"/>
                        </a:solidFill>
                        <a:latin typeface="Times New Roman"/>
                        <a:cs typeface="Times New Roman"/>
                      </a:endParaRPr>
                    </a:p>
                    <a:p>
                      <a:pPr marL="68580" lvl="0" algn="just">
                        <a:lnSpc>
                          <a:spcPct val="150000"/>
                        </a:lnSpc>
                        <a:buNone/>
                      </a:pPr>
                      <a:endParaRPr lang="en-IN" sz="1800" b="0" i="0" u="none" strike="noStrike" spc="-10" noProof="0" dirty="0">
                        <a:solidFill>
                          <a:schemeClr val="tx1"/>
                        </a:solidFill>
                        <a:latin typeface="Times New Roman"/>
                        <a:cs typeface="Times New Roman"/>
                      </a:endParaRPr>
                    </a:p>
                    <a:p>
                      <a:pPr marL="68580" lvl="0" algn="just">
                        <a:lnSpc>
                          <a:spcPct val="150000"/>
                        </a:lnSpc>
                        <a:buNone/>
                      </a:pPr>
                      <a:endParaRPr lang="en-IN" sz="1800" b="0" i="0" u="none" strike="noStrike" spc="-10" noProof="0" dirty="0">
                        <a:solidFill>
                          <a:schemeClr val="tx1"/>
                        </a:solidFill>
                        <a:latin typeface="Times New Roman"/>
                        <a:cs typeface="Times New Roman"/>
                      </a:endParaRPr>
                    </a:p>
                    <a:p>
                      <a:pPr marL="68580" lvl="0" algn="ctr">
                        <a:lnSpc>
                          <a:spcPct val="150000"/>
                        </a:lnSpc>
                        <a:buNone/>
                      </a:pPr>
                      <a:r>
                        <a:rPr lang="en-IN" sz="1800" b="0" i="0" u="none" strike="noStrike" spc="-10" noProof="0" dirty="0">
                          <a:solidFill>
                            <a:schemeClr val="tx1"/>
                          </a:solidFill>
                          <a:latin typeface="Times New Roman"/>
                          <a:cs typeface="Times New Roman"/>
                        </a:rPr>
                        <a:t>Dual-branch (context + texture) architecture with gradient-induced transition and an efficient variant (DGNet-S) running at 80 fps</a:t>
                      </a:r>
                      <a:endParaRPr lang="en-IN">
                        <a:latin typeface="Times New Roman"/>
                        <a:cs typeface="Times New Roman"/>
                      </a:endParaRPr>
                    </a:p>
                  </a:txBody>
                  <a:tcPr marL="0" marR="0" marT="0" marB="0"/>
                </a:tc>
                <a:tc>
                  <a:txBody>
                    <a:bodyPr/>
                    <a:lstStyle/>
                    <a:p>
                      <a:pPr marL="66675" algn="just">
                        <a:lnSpc>
                          <a:spcPts val="1380"/>
                        </a:lnSpc>
                      </a:pPr>
                      <a:endParaRPr lang="en-IN" sz="1800">
                        <a:solidFill>
                          <a:schemeClr val="tx1"/>
                        </a:solidFill>
                        <a:latin typeface="Times New Roman"/>
                        <a:cs typeface="Times New Roman"/>
                      </a:endParaRPr>
                    </a:p>
                    <a:p>
                      <a:pPr marL="0" lvl="0" indent="0" algn="just">
                        <a:lnSpc>
                          <a:spcPct val="150000"/>
                        </a:lnSpc>
                        <a:spcBef>
                          <a:spcPts val="0"/>
                        </a:spcBef>
                        <a:spcAft>
                          <a:spcPts val="0"/>
                        </a:spcAft>
                        <a:buNone/>
                      </a:pPr>
                      <a:endParaRPr lang="en-US" sz="1800" b="0" i="0" u="none" strike="noStrike" spc="-10" noProof="0" dirty="0">
                        <a:solidFill>
                          <a:schemeClr val="tx1"/>
                        </a:solidFill>
                        <a:latin typeface="Times New Roman"/>
                        <a:cs typeface="Times New Roman"/>
                      </a:endParaRPr>
                    </a:p>
                    <a:p>
                      <a:pPr marL="0" lvl="0" indent="0" algn="just">
                        <a:lnSpc>
                          <a:spcPct val="150000"/>
                        </a:lnSpc>
                        <a:spcBef>
                          <a:spcPts val="0"/>
                        </a:spcBef>
                        <a:spcAft>
                          <a:spcPts val="0"/>
                        </a:spcAft>
                        <a:buNone/>
                      </a:pPr>
                      <a:endParaRPr lang="en-US" sz="1800" b="0" i="0" u="none" strike="noStrike" spc="-10" noProof="0" dirty="0">
                        <a:solidFill>
                          <a:schemeClr val="tx1"/>
                        </a:solidFill>
                        <a:latin typeface="Times New Roman"/>
                        <a:cs typeface="Times New Roman"/>
                      </a:endParaRPr>
                    </a:p>
                    <a:p>
                      <a:pPr marL="0" lvl="0" indent="0" algn="ctr">
                        <a:lnSpc>
                          <a:spcPct val="150000"/>
                        </a:lnSpc>
                        <a:spcBef>
                          <a:spcPts val="0"/>
                        </a:spcBef>
                        <a:spcAft>
                          <a:spcPts val="0"/>
                        </a:spcAft>
                        <a:buNone/>
                      </a:pPr>
                      <a:r>
                        <a:rPr lang="en-US" sz="1800" b="0" i="0" u="none" strike="noStrike" spc="-10" noProof="0">
                          <a:solidFill>
                            <a:schemeClr val="tx1"/>
                          </a:solidFill>
                          <a:latin typeface="Times New Roman"/>
                          <a:cs typeface="Times New Roman"/>
                        </a:rPr>
                        <a:t>Gradient supervision </a:t>
                      </a:r>
                      <a:r>
                        <a:rPr lang="en-US" sz="1800" b="0" i="0" u="none" strike="noStrike" spc="-10" noProof="0" dirty="0">
                          <a:solidFill>
                            <a:schemeClr val="tx1"/>
                          </a:solidFill>
                          <a:latin typeface="Times New Roman"/>
                          <a:cs typeface="Times New Roman"/>
                        </a:rPr>
                        <a:t>unreliable in highly textured/low-contrast backgrounds; struggles with small/multi-scale objects; only tested on static images</a:t>
                      </a:r>
                      <a:endParaRPr lang="en-US" dirty="0">
                        <a:latin typeface="Times New Roman"/>
                        <a:cs typeface="Times New Roman"/>
                      </a:endParaRPr>
                    </a:p>
                    <a:p>
                      <a:pPr marL="285750" lvl="0" indent="-285750" algn="just">
                        <a:lnSpc>
                          <a:spcPct val="100000"/>
                        </a:lnSpc>
                        <a:spcBef>
                          <a:spcPts val="0"/>
                        </a:spcBef>
                        <a:spcAft>
                          <a:spcPts val="0"/>
                        </a:spcAft>
                        <a:buFont typeface="Arial"/>
                        <a:buChar char="•"/>
                      </a:pPr>
                      <a:endParaRPr lang="en-US"/>
                    </a:p>
                    <a:p>
                      <a:pPr marL="66675" lvl="0" algn="just">
                        <a:lnSpc>
                          <a:spcPts val="1380"/>
                        </a:lnSpc>
                        <a:buNone/>
                      </a:pPr>
                      <a:endParaRPr sz="1800" spc="-10" dirty="0">
                        <a:solidFill>
                          <a:schemeClr val="tx1"/>
                        </a:solidFill>
                        <a:latin typeface="Times New Roman"/>
                        <a:cs typeface="Times New Roman"/>
                      </a:endParaRPr>
                    </a:p>
                  </a:txBody>
                  <a:tcPr marL="0" marR="0" marT="0" marB="0"/>
                </a:tc>
                <a:tc>
                  <a:txBody>
                    <a:bodyPr/>
                    <a:lstStyle/>
                    <a:p>
                      <a:pPr marL="67945">
                        <a:lnSpc>
                          <a:spcPts val="1380"/>
                        </a:lnSpc>
                      </a:pPr>
                      <a:endParaRPr lang="en-IN" sz="1800">
                        <a:solidFill>
                          <a:schemeClr val="tx1"/>
                        </a:solidFill>
                        <a:latin typeface="Times New Roman"/>
                        <a:cs typeface="Times New Roman"/>
                      </a:endParaRPr>
                    </a:p>
                    <a:p>
                      <a:pPr marL="0" lvl="0" indent="0" algn="l">
                        <a:lnSpc>
                          <a:spcPct val="150000"/>
                        </a:lnSpc>
                        <a:spcBef>
                          <a:spcPts val="0"/>
                        </a:spcBef>
                        <a:spcAft>
                          <a:spcPts val="0"/>
                        </a:spcAft>
                        <a:buNone/>
                      </a:pPr>
                      <a:endParaRPr lang="en-US" sz="1800" b="0" i="0" u="none" strike="noStrike" spc="-20" noProof="0" dirty="0">
                        <a:solidFill>
                          <a:schemeClr val="tx1"/>
                        </a:solidFill>
                        <a:latin typeface="Times New Roman"/>
                        <a:cs typeface="Times New Roman"/>
                      </a:endParaRPr>
                    </a:p>
                    <a:p>
                      <a:pPr marL="0" lvl="0" indent="0" algn="ctr">
                        <a:lnSpc>
                          <a:spcPct val="150000"/>
                        </a:lnSpc>
                        <a:spcBef>
                          <a:spcPts val="0"/>
                        </a:spcBef>
                        <a:spcAft>
                          <a:spcPts val="0"/>
                        </a:spcAft>
                        <a:buNone/>
                      </a:pPr>
                      <a:endParaRPr lang="en-US" sz="1800" b="0" i="0" u="none" strike="noStrike" spc="-20" noProof="0" dirty="0">
                        <a:solidFill>
                          <a:schemeClr val="tx1"/>
                        </a:solidFill>
                        <a:latin typeface="Times New Roman"/>
                        <a:cs typeface="Times New Roman"/>
                      </a:endParaRPr>
                    </a:p>
                    <a:p>
                      <a:pPr marL="0" lvl="0" indent="0" algn="ctr">
                        <a:lnSpc>
                          <a:spcPct val="150000"/>
                        </a:lnSpc>
                        <a:spcBef>
                          <a:spcPts val="0"/>
                        </a:spcBef>
                        <a:spcAft>
                          <a:spcPts val="0"/>
                        </a:spcAft>
                        <a:buNone/>
                      </a:pPr>
                      <a:r>
                        <a:rPr lang="en-US" sz="1800" b="0" i="0" u="none" strike="noStrike" spc="-20" noProof="0">
                          <a:solidFill>
                            <a:schemeClr val="tx1"/>
                          </a:solidFill>
                          <a:latin typeface="Times New Roman"/>
                          <a:cs typeface="Times New Roman"/>
                        </a:rPr>
                        <a:t>Adaptive gradient supervision, video COD extension, and better handling of small/occluded objects</a:t>
                      </a:r>
                      <a:endParaRPr lang="en-US">
                        <a:latin typeface="Times New Roman"/>
                        <a:cs typeface="Times New Roman"/>
                      </a:endParaRPr>
                    </a:p>
                    <a:p>
                      <a:pPr marL="285750" lvl="0" indent="-285750" algn="l">
                        <a:lnSpc>
                          <a:spcPct val="100000"/>
                        </a:lnSpc>
                        <a:spcBef>
                          <a:spcPts val="0"/>
                        </a:spcBef>
                        <a:spcAft>
                          <a:spcPts val="0"/>
                        </a:spcAft>
                        <a:buFont typeface="Arial"/>
                        <a:buChar char="•"/>
                      </a:pPr>
                      <a:endParaRPr lang="en-US"/>
                    </a:p>
                    <a:p>
                      <a:pPr marL="67945" lvl="0">
                        <a:lnSpc>
                          <a:spcPts val="1380"/>
                        </a:lnSpc>
                        <a:buNone/>
                      </a:pPr>
                      <a:endParaRPr sz="1800" spc="-20" dirty="0">
                        <a:solidFill>
                          <a:schemeClr val="tx1"/>
                        </a:solidFill>
                        <a:latin typeface="Times New Roman"/>
                        <a:cs typeface="Times New Roman"/>
                      </a:endParaRPr>
                    </a:p>
                  </a:txBody>
                  <a:tcPr marL="0" marR="0" marT="0" marB="0"/>
                </a:tc>
                <a:tc>
                  <a:txBody>
                    <a:bodyPr/>
                    <a:lstStyle/>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pPr>
                      <a:endParaRPr sz="1800">
                        <a:solidFill>
                          <a:schemeClr val="tx1"/>
                        </a:solidFill>
                        <a:latin typeface="Times New Roman"/>
                        <a:cs typeface="Times New Roman"/>
                      </a:endParaRPr>
                    </a:p>
                    <a:p>
                      <a:pPr>
                        <a:lnSpc>
                          <a:spcPct val="100000"/>
                        </a:lnSpc>
                        <a:spcBef>
                          <a:spcPts val="600"/>
                        </a:spcBef>
                      </a:pPr>
                      <a:endParaRPr sz="1800">
                        <a:solidFill>
                          <a:schemeClr val="tx1"/>
                        </a:solidFill>
                        <a:latin typeface="Times New Roman"/>
                        <a:cs typeface="Times New Roman"/>
                      </a:endParaRPr>
                    </a:p>
                    <a:p>
                      <a:pPr algn="ctr">
                        <a:lnSpc>
                          <a:spcPct val="100000"/>
                        </a:lnSpc>
                      </a:pPr>
                      <a:r>
                        <a:rPr lang="en-US" sz="1800" spc="-20">
                          <a:solidFill>
                            <a:schemeClr val="tx1"/>
                          </a:solidFill>
                          <a:latin typeface="Times New Roman"/>
                          <a:cs typeface="Times New Roman"/>
                        </a:rPr>
                        <a:t>2023</a:t>
                      </a:r>
                      <a:endParaRPr sz="1800">
                        <a:solidFill>
                          <a:schemeClr val="tx1"/>
                        </a:solidFill>
                        <a:latin typeface="Times New Roman"/>
                        <a:cs typeface="Times New Roman"/>
                      </a:endParaRPr>
                    </a:p>
                  </a:txBody>
                  <a:tcPr marL="0" marR="0" marT="0" marB="0"/>
                </a:tc>
                <a:extLst>
                  <a:ext uri="{0D108BD9-81ED-4DB2-BD59-A6C34878D82A}">
                    <a16:rowId xmlns:a16="http://schemas.microsoft.com/office/drawing/2014/main" val="2112203223"/>
                  </a:ext>
                </a:extLst>
              </a:tr>
            </a:tbl>
          </a:graphicData>
        </a:graphic>
      </p:graphicFrame>
      <p:sp>
        <p:nvSpPr>
          <p:cNvPr id="18" name="TextBox 17">
            <a:extLst>
              <a:ext uri="{FF2B5EF4-FFF2-40B4-BE49-F238E27FC236}">
                <a16:creationId xmlns:a16="http://schemas.microsoft.com/office/drawing/2014/main" id="{2C02230E-24AF-DBD1-C34E-1C6A183CB899}"/>
              </a:ext>
            </a:extLst>
          </p:cNvPr>
          <p:cNvSpPr txBox="1"/>
          <p:nvPr/>
        </p:nvSpPr>
        <p:spPr>
          <a:xfrm>
            <a:off x="990599" y="6348486"/>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5</a:t>
            </a:r>
            <a:endParaRPr lang="en-IN" sz="1200" spc="-85">
              <a:solidFill>
                <a:schemeClr val="tx1"/>
              </a:solidFill>
            </a:endParaRPr>
          </a:p>
        </p:txBody>
      </p:sp>
    </p:spTree>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848973" y="189970"/>
            <a:ext cx="6474460" cy="536575"/>
          </a:xfrm>
          <a:prstGeom prst="rect">
            <a:avLst/>
          </a:prstGeom>
        </p:spPr>
        <p:txBody>
          <a:bodyPr vert="horz" wrap="square" lIns="0" tIns="13335" rIns="0" bIns="0" rtlCol="0">
            <a:spAutoFit/>
          </a:bodyPr>
          <a:lstStyle/>
          <a:p>
            <a:pPr marL="12700">
              <a:lnSpc>
                <a:spcPct val="100000"/>
              </a:lnSpc>
              <a:spcBef>
                <a:spcPts val="105"/>
              </a:spcBef>
              <a:tabLst>
                <a:tab pos="2883535" algn="l"/>
              </a:tabLst>
            </a:pPr>
            <a:r>
              <a:rPr sz="3350" spc="-10"/>
              <a:t>LITERATURE</a:t>
            </a:r>
            <a:r>
              <a:rPr sz="3350"/>
              <a:t>	SURVEY</a:t>
            </a:r>
            <a:r>
              <a:rPr sz="3350" spc="25"/>
              <a:t> </a:t>
            </a:r>
            <a:r>
              <a:rPr sz="3350" spc="130"/>
              <a:t>CONT....</a:t>
            </a:r>
            <a:endParaRPr sz="3350"/>
          </a:p>
        </p:txBody>
      </p:sp>
      <p:sp>
        <p:nvSpPr>
          <p:cNvPr id="12" name="object 12"/>
          <p:cNvSpPr txBox="1">
            <a:spLocks noGrp="1"/>
          </p:cNvSpPr>
          <p:nvPr>
            <p:ph type="ftr" sz="quarter" idx="5"/>
          </p:nvPr>
        </p:nvSpPr>
        <p:spPr>
          <a:xfrm>
            <a:off x="5407437" y="6330159"/>
            <a:ext cx="1445259" cy="218008"/>
          </a:xfrm>
          <a:prstGeom prst="rect">
            <a:avLst/>
          </a:prstGeom>
        </p:spPr>
        <p:txBody>
          <a:bodyPr vert="horz" wrap="square" lIns="0" tIns="0" rIns="0" bIns="0" rtlCol="0">
            <a:spAutoFit/>
          </a:bodyPr>
          <a:lstStyle/>
          <a:p>
            <a:pPr marL="12700">
              <a:lnSpc>
                <a:spcPts val="1689"/>
              </a:lnSpc>
            </a:pPr>
            <a:r>
              <a:rPr spc="-10"/>
              <a:t>Dept</a:t>
            </a:r>
            <a:r>
              <a:rPr spc="-50"/>
              <a:t> </a:t>
            </a:r>
            <a:r>
              <a:rPr spc="-30">
                <a:solidFill>
                  <a:srgbClr val="7E7E7E"/>
                </a:solidFill>
              </a:rPr>
              <a:t>of</a:t>
            </a:r>
            <a:r>
              <a:rPr spc="-20">
                <a:solidFill>
                  <a:srgbClr val="7E7E7E"/>
                </a:solidFill>
              </a:rPr>
              <a:t> </a:t>
            </a:r>
            <a:r>
              <a:rPr spc="-85"/>
              <a:t>AIML</a:t>
            </a:r>
          </a:p>
        </p:txBody>
      </p:sp>
      <p:sp>
        <p:nvSpPr>
          <p:cNvPr id="13" name="object 13"/>
          <p:cNvSpPr txBox="1">
            <a:spLocks noGrp="1"/>
          </p:cNvSpPr>
          <p:nvPr>
            <p:ph type="dt" sz="half" idx="6"/>
          </p:nvPr>
        </p:nvSpPr>
        <p:spPr>
          <a:prstGeom prst="rect">
            <a:avLst/>
          </a:prstGeom>
        </p:spPr>
        <p:txBody>
          <a:bodyPr vert="horz" wrap="square" lIns="0" tIns="0" rIns="0" bIns="0" rtlCol="0">
            <a:spAutoFit/>
          </a:bodyPr>
          <a:lstStyle/>
          <a:p>
            <a:pPr marL="12700">
              <a:lnSpc>
                <a:spcPts val="1635"/>
              </a:lnSpc>
            </a:pPr>
            <a:r>
              <a:t>28-03-</a:t>
            </a:r>
            <a:r>
              <a:rPr spc="-20"/>
              <a:t>2025</a:t>
            </a:r>
          </a:p>
        </p:txBody>
      </p:sp>
      <p:sp>
        <p:nvSpPr>
          <p:cNvPr id="14" name="object 14"/>
          <p:cNvSpPr txBox="1">
            <a:spLocks noGrp="1"/>
          </p:cNvSpPr>
          <p:nvPr>
            <p:ph type="sldNum" sz="quarter" idx="7"/>
          </p:nvPr>
        </p:nvSpPr>
        <p:spPr>
          <a:prstGeom prst="rect">
            <a:avLst/>
          </a:prstGeom>
        </p:spPr>
        <p:txBody>
          <a:bodyPr vert="horz" wrap="square" lIns="0" tIns="0" rIns="0" bIns="0" rtlCol="0">
            <a:spAutoFit/>
          </a:bodyPr>
          <a:lstStyle/>
          <a:p>
            <a:pPr marL="12700">
              <a:lnSpc>
                <a:spcPts val="1600"/>
              </a:lnSpc>
            </a:pPr>
            <a:fld id="{81D60167-4931-47E6-BA6A-407CBD079E47}" type="slidenum">
              <a:rPr spc="-25" dirty="0"/>
              <a:t>6</a:t>
            </a:fld>
            <a:endParaRPr spc="-25"/>
          </a:p>
        </p:txBody>
      </p:sp>
      <p:graphicFrame>
        <p:nvGraphicFramePr>
          <p:cNvPr id="15" name="Table 14">
            <a:extLst>
              <a:ext uri="{FF2B5EF4-FFF2-40B4-BE49-F238E27FC236}">
                <a16:creationId xmlns:a16="http://schemas.microsoft.com/office/drawing/2014/main" id="{A8AB7B19-BCE9-51E5-94EB-BB14E6115F1F}"/>
              </a:ext>
            </a:extLst>
          </p:cNvPr>
          <p:cNvGraphicFramePr>
            <a:graphicFrameLocks noGrp="1"/>
          </p:cNvGraphicFramePr>
          <p:nvPr>
            <p:extLst>
              <p:ext uri="{D42A27DB-BD31-4B8C-83A1-F6EECF244321}">
                <p14:modId xmlns:p14="http://schemas.microsoft.com/office/powerpoint/2010/main" val="3384766583"/>
              </p:ext>
            </p:extLst>
          </p:nvPr>
        </p:nvGraphicFramePr>
        <p:xfrm>
          <a:off x="838200" y="810186"/>
          <a:ext cx="10712677" cy="5403075"/>
        </p:xfrm>
        <a:graphic>
          <a:graphicData uri="http://schemas.openxmlformats.org/drawingml/2006/table">
            <a:tbl>
              <a:tblPr firstRow="1" bandRow="1">
                <a:tableStyleId>{5C22544A-7EE6-4342-B048-85BDC9FD1C3A}</a:tableStyleId>
              </a:tblPr>
              <a:tblGrid>
                <a:gridCol w="1066801">
                  <a:extLst>
                    <a:ext uri="{9D8B030D-6E8A-4147-A177-3AD203B41FA5}">
                      <a16:colId xmlns:a16="http://schemas.microsoft.com/office/drawing/2014/main" val="4021042657"/>
                    </a:ext>
                  </a:extLst>
                </a:gridCol>
                <a:gridCol w="1828800">
                  <a:extLst>
                    <a:ext uri="{9D8B030D-6E8A-4147-A177-3AD203B41FA5}">
                      <a16:colId xmlns:a16="http://schemas.microsoft.com/office/drawing/2014/main" val="1025623144"/>
                    </a:ext>
                  </a:extLst>
                </a:gridCol>
                <a:gridCol w="2590800">
                  <a:extLst>
                    <a:ext uri="{9D8B030D-6E8A-4147-A177-3AD203B41FA5}">
                      <a16:colId xmlns:a16="http://schemas.microsoft.com/office/drawing/2014/main" val="2148004004"/>
                    </a:ext>
                  </a:extLst>
                </a:gridCol>
                <a:gridCol w="2057400">
                  <a:extLst>
                    <a:ext uri="{9D8B030D-6E8A-4147-A177-3AD203B41FA5}">
                      <a16:colId xmlns:a16="http://schemas.microsoft.com/office/drawing/2014/main" val="961945800"/>
                    </a:ext>
                  </a:extLst>
                </a:gridCol>
                <a:gridCol w="1828800">
                  <a:extLst>
                    <a:ext uri="{9D8B030D-6E8A-4147-A177-3AD203B41FA5}">
                      <a16:colId xmlns:a16="http://schemas.microsoft.com/office/drawing/2014/main" val="3636494509"/>
                    </a:ext>
                  </a:extLst>
                </a:gridCol>
                <a:gridCol w="1340076">
                  <a:extLst>
                    <a:ext uri="{9D8B030D-6E8A-4147-A177-3AD203B41FA5}">
                      <a16:colId xmlns:a16="http://schemas.microsoft.com/office/drawing/2014/main" val="2053066998"/>
                    </a:ext>
                  </a:extLst>
                </a:gridCol>
              </a:tblGrid>
              <a:tr h="649528">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S.No</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93980">
                        <a:lnSpc>
                          <a:spcPct val="100000"/>
                        </a:lnSpc>
                      </a:pPr>
                      <a:r>
                        <a:rPr sz="1800" b="1">
                          <a:solidFill>
                            <a:schemeClr val="tx1"/>
                          </a:solidFill>
                          <a:latin typeface="Times New Roman"/>
                          <a:cs typeface="Times New Roman"/>
                        </a:rPr>
                        <a:t>Paper</a:t>
                      </a:r>
                      <a:r>
                        <a:rPr sz="1800" b="1" spc="-75">
                          <a:solidFill>
                            <a:schemeClr val="tx1"/>
                          </a:solidFill>
                          <a:latin typeface="Times New Roman"/>
                          <a:cs typeface="Times New Roman"/>
                        </a:rPr>
                        <a:t> </a:t>
                      </a:r>
                      <a:r>
                        <a:rPr sz="1800" b="1" spc="-10">
                          <a:solidFill>
                            <a:schemeClr val="tx1"/>
                          </a:solidFill>
                          <a:latin typeface="Times New Roman"/>
                          <a:cs typeface="Times New Roman"/>
                        </a:rPr>
                        <a:t>Title</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286385">
                        <a:lnSpc>
                          <a:spcPct val="100000"/>
                        </a:lnSpc>
                      </a:pPr>
                      <a:r>
                        <a:rPr sz="1800" b="1" spc="-10">
                          <a:solidFill>
                            <a:schemeClr val="tx1"/>
                          </a:solidFill>
                          <a:latin typeface="Times New Roman"/>
                          <a:cs typeface="Times New Roman"/>
                        </a:rPr>
                        <a:t>Methodology</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361315">
                        <a:lnSpc>
                          <a:spcPct val="100000"/>
                        </a:lnSpc>
                      </a:pPr>
                      <a:r>
                        <a:rPr sz="1800" b="1" spc="-10">
                          <a:solidFill>
                            <a:schemeClr val="tx1"/>
                          </a:solidFill>
                          <a:latin typeface="Times New Roman"/>
                          <a:cs typeface="Times New Roman"/>
                        </a:rPr>
                        <a:t>Limitations</a:t>
                      </a:r>
                      <a:endParaRPr sz="1800">
                        <a:solidFill>
                          <a:schemeClr val="tx1"/>
                        </a:solidFill>
                        <a:latin typeface="Times New Roman"/>
                        <a:cs typeface="Times New Roman"/>
                      </a:endParaRPr>
                    </a:p>
                  </a:txBody>
                  <a:tcPr marL="0" marR="0" marT="5715" marB="0"/>
                </a:tc>
                <a:tc>
                  <a:txBody>
                    <a:bodyPr/>
                    <a:lstStyle/>
                    <a:p>
                      <a:pPr marL="261620" marR="85725" indent="-169545" algn="ctr">
                        <a:lnSpc>
                          <a:spcPts val="1380"/>
                        </a:lnSpc>
                        <a:spcBef>
                          <a:spcPts val="840"/>
                        </a:spcBef>
                      </a:pPr>
                      <a:r>
                        <a:rPr lang="en-IN" sz="1800" b="1" spc="-10">
                          <a:solidFill>
                            <a:schemeClr val="tx1"/>
                          </a:solidFill>
                          <a:latin typeface="Times New Roman"/>
                          <a:cs typeface="Times New Roman"/>
                        </a:rPr>
                        <a:t>   </a:t>
                      </a:r>
                      <a:r>
                        <a:rPr sz="1800" b="1" spc="-10">
                          <a:solidFill>
                            <a:schemeClr val="tx1"/>
                          </a:solidFill>
                          <a:latin typeface="Times New Roman"/>
                          <a:cs typeface="Times New Roman"/>
                        </a:rPr>
                        <a:t>Research</a:t>
                      </a:r>
                      <a:r>
                        <a:rPr sz="1800" b="1" spc="-5">
                          <a:solidFill>
                            <a:schemeClr val="tx1"/>
                          </a:solidFill>
                          <a:latin typeface="Times New Roman"/>
                          <a:cs typeface="Times New Roman"/>
                        </a:rPr>
                        <a:t> </a:t>
                      </a:r>
                      <a:r>
                        <a:rPr sz="1800" b="1" spc="-20">
                          <a:solidFill>
                            <a:schemeClr val="tx1"/>
                          </a:solidFill>
                          <a:latin typeface="Times New Roman"/>
                          <a:cs typeface="Times New Roman"/>
                        </a:rPr>
                        <a:t>Gaps </a:t>
                      </a:r>
                      <a:r>
                        <a:rPr sz="1800" b="1" spc="-10">
                          <a:solidFill>
                            <a:schemeClr val="tx1"/>
                          </a:solidFill>
                          <a:latin typeface="Times New Roman"/>
                          <a:cs typeface="Times New Roman"/>
                        </a:rPr>
                        <a:t>Identified</a:t>
                      </a:r>
                      <a:endParaRPr sz="1800">
                        <a:solidFill>
                          <a:schemeClr val="tx1"/>
                        </a:solidFill>
                        <a:latin typeface="Times New Roman"/>
                        <a:cs typeface="Times New Roman"/>
                      </a:endParaRPr>
                    </a:p>
                  </a:txBody>
                  <a:tcPr marL="0" marR="0" marT="106680" marB="0"/>
                </a:tc>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Year</a:t>
                      </a:r>
                      <a:endParaRPr sz="1800">
                        <a:solidFill>
                          <a:schemeClr val="tx1"/>
                        </a:solidFill>
                        <a:latin typeface="Times New Roman"/>
                        <a:cs typeface="Times New Roman"/>
                      </a:endParaRPr>
                    </a:p>
                  </a:txBody>
                  <a:tcPr marL="0" marR="0" marT="5715" marB="0"/>
                </a:tc>
                <a:extLst>
                  <a:ext uri="{0D108BD9-81ED-4DB2-BD59-A6C34878D82A}">
                    <a16:rowId xmlns:a16="http://schemas.microsoft.com/office/drawing/2014/main" val="3682747611"/>
                  </a:ext>
                </a:extLst>
              </a:tr>
              <a:tr h="4753547">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395"/>
                        </a:spcBef>
                      </a:pPr>
                      <a:endParaRPr sz="1800">
                        <a:latin typeface="Times New Roman"/>
                        <a:cs typeface="Times New Roman"/>
                      </a:endParaRPr>
                    </a:p>
                    <a:p>
                      <a:pPr algn="ctr">
                        <a:lnSpc>
                          <a:spcPct val="100000"/>
                        </a:lnSpc>
                      </a:pPr>
                      <a:r>
                        <a:rPr sz="1800" spc="-50">
                          <a:latin typeface="Times New Roman"/>
                          <a:cs typeface="Times New Roman"/>
                        </a:rPr>
                        <a:t>2</a:t>
                      </a:r>
                      <a:endParaRPr sz="1800">
                        <a:latin typeface="Times New Roman"/>
                        <a:cs typeface="Times New Roman"/>
                      </a:endParaRPr>
                    </a:p>
                  </a:txBody>
                  <a:tcPr marL="0" marR="0" marT="0" marB="0"/>
                </a:tc>
                <a:tc>
                  <a:txBody>
                    <a:bodyPr/>
                    <a:lstStyle/>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ts val="1380"/>
                        </a:lnSpc>
                      </a:pPr>
                      <a:r>
                        <a:rPr sz="1800" spc="-10">
                          <a:latin typeface="Times New Roman"/>
                          <a:cs typeface="Times New Roman"/>
                        </a:rPr>
                        <a:t>Hybrid-</a:t>
                      </a:r>
                      <a:endParaRPr sz="1800">
                        <a:latin typeface="Times New Roman"/>
                        <a:cs typeface="Times New Roman"/>
                      </a:endParaRPr>
                    </a:p>
                    <a:p>
                      <a:pPr marL="67945" marR="89535">
                        <a:lnSpc>
                          <a:spcPct val="110200"/>
                        </a:lnSpc>
                        <a:spcBef>
                          <a:spcPts val="10"/>
                        </a:spcBef>
                      </a:pPr>
                      <a:r>
                        <a:rPr sz="1800" spc="-10">
                          <a:latin typeface="Times New Roman"/>
                          <a:cs typeface="Times New Roman"/>
                        </a:rPr>
                        <a:t>Recursive- Refinement </a:t>
                      </a:r>
                      <a:r>
                        <a:rPr sz="1800">
                          <a:latin typeface="Times New Roman"/>
                          <a:cs typeface="Times New Roman"/>
                        </a:rPr>
                        <a:t>Network</a:t>
                      </a:r>
                      <a:r>
                        <a:rPr sz="1800" spc="-60">
                          <a:latin typeface="Times New Roman"/>
                          <a:cs typeface="Times New Roman"/>
                        </a:rPr>
                        <a:t> </a:t>
                      </a:r>
                      <a:r>
                        <a:rPr sz="1800" spc="-25">
                          <a:latin typeface="Times New Roman"/>
                          <a:cs typeface="Times New Roman"/>
                        </a:rPr>
                        <a:t>for </a:t>
                      </a:r>
                      <a:r>
                        <a:rPr sz="1800" spc="-10">
                          <a:latin typeface="Times New Roman"/>
                          <a:cs typeface="Times New Roman"/>
                        </a:rPr>
                        <a:t>Camouflage </a:t>
                      </a:r>
                      <a:r>
                        <a:rPr sz="1800">
                          <a:latin typeface="Times New Roman"/>
                          <a:cs typeface="Times New Roman"/>
                        </a:rPr>
                        <a:t>d </a:t>
                      </a:r>
                      <a:r>
                        <a:rPr sz="1800" spc="-10">
                          <a:latin typeface="Times New Roman"/>
                          <a:cs typeface="Times New Roman"/>
                        </a:rPr>
                        <a:t>Object</a:t>
                      </a:r>
                      <a:endParaRPr sz="1800">
                        <a:latin typeface="Times New Roman"/>
                        <a:cs typeface="Times New Roman"/>
                      </a:endParaRPr>
                    </a:p>
                    <a:p>
                      <a:pPr marL="67945">
                        <a:lnSpc>
                          <a:spcPct val="100000"/>
                        </a:lnSpc>
                        <a:spcBef>
                          <a:spcPts val="140"/>
                        </a:spcBef>
                      </a:pPr>
                      <a:r>
                        <a:rPr sz="1800" spc="-10">
                          <a:latin typeface="Times New Roman"/>
                          <a:cs typeface="Times New Roman"/>
                        </a:rPr>
                        <a:t>Detection</a:t>
                      </a:r>
                      <a:endParaRPr sz="1800">
                        <a:latin typeface="Times New Roman"/>
                        <a:cs typeface="Times New Roman"/>
                      </a:endParaRPr>
                    </a:p>
                  </a:txBody>
                  <a:tcPr marL="0" marR="0" marT="0" marB="0"/>
                </a:tc>
                <a:tc>
                  <a:txBody>
                    <a:bodyPr/>
                    <a:lstStyle/>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a:lnSpc>
                          <a:spcPts val="1380"/>
                        </a:lnSpc>
                      </a:pPr>
                      <a:r>
                        <a:rPr sz="1800" err="1">
                          <a:latin typeface="Times New Roman"/>
                          <a:cs typeface="Times New Roman"/>
                        </a:rPr>
                        <a:t>HRRNet</a:t>
                      </a:r>
                      <a:r>
                        <a:rPr sz="1800" spc="-35">
                          <a:latin typeface="Times New Roman"/>
                          <a:cs typeface="Times New Roman"/>
                        </a:rPr>
                        <a:t> </a:t>
                      </a:r>
                      <a:r>
                        <a:rPr sz="1800" spc="-10">
                          <a:latin typeface="Times New Roman"/>
                          <a:cs typeface="Times New Roman"/>
                        </a:rPr>
                        <a:t>combines</a:t>
                      </a:r>
                      <a:endParaRPr sz="1800">
                        <a:latin typeface="Times New Roman"/>
                        <a:cs typeface="Times New Roman"/>
                      </a:endParaRPr>
                    </a:p>
                    <a:p>
                      <a:pPr marL="68580" marR="163830">
                        <a:lnSpc>
                          <a:spcPct val="110000"/>
                        </a:lnSpc>
                        <a:spcBef>
                          <a:spcPts val="10"/>
                        </a:spcBef>
                      </a:pPr>
                      <a:r>
                        <a:rPr sz="1800">
                          <a:latin typeface="Times New Roman"/>
                          <a:cs typeface="Times New Roman"/>
                        </a:rPr>
                        <a:t>CNN–</a:t>
                      </a:r>
                      <a:r>
                        <a:rPr sz="1800" spc="-35">
                          <a:latin typeface="Times New Roman"/>
                          <a:cs typeface="Times New Roman"/>
                        </a:rPr>
                        <a:t> </a:t>
                      </a:r>
                      <a:r>
                        <a:rPr sz="1800" spc="-10">
                          <a:latin typeface="Times New Roman"/>
                          <a:cs typeface="Times New Roman"/>
                        </a:rPr>
                        <a:t>Transformer </a:t>
                      </a:r>
                      <a:r>
                        <a:rPr sz="1800">
                          <a:latin typeface="Times New Roman"/>
                          <a:cs typeface="Times New Roman"/>
                        </a:rPr>
                        <a:t>hybrid</a:t>
                      </a:r>
                      <a:r>
                        <a:rPr sz="1800" spc="-35">
                          <a:latin typeface="Times New Roman"/>
                          <a:cs typeface="Times New Roman"/>
                        </a:rPr>
                        <a:t> </a:t>
                      </a:r>
                      <a:r>
                        <a:rPr sz="1800" spc="-10">
                          <a:latin typeface="Times New Roman"/>
                          <a:cs typeface="Times New Roman"/>
                        </a:rPr>
                        <a:t>encoding </a:t>
                      </a:r>
                      <a:r>
                        <a:rPr sz="1800">
                          <a:latin typeface="Times New Roman"/>
                          <a:cs typeface="Times New Roman"/>
                        </a:rPr>
                        <a:t>with</a:t>
                      </a:r>
                      <a:r>
                        <a:rPr sz="1800" spc="-25">
                          <a:latin typeface="Times New Roman"/>
                          <a:cs typeface="Times New Roman"/>
                        </a:rPr>
                        <a:t> </a:t>
                      </a:r>
                      <a:r>
                        <a:rPr sz="1800" spc="-10">
                          <a:latin typeface="Times New Roman"/>
                          <a:cs typeface="Times New Roman"/>
                        </a:rPr>
                        <a:t>recursive</a:t>
                      </a:r>
                      <a:endParaRPr sz="1800">
                        <a:latin typeface="Times New Roman"/>
                        <a:cs typeface="Times New Roman"/>
                      </a:endParaRPr>
                    </a:p>
                    <a:p>
                      <a:pPr marL="68580" marR="173355">
                        <a:lnSpc>
                          <a:spcPts val="1600"/>
                        </a:lnSpc>
                        <a:spcBef>
                          <a:spcPts val="65"/>
                        </a:spcBef>
                      </a:pPr>
                      <a:r>
                        <a:rPr sz="1800">
                          <a:latin typeface="Times New Roman"/>
                          <a:cs typeface="Times New Roman"/>
                        </a:rPr>
                        <a:t>decoder</a:t>
                      </a:r>
                      <a:r>
                        <a:rPr sz="1800" spc="-50">
                          <a:latin typeface="Times New Roman"/>
                          <a:cs typeface="Times New Roman"/>
                        </a:rPr>
                        <a:t> </a:t>
                      </a:r>
                      <a:r>
                        <a:rPr sz="1800" spc="-10">
                          <a:latin typeface="Times New Roman"/>
                          <a:cs typeface="Times New Roman"/>
                        </a:rPr>
                        <a:t>refinement </a:t>
                      </a:r>
                      <a:r>
                        <a:rPr sz="1800">
                          <a:latin typeface="Times New Roman"/>
                          <a:cs typeface="Times New Roman"/>
                        </a:rPr>
                        <a:t>and</a:t>
                      </a:r>
                      <a:r>
                        <a:rPr sz="1800" spc="-15">
                          <a:latin typeface="Times New Roman"/>
                          <a:cs typeface="Times New Roman"/>
                        </a:rPr>
                        <a:t> </a:t>
                      </a:r>
                      <a:r>
                        <a:rPr sz="1800" spc="-10">
                          <a:latin typeface="Times New Roman"/>
                          <a:cs typeface="Times New Roman"/>
                        </a:rPr>
                        <a:t>foreground</a:t>
                      </a:r>
                      <a:r>
                        <a:rPr lang="en-IN" sz="1800" spc="-10">
                          <a:latin typeface="Times New Roman"/>
                          <a:cs typeface="Times New Roman"/>
                        </a:rPr>
                        <a:t> </a:t>
                      </a:r>
                      <a:r>
                        <a:rPr sz="1800" spc="-10">
                          <a:latin typeface="Times New Roman"/>
                          <a:cs typeface="Times New Roman"/>
                        </a:rPr>
                        <a:t>background</a:t>
                      </a:r>
                      <a:endParaRPr sz="1800">
                        <a:latin typeface="Times New Roman"/>
                        <a:cs typeface="Times New Roman"/>
                      </a:endParaRPr>
                    </a:p>
                    <a:p>
                      <a:pPr marL="68580" marR="533400">
                        <a:lnSpc>
                          <a:spcPct val="110000"/>
                        </a:lnSpc>
                      </a:pPr>
                      <a:r>
                        <a:rPr sz="1800">
                          <a:latin typeface="Times New Roman"/>
                          <a:cs typeface="Times New Roman"/>
                        </a:rPr>
                        <a:t>selection</a:t>
                      </a:r>
                      <a:r>
                        <a:rPr sz="1800" spc="-55">
                          <a:latin typeface="Times New Roman"/>
                          <a:cs typeface="Times New Roman"/>
                        </a:rPr>
                        <a:t> </a:t>
                      </a:r>
                      <a:r>
                        <a:rPr sz="1800" spc="-25">
                          <a:latin typeface="Times New Roman"/>
                          <a:cs typeface="Times New Roman"/>
                        </a:rPr>
                        <a:t>to </a:t>
                      </a:r>
                      <a:r>
                        <a:rPr sz="1800" spc="-10">
                          <a:latin typeface="Times New Roman"/>
                          <a:cs typeface="Times New Roman"/>
                        </a:rPr>
                        <a:t>progressively</a:t>
                      </a:r>
                      <a:endParaRPr sz="1800">
                        <a:latin typeface="Times New Roman"/>
                        <a:cs typeface="Times New Roman"/>
                      </a:endParaRPr>
                    </a:p>
                    <a:p>
                      <a:pPr marL="68580" marR="106045">
                        <a:lnSpc>
                          <a:spcPct val="110000"/>
                        </a:lnSpc>
                        <a:spcBef>
                          <a:spcPts val="15"/>
                        </a:spcBef>
                      </a:pPr>
                      <a:r>
                        <a:rPr sz="1800">
                          <a:latin typeface="Times New Roman"/>
                          <a:cs typeface="Times New Roman"/>
                        </a:rPr>
                        <a:t>enhance</a:t>
                      </a:r>
                      <a:r>
                        <a:rPr sz="1800" spc="-50">
                          <a:latin typeface="Times New Roman"/>
                          <a:cs typeface="Times New Roman"/>
                        </a:rPr>
                        <a:t> </a:t>
                      </a:r>
                      <a:r>
                        <a:rPr sz="1800" spc="-10">
                          <a:latin typeface="Times New Roman"/>
                          <a:cs typeface="Times New Roman"/>
                        </a:rPr>
                        <a:t>camouflage segmentation.</a:t>
                      </a:r>
                      <a:endParaRPr sz="1800">
                        <a:latin typeface="Times New Roman"/>
                        <a:cs typeface="Times New Roman"/>
                      </a:endParaRPr>
                    </a:p>
                  </a:txBody>
                  <a:tcPr marL="0" marR="0" marT="0" marB="0"/>
                </a:tc>
                <a:tc>
                  <a:txBody>
                    <a:bodyPr/>
                    <a:lstStyle/>
                    <a:p>
                      <a:pPr marL="66675">
                        <a:lnSpc>
                          <a:spcPts val="1380"/>
                        </a:lnSpc>
                      </a:pPr>
                      <a:endParaRPr lang="en-IN" sz="1800">
                        <a:latin typeface="Times New Roman"/>
                        <a:cs typeface="Times New Roman"/>
                      </a:endParaRPr>
                    </a:p>
                    <a:p>
                      <a:pPr marL="66675">
                        <a:lnSpc>
                          <a:spcPts val="1380"/>
                        </a:lnSpc>
                      </a:pPr>
                      <a:endParaRPr lang="en-IN" sz="1800">
                        <a:latin typeface="Times New Roman"/>
                        <a:cs typeface="Times New Roman"/>
                      </a:endParaRPr>
                    </a:p>
                    <a:p>
                      <a:pPr marL="66675">
                        <a:lnSpc>
                          <a:spcPts val="1380"/>
                        </a:lnSpc>
                      </a:pPr>
                      <a:r>
                        <a:rPr sz="1800">
                          <a:latin typeface="Times New Roman"/>
                          <a:cs typeface="Times New Roman"/>
                        </a:rPr>
                        <a:t>High </a:t>
                      </a:r>
                      <a:r>
                        <a:rPr sz="1800" spc="-10">
                          <a:latin typeface="Times New Roman"/>
                          <a:cs typeface="Times New Roman"/>
                        </a:rPr>
                        <a:t>architectural</a:t>
                      </a:r>
                      <a:endParaRPr sz="1800">
                        <a:latin typeface="Times New Roman"/>
                        <a:cs typeface="Times New Roman"/>
                      </a:endParaRPr>
                    </a:p>
                    <a:p>
                      <a:pPr marL="66675" marR="64135">
                        <a:lnSpc>
                          <a:spcPct val="110000"/>
                        </a:lnSpc>
                        <a:spcBef>
                          <a:spcPts val="10"/>
                        </a:spcBef>
                      </a:pPr>
                      <a:r>
                        <a:rPr sz="1800">
                          <a:latin typeface="Times New Roman"/>
                          <a:cs typeface="Times New Roman"/>
                        </a:rPr>
                        <a:t>complexity;</a:t>
                      </a:r>
                      <a:r>
                        <a:rPr sz="1800" spc="-70">
                          <a:latin typeface="Times New Roman"/>
                          <a:cs typeface="Times New Roman"/>
                        </a:rPr>
                        <a:t> </a:t>
                      </a:r>
                      <a:r>
                        <a:rPr sz="1800" spc="-10">
                          <a:latin typeface="Times New Roman"/>
                          <a:cs typeface="Times New Roman"/>
                        </a:rPr>
                        <a:t>increased </a:t>
                      </a:r>
                      <a:r>
                        <a:rPr sz="1800">
                          <a:latin typeface="Times New Roman"/>
                          <a:cs typeface="Times New Roman"/>
                        </a:rPr>
                        <a:t>inference</a:t>
                      </a:r>
                      <a:r>
                        <a:rPr sz="1800" spc="-30">
                          <a:latin typeface="Times New Roman"/>
                          <a:cs typeface="Times New Roman"/>
                        </a:rPr>
                        <a:t> </a:t>
                      </a:r>
                      <a:r>
                        <a:rPr sz="1800">
                          <a:latin typeface="Times New Roman"/>
                          <a:cs typeface="Times New Roman"/>
                        </a:rPr>
                        <a:t>cost</a:t>
                      </a:r>
                      <a:r>
                        <a:rPr sz="1800" spc="-25">
                          <a:latin typeface="Times New Roman"/>
                          <a:cs typeface="Times New Roman"/>
                        </a:rPr>
                        <a:t> </a:t>
                      </a:r>
                      <a:r>
                        <a:rPr sz="1800">
                          <a:latin typeface="Times New Roman"/>
                          <a:cs typeface="Times New Roman"/>
                        </a:rPr>
                        <a:t>due</a:t>
                      </a:r>
                      <a:r>
                        <a:rPr sz="1800" spc="-25">
                          <a:latin typeface="Times New Roman"/>
                          <a:cs typeface="Times New Roman"/>
                        </a:rPr>
                        <a:t> to </a:t>
                      </a:r>
                      <a:r>
                        <a:rPr sz="1800">
                          <a:latin typeface="Times New Roman"/>
                          <a:cs typeface="Times New Roman"/>
                        </a:rPr>
                        <a:t>recursive</a:t>
                      </a:r>
                      <a:r>
                        <a:rPr sz="1800" spc="-55">
                          <a:latin typeface="Times New Roman"/>
                          <a:cs typeface="Times New Roman"/>
                        </a:rPr>
                        <a:t> </a:t>
                      </a:r>
                      <a:r>
                        <a:rPr sz="1800" spc="-10">
                          <a:latin typeface="Times New Roman"/>
                          <a:cs typeface="Times New Roman"/>
                        </a:rPr>
                        <a:t>refinement; </a:t>
                      </a:r>
                      <a:r>
                        <a:rPr sz="1800">
                          <a:latin typeface="Times New Roman"/>
                          <a:cs typeface="Times New Roman"/>
                        </a:rPr>
                        <a:t>evaluated</a:t>
                      </a:r>
                      <a:r>
                        <a:rPr sz="1800" spc="-45">
                          <a:latin typeface="Times New Roman"/>
                          <a:cs typeface="Times New Roman"/>
                        </a:rPr>
                        <a:t> </a:t>
                      </a:r>
                      <a:r>
                        <a:rPr sz="1800">
                          <a:latin typeface="Times New Roman"/>
                          <a:cs typeface="Times New Roman"/>
                        </a:rPr>
                        <a:t>mainly</a:t>
                      </a:r>
                      <a:r>
                        <a:rPr sz="1800" spc="-45">
                          <a:latin typeface="Times New Roman"/>
                          <a:cs typeface="Times New Roman"/>
                        </a:rPr>
                        <a:t> </a:t>
                      </a:r>
                      <a:r>
                        <a:rPr sz="1800" spc="-25">
                          <a:latin typeface="Times New Roman"/>
                          <a:cs typeface="Times New Roman"/>
                        </a:rPr>
                        <a:t>on</a:t>
                      </a:r>
                      <a:endParaRPr sz="1800">
                        <a:latin typeface="Times New Roman"/>
                        <a:cs typeface="Times New Roman"/>
                      </a:endParaRPr>
                    </a:p>
                    <a:p>
                      <a:pPr marL="66675">
                        <a:lnSpc>
                          <a:spcPct val="100000"/>
                        </a:lnSpc>
                        <a:spcBef>
                          <a:spcPts val="155"/>
                        </a:spcBef>
                      </a:pPr>
                      <a:r>
                        <a:rPr sz="1800">
                          <a:latin typeface="Times New Roman"/>
                          <a:cs typeface="Times New Roman"/>
                        </a:rPr>
                        <a:t>static</a:t>
                      </a:r>
                      <a:r>
                        <a:rPr sz="1800" spc="-30">
                          <a:latin typeface="Times New Roman"/>
                          <a:cs typeface="Times New Roman"/>
                        </a:rPr>
                        <a:t> </a:t>
                      </a:r>
                      <a:r>
                        <a:rPr sz="1800" spc="-10">
                          <a:latin typeface="Times New Roman"/>
                          <a:cs typeface="Times New Roman"/>
                        </a:rPr>
                        <a:t>images;</a:t>
                      </a:r>
                      <a:endParaRPr sz="1800">
                        <a:latin typeface="Times New Roman"/>
                        <a:cs typeface="Times New Roman"/>
                      </a:endParaRPr>
                    </a:p>
                    <a:p>
                      <a:pPr marL="66675" marR="241300">
                        <a:lnSpc>
                          <a:spcPct val="110000"/>
                        </a:lnSpc>
                      </a:pPr>
                      <a:r>
                        <a:rPr sz="1800">
                          <a:latin typeface="Times New Roman"/>
                          <a:cs typeface="Times New Roman"/>
                        </a:rPr>
                        <a:t>robustness</a:t>
                      </a:r>
                      <a:r>
                        <a:rPr sz="1800" spc="-60">
                          <a:latin typeface="Times New Roman"/>
                          <a:cs typeface="Times New Roman"/>
                        </a:rPr>
                        <a:t> </a:t>
                      </a:r>
                      <a:r>
                        <a:rPr sz="1800" spc="-10">
                          <a:latin typeface="Times New Roman"/>
                          <a:cs typeface="Times New Roman"/>
                        </a:rPr>
                        <a:t>under </a:t>
                      </a:r>
                      <a:r>
                        <a:rPr sz="1800">
                          <a:latin typeface="Times New Roman"/>
                          <a:cs typeface="Times New Roman"/>
                        </a:rPr>
                        <a:t>extreme</a:t>
                      </a:r>
                      <a:r>
                        <a:rPr sz="1800" spc="-55">
                          <a:latin typeface="Times New Roman"/>
                          <a:cs typeface="Times New Roman"/>
                        </a:rPr>
                        <a:t> </a:t>
                      </a:r>
                      <a:r>
                        <a:rPr sz="1800" spc="-10">
                          <a:latin typeface="Times New Roman"/>
                          <a:cs typeface="Times New Roman"/>
                        </a:rPr>
                        <a:t>conditions </a:t>
                      </a:r>
                      <a:r>
                        <a:rPr sz="1800">
                          <a:latin typeface="Times New Roman"/>
                          <a:cs typeface="Times New Roman"/>
                        </a:rPr>
                        <a:t>unclear;</a:t>
                      </a:r>
                      <a:r>
                        <a:rPr sz="1800" spc="-35">
                          <a:latin typeface="Times New Roman"/>
                          <a:cs typeface="Times New Roman"/>
                        </a:rPr>
                        <a:t> </a:t>
                      </a:r>
                      <a:r>
                        <a:rPr sz="1800" spc="-10">
                          <a:latin typeface="Times New Roman"/>
                          <a:cs typeface="Times New Roman"/>
                        </a:rPr>
                        <a:t>real-</a:t>
                      </a:r>
                      <a:r>
                        <a:rPr sz="1800" spc="-20">
                          <a:latin typeface="Times New Roman"/>
                          <a:cs typeface="Times New Roman"/>
                        </a:rPr>
                        <a:t>time</a:t>
                      </a:r>
                      <a:endParaRPr sz="1800">
                        <a:latin typeface="Times New Roman"/>
                        <a:cs typeface="Times New Roman"/>
                      </a:endParaRPr>
                    </a:p>
                    <a:p>
                      <a:pPr marL="66675" marR="545465">
                        <a:lnSpc>
                          <a:spcPct val="110000"/>
                        </a:lnSpc>
                        <a:spcBef>
                          <a:spcPts val="15"/>
                        </a:spcBef>
                      </a:pPr>
                      <a:r>
                        <a:rPr sz="1800">
                          <a:latin typeface="Times New Roman"/>
                          <a:cs typeface="Times New Roman"/>
                        </a:rPr>
                        <a:t>capability</a:t>
                      </a:r>
                      <a:r>
                        <a:rPr sz="1800" spc="-65">
                          <a:latin typeface="Times New Roman"/>
                          <a:cs typeface="Times New Roman"/>
                        </a:rPr>
                        <a:t> </a:t>
                      </a:r>
                      <a:r>
                        <a:rPr sz="1800" spc="-25">
                          <a:latin typeface="Times New Roman"/>
                          <a:cs typeface="Times New Roman"/>
                        </a:rPr>
                        <a:t>not </a:t>
                      </a:r>
                      <a:r>
                        <a:rPr sz="1800" spc="-10">
                          <a:latin typeface="Times New Roman"/>
                          <a:cs typeface="Times New Roman"/>
                        </a:rPr>
                        <a:t>demonstrated.</a:t>
                      </a:r>
                      <a:endParaRPr sz="1800">
                        <a:latin typeface="Times New Roman"/>
                        <a:cs typeface="Times New Roman"/>
                      </a:endParaRPr>
                    </a:p>
                  </a:txBody>
                  <a:tcPr marL="0" marR="0" marT="0" marB="0"/>
                </a:tc>
                <a:tc>
                  <a:txBody>
                    <a:bodyPr/>
                    <a:lstStyle/>
                    <a:p>
                      <a:pPr marL="67945">
                        <a:lnSpc>
                          <a:spcPts val="1380"/>
                        </a:lnSpc>
                      </a:pPr>
                      <a:endParaRPr lang="en-IN" sz="1800">
                        <a:latin typeface="Times New Roman"/>
                        <a:cs typeface="Times New Roman"/>
                      </a:endParaRPr>
                    </a:p>
                    <a:p>
                      <a:pPr marL="67945">
                        <a:lnSpc>
                          <a:spcPct val="100000"/>
                        </a:lnSpc>
                      </a:pPr>
                      <a:endParaRPr lang="en-IN" sz="1800">
                        <a:latin typeface="Times New Roman"/>
                        <a:cs typeface="Times New Roman"/>
                      </a:endParaRPr>
                    </a:p>
                    <a:p>
                      <a:pPr marL="67945">
                        <a:lnSpc>
                          <a:spcPct val="100000"/>
                        </a:lnSpc>
                      </a:pPr>
                      <a:r>
                        <a:rPr sz="1800">
                          <a:latin typeface="Times New Roman"/>
                          <a:cs typeface="Times New Roman"/>
                        </a:rPr>
                        <a:t>Future</a:t>
                      </a:r>
                      <a:r>
                        <a:rPr sz="1800" spc="-35">
                          <a:latin typeface="Times New Roman"/>
                          <a:cs typeface="Times New Roman"/>
                        </a:rPr>
                        <a:t> </a:t>
                      </a:r>
                      <a:r>
                        <a:rPr sz="1800" spc="-20">
                          <a:latin typeface="Times New Roman"/>
                          <a:cs typeface="Times New Roman"/>
                        </a:rPr>
                        <a:t>work</a:t>
                      </a:r>
                      <a:endParaRPr sz="1800">
                        <a:latin typeface="Times New Roman"/>
                        <a:cs typeface="Times New Roman"/>
                      </a:endParaRPr>
                    </a:p>
                    <a:p>
                      <a:pPr marL="67945" marR="120650">
                        <a:lnSpc>
                          <a:spcPct val="100000"/>
                        </a:lnSpc>
                        <a:spcBef>
                          <a:spcPts val="10"/>
                        </a:spcBef>
                      </a:pPr>
                      <a:r>
                        <a:rPr sz="1800">
                          <a:latin typeface="Times New Roman"/>
                          <a:cs typeface="Times New Roman"/>
                        </a:rPr>
                        <a:t>should</a:t>
                      </a:r>
                      <a:r>
                        <a:rPr sz="1800" spc="-20">
                          <a:latin typeface="Times New Roman"/>
                          <a:cs typeface="Times New Roman"/>
                        </a:rPr>
                        <a:t> </a:t>
                      </a:r>
                      <a:r>
                        <a:rPr sz="1800">
                          <a:latin typeface="Times New Roman"/>
                          <a:cs typeface="Times New Roman"/>
                        </a:rPr>
                        <a:t>focus</a:t>
                      </a:r>
                      <a:r>
                        <a:rPr sz="1800" spc="-20">
                          <a:latin typeface="Times New Roman"/>
                          <a:cs typeface="Times New Roman"/>
                        </a:rPr>
                        <a:t> </a:t>
                      </a:r>
                      <a:r>
                        <a:rPr sz="1800" spc="-25">
                          <a:latin typeface="Times New Roman"/>
                          <a:cs typeface="Times New Roman"/>
                        </a:rPr>
                        <a:t>on </a:t>
                      </a:r>
                      <a:r>
                        <a:rPr sz="1800" spc="-10">
                          <a:latin typeface="Times New Roman"/>
                          <a:cs typeface="Times New Roman"/>
                        </a:rPr>
                        <a:t>efficient</a:t>
                      </a:r>
                      <a:r>
                        <a:rPr sz="1800" spc="5">
                          <a:latin typeface="Times New Roman"/>
                          <a:cs typeface="Times New Roman"/>
                        </a:rPr>
                        <a:t> </a:t>
                      </a:r>
                      <a:r>
                        <a:rPr sz="1800" spc="-10">
                          <a:latin typeface="Times New Roman"/>
                          <a:cs typeface="Times New Roman"/>
                        </a:rPr>
                        <a:t>real-</a:t>
                      </a:r>
                      <a:endParaRPr lang="en-IN" sz="1800">
                        <a:latin typeface="Times New Roman"/>
                        <a:cs typeface="Times New Roman"/>
                      </a:endParaRPr>
                    </a:p>
                    <a:p>
                      <a:pPr marL="67945" marR="69850">
                        <a:lnSpc>
                          <a:spcPct val="100000"/>
                        </a:lnSpc>
                        <a:spcBef>
                          <a:spcPts val="75"/>
                        </a:spcBef>
                      </a:pPr>
                      <a:r>
                        <a:rPr lang="en-IN" sz="1800">
                          <a:latin typeface="Times New Roman"/>
                          <a:cs typeface="Times New Roman"/>
                        </a:rPr>
                        <a:t>time</a:t>
                      </a:r>
                      <a:r>
                        <a:rPr lang="en-IN" sz="1800" spc="-30">
                          <a:latin typeface="Times New Roman"/>
                          <a:cs typeface="Times New Roman"/>
                        </a:rPr>
                        <a:t> </a:t>
                      </a:r>
                      <a:r>
                        <a:rPr lang="en-IN" sz="1800" spc="-25">
                          <a:latin typeface="Times New Roman"/>
                          <a:cs typeface="Times New Roman"/>
                        </a:rPr>
                        <a:t>COD </a:t>
                      </a:r>
                      <a:r>
                        <a:rPr lang="en-IN" sz="1800">
                          <a:latin typeface="Times New Roman"/>
                          <a:cs typeface="Times New Roman"/>
                        </a:rPr>
                        <a:t>models,</a:t>
                      </a:r>
                      <a:r>
                        <a:rPr lang="en-IN" sz="1800" spc="-40">
                          <a:latin typeface="Times New Roman"/>
                          <a:cs typeface="Times New Roman"/>
                        </a:rPr>
                        <a:t> </a:t>
                      </a:r>
                      <a:r>
                        <a:rPr lang="en-IN" sz="1800" spc="-10">
                          <a:latin typeface="Times New Roman"/>
                          <a:cs typeface="Times New Roman"/>
                        </a:rPr>
                        <a:t>stronger</a:t>
                      </a:r>
                      <a:endParaRPr lang="en-IN" sz="1800">
                        <a:latin typeface="Times New Roman"/>
                        <a:cs typeface="Times New Roman"/>
                      </a:endParaRPr>
                    </a:p>
                    <a:p>
                      <a:pPr marL="67945" marR="111760">
                        <a:lnSpc>
                          <a:spcPct val="100000"/>
                        </a:lnSpc>
                        <a:spcBef>
                          <a:spcPts val="10"/>
                        </a:spcBef>
                      </a:pPr>
                      <a:r>
                        <a:rPr sz="1800" spc="-10">
                          <a:latin typeface="Times New Roman"/>
                          <a:cs typeface="Times New Roman"/>
                        </a:rPr>
                        <a:t>robustness </a:t>
                      </a:r>
                      <a:r>
                        <a:rPr sz="1800">
                          <a:latin typeface="Times New Roman"/>
                          <a:cs typeface="Times New Roman"/>
                        </a:rPr>
                        <a:t>testing,</a:t>
                      </a:r>
                      <a:r>
                        <a:rPr sz="1800" spc="-40">
                          <a:latin typeface="Times New Roman"/>
                          <a:cs typeface="Times New Roman"/>
                        </a:rPr>
                        <a:t> </a:t>
                      </a:r>
                      <a:r>
                        <a:rPr sz="1800" spc="-25">
                          <a:latin typeface="Times New Roman"/>
                          <a:cs typeface="Times New Roman"/>
                        </a:rPr>
                        <a:t>and </a:t>
                      </a:r>
                      <a:r>
                        <a:rPr sz="1800">
                          <a:latin typeface="Times New Roman"/>
                          <a:cs typeface="Times New Roman"/>
                        </a:rPr>
                        <a:t>extension</a:t>
                      </a:r>
                      <a:r>
                        <a:rPr sz="1800" spc="-55">
                          <a:latin typeface="Times New Roman"/>
                          <a:cs typeface="Times New Roman"/>
                        </a:rPr>
                        <a:t> </a:t>
                      </a:r>
                      <a:r>
                        <a:rPr sz="1800" spc="-25">
                          <a:latin typeface="Times New Roman"/>
                          <a:cs typeface="Times New Roman"/>
                        </a:rPr>
                        <a:t>to </a:t>
                      </a:r>
                      <a:r>
                        <a:rPr sz="1800">
                          <a:latin typeface="Times New Roman"/>
                          <a:cs typeface="Times New Roman"/>
                        </a:rPr>
                        <a:t>video</a:t>
                      </a:r>
                      <a:r>
                        <a:rPr sz="1800" spc="-25">
                          <a:latin typeface="Times New Roman"/>
                          <a:cs typeface="Times New Roman"/>
                        </a:rPr>
                        <a:t> </a:t>
                      </a:r>
                      <a:r>
                        <a:rPr sz="1800">
                          <a:latin typeface="Times New Roman"/>
                          <a:cs typeface="Times New Roman"/>
                        </a:rPr>
                        <a:t>and</a:t>
                      </a:r>
                      <a:r>
                        <a:rPr sz="1800" spc="-20">
                          <a:latin typeface="Times New Roman"/>
                          <a:cs typeface="Times New Roman"/>
                        </a:rPr>
                        <a:t> edge-</a:t>
                      </a:r>
                      <a:endParaRPr sz="1800">
                        <a:latin typeface="Times New Roman"/>
                        <a:cs typeface="Times New Roman"/>
                      </a:endParaRPr>
                    </a:p>
                    <a:p>
                      <a:pPr marL="67945">
                        <a:lnSpc>
                          <a:spcPct val="100000"/>
                        </a:lnSpc>
                        <a:spcBef>
                          <a:spcPts val="90"/>
                        </a:spcBef>
                      </a:pPr>
                      <a:r>
                        <a:rPr sz="1800" spc="-10">
                          <a:latin typeface="Times New Roman"/>
                          <a:cs typeface="Times New Roman"/>
                        </a:rPr>
                        <a:t>device</a:t>
                      </a:r>
                      <a:endParaRPr sz="1800">
                        <a:latin typeface="Times New Roman"/>
                        <a:cs typeface="Times New Roman"/>
                      </a:endParaRPr>
                    </a:p>
                    <a:p>
                      <a:pPr marL="67945" marR="366395">
                        <a:lnSpc>
                          <a:spcPct val="100000"/>
                        </a:lnSpc>
                      </a:pPr>
                      <a:r>
                        <a:rPr sz="1800" spc="-10">
                          <a:latin typeface="Times New Roman"/>
                          <a:cs typeface="Times New Roman"/>
                        </a:rPr>
                        <a:t>deployment scenarios.</a:t>
                      </a: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985"/>
                        </a:spcBef>
                      </a:pPr>
                      <a:endParaRPr sz="1800">
                        <a:latin typeface="Times New Roman"/>
                        <a:cs typeface="Times New Roman"/>
                      </a:endParaRPr>
                    </a:p>
                    <a:p>
                      <a:pPr algn="ctr">
                        <a:lnSpc>
                          <a:spcPct val="100000"/>
                        </a:lnSpc>
                      </a:pPr>
                      <a:r>
                        <a:rPr sz="1800" spc="-20">
                          <a:latin typeface="Times New Roman"/>
                          <a:cs typeface="Times New Roman"/>
                        </a:rPr>
                        <a:t>2025</a:t>
                      </a:r>
                      <a:endParaRPr sz="1800">
                        <a:latin typeface="Times New Roman"/>
                        <a:cs typeface="Times New Roman"/>
                      </a:endParaRPr>
                    </a:p>
                  </a:txBody>
                  <a:tcPr marL="0" marR="0" marT="0" marB="0"/>
                </a:tc>
                <a:extLst>
                  <a:ext uri="{0D108BD9-81ED-4DB2-BD59-A6C34878D82A}">
                    <a16:rowId xmlns:a16="http://schemas.microsoft.com/office/drawing/2014/main" val="73147775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xfrm>
            <a:off x="5548108" y="6348540"/>
            <a:ext cx="1445259" cy="218008"/>
          </a:xfrm>
          <a:prstGeom prst="rect">
            <a:avLst/>
          </a:prstGeom>
        </p:spPr>
        <p:txBody>
          <a:bodyPr vert="horz" wrap="square" lIns="0" tIns="0" rIns="0" bIns="0" rtlCol="0">
            <a:spAutoFit/>
          </a:bodyPr>
          <a:lstStyle/>
          <a:p>
            <a:pPr marL="12700">
              <a:lnSpc>
                <a:spcPts val="1689"/>
              </a:lnSpc>
            </a:pPr>
            <a:r>
              <a:rPr spc="-10">
                <a:solidFill>
                  <a:schemeClr val="tx1"/>
                </a:solidFill>
              </a:rPr>
              <a:t>Dept</a:t>
            </a:r>
            <a:r>
              <a:rPr spc="-50">
                <a:solidFill>
                  <a:schemeClr val="tx1"/>
                </a:solidFill>
              </a:rPr>
              <a:t> </a:t>
            </a:r>
            <a:r>
              <a:rPr spc="-30">
                <a:solidFill>
                  <a:schemeClr val="tx1"/>
                </a:solidFill>
              </a:rPr>
              <a:t>of</a:t>
            </a:r>
            <a:r>
              <a:rPr spc="-20">
                <a:solidFill>
                  <a:schemeClr val="tx1"/>
                </a:solidFill>
              </a:rPr>
              <a:t> </a:t>
            </a:r>
            <a:r>
              <a:rPr spc="-85">
                <a:solidFill>
                  <a:schemeClr val="tx1"/>
                </a:solidFill>
              </a:rPr>
              <a:t>AIML</a:t>
            </a:r>
          </a:p>
        </p:txBody>
      </p:sp>
      <p:sp>
        <p:nvSpPr>
          <p:cNvPr id="5" name="object 5"/>
          <p:cNvSpPr txBox="1">
            <a:spLocks noGrp="1"/>
          </p:cNvSpPr>
          <p:nvPr>
            <p:ph type="dt" sz="half" idx="6"/>
          </p:nvPr>
        </p:nvSpPr>
        <p:spPr>
          <a:xfrm>
            <a:off x="1132803" y="6333334"/>
            <a:ext cx="869314" cy="205184"/>
          </a:xfrm>
          <a:prstGeom prst="rect">
            <a:avLst/>
          </a:prstGeom>
        </p:spPr>
        <p:txBody>
          <a:bodyPr vert="horz" wrap="square" lIns="0" tIns="0" rIns="0" bIns="0" rtlCol="0">
            <a:spAutoFit/>
          </a:bodyPr>
          <a:lstStyle/>
          <a:p>
            <a:pPr marL="12700">
              <a:lnSpc>
                <a:spcPts val="1635"/>
              </a:lnSpc>
            </a:pPr>
            <a:r>
              <a:rPr lang="en-IN">
                <a:solidFill>
                  <a:schemeClr val="tx1"/>
                </a:solidFill>
              </a:rPr>
              <a:t>03</a:t>
            </a:r>
            <a:r>
              <a:rPr>
                <a:solidFill>
                  <a:schemeClr val="tx1"/>
                </a:solidFill>
              </a:rPr>
              <a:t>-03-</a:t>
            </a:r>
            <a:r>
              <a:rPr spc="-20">
                <a:solidFill>
                  <a:schemeClr val="tx1"/>
                </a:solidFill>
              </a:rPr>
              <a:t>2025</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600"/>
              </a:lnSpc>
            </a:pPr>
            <a:fld id="{81D60167-4931-47E6-BA6A-407CBD079E47}" type="slidenum">
              <a:rPr spc="-25" dirty="0"/>
              <a:t>7</a:t>
            </a:fld>
            <a:endParaRPr spc="-25"/>
          </a:p>
        </p:txBody>
      </p:sp>
      <p:sp>
        <p:nvSpPr>
          <p:cNvPr id="3" name="object 3"/>
          <p:cNvSpPr txBox="1">
            <a:spLocks noGrp="1"/>
          </p:cNvSpPr>
          <p:nvPr>
            <p:ph type="title"/>
          </p:nvPr>
        </p:nvSpPr>
        <p:spPr>
          <a:xfrm>
            <a:off x="2848973" y="189970"/>
            <a:ext cx="6474460" cy="536575"/>
          </a:xfrm>
          <a:prstGeom prst="rect">
            <a:avLst/>
          </a:prstGeom>
        </p:spPr>
        <p:txBody>
          <a:bodyPr vert="horz" wrap="square" lIns="0" tIns="13335" rIns="0" bIns="0" rtlCol="0">
            <a:spAutoFit/>
          </a:bodyPr>
          <a:lstStyle/>
          <a:p>
            <a:pPr marL="12700">
              <a:lnSpc>
                <a:spcPct val="100000"/>
              </a:lnSpc>
              <a:spcBef>
                <a:spcPts val="105"/>
              </a:spcBef>
              <a:tabLst>
                <a:tab pos="2883535" algn="l"/>
              </a:tabLst>
            </a:pPr>
            <a:r>
              <a:rPr sz="3350" spc="-10"/>
              <a:t>LITERATURE</a:t>
            </a:r>
            <a:r>
              <a:rPr sz="3350"/>
              <a:t>	SURVEY</a:t>
            </a:r>
            <a:r>
              <a:rPr sz="3350" spc="25"/>
              <a:t> </a:t>
            </a:r>
            <a:r>
              <a:rPr sz="3350" spc="130"/>
              <a:t>CONT....</a:t>
            </a:r>
            <a:endParaRPr sz="3350"/>
          </a:p>
        </p:txBody>
      </p:sp>
      <p:graphicFrame>
        <p:nvGraphicFramePr>
          <p:cNvPr id="7" name="Table 6">
            <a:extLst>
              <a:ext uri="{FF2B5EF4-FFF2-40B4-BE49-F238E27FC236}">
                <a16:creationId xmlns:a16="http://schemas.microsoft.com/office/drawing/2014/main" id="{BEF8B857-8CD1-2AE2-DF43-26571A3DECAD}"/>
              </a:ext>
            </a:extLst>
          </p:cNvPr>
          <p:cNvGraphicFramePr>
            <a:graphicFrameLocks noGrp="1"/>
          </p:cNvGraphicFramePr>
          <p:nvPr>
            <p:extLst>
              <p:ext uri="{D42A27DB-BD31-4B8C-83A1-F6EECF244321}">
                <p14:modId xmlns:p14="http://schemas.microsoft.com/office/powerpoint/2010/main" val="1185113842"/>
              </p:ext>
            </p:extLst>
          </p:nvPr>
        </p:nvGraphicFramePr>
        <p:xfrm>
          <a:off x="838200" y="729003"/>
          <a:ext cx="10865077" cy="5550535"/>
        </p:xfrm>
        <a:graphic>
          <a:graphicData uri="http://schemas.openxmlformats.org/drawingml/2006/table">
            <a:tbl>
              <a:tblPr firstRow="1" bandRow="1">
                <a:tableStyleId>{5C22544A-7EE6-4342-B048-85BDC9FD1C3A}</a:tableStyleId>
              </a:tblPr>
              <a:tblGrid>
                <a:gridCol w="1081977">
                  <a:extLst>
                    <a:ext uri="{9D8B030D-6E8A-4147-A177-3AD203B41FA5}">
                      <a16:colId xmlns:a16="http://schemas.microsoft.com/office/drawing/2014/main" val="408710998"/>
                    </a:ext>
                  </a:extLst>
                </a:gridCol>
                <a:gridCol w="1854817">
                  <a:extLst>
                    <a:ext uri="{9D8B030D-6E8A-4147-A177-3AD203B41FA5}">
                      <a16:colId xmlns:a16="http://schemas.microsoft.com/office/drawing/2014/main" val="1868034861"/>
                    </a:ext>
                  </a:extLst>
                </a:gridCol>
                <a:gridCol w="2627657">
                  <a:extLst>
                    <a:ext uri="{9D8B030D-6E8A-4147-A177-3AD203B41FA5}">
                      <a16:colId xmlns:a16="http://schemas.microsoft.com/office/drawing/2014/main" val="644370460"/>
                    </a:ext>
                  </a:extLst>
                </a:gridCol>
                <a:gridCol w="2086669">
                  <a:extLst>
                    <a:ext uri="{9D8B030D-6E8A-4147-A177-3AD203B41FA5}">
                      <a16:colId xmlns:a16="http://schemas.microsoft.com/office/drawing/2014/main" val="3080953418"/>
                    </a:ext>
                  </a:extLst>
                </a:gridCol>
                <a:gridCol w="2026280">
                  <a:extLst>
                    <a:ext uri="{9D8B030D-6E8A-4147-A177-3AD203B41FA5}">
                      <a16:colId xmlns:a16="http://schemas.microsoft.com/office/drawing/2014/main" val="3465641355"/>
                    </a:ext>
                  </a:extLst>
                </a:gridCol>
                <a:gridCol w="1187677">
                  <a:extLst>
                    <a:ext uri="{9D8B030D-6E8A-4147-A177-3AD203B41FA5}">
                      <a16:colId xmlns:a16="http://schemas.microsoft.com/office/drawing/2014/main" val="692908081"/>
                    </a:ext>
                  </a:extLst>
                </a:gridCol>
              </a:tblGrid>
              <a:tr h="526059">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S.No</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93980">
                        <a:lnSpc>
                          <a:spcPct val="100000"/>
                        </a:lnSpc>
                      </a:pPr>
                      <a:r>
                        <a:rPr sz="1800" b="1">
                          <a:solidFill>
                            <a:schemeClr val="tx1"/>
                          </a:solidFill>
                          <a:latin typeface="Times New Roman"/>
                          <a:cs typeface="Times New Roman"/>
                        </a:rPr>
                        <a:t>Paper</a:t>
                      </a:r>
                      <a:r>
                        <a:rPr sz="1800" b="1" spc="-75">
                          <a:solidFill>
                            <a:schemeClr val="tx1"/>
                          </a:solidFill>
                          <a:latin typeface="Times New Roman"/>
                          <a:cs typeface="Times New Roman"/>
                        </a:rPr>
                        <a:t> </a:t>
                      </a:r>
                      <a:r>
                        <a:rPr sz="1800" b="1" spc="-10">
                          <a:solidFill>
                            <a:schemeClr val="tx1"/>
                          </a:solidFill>
                          <a:latin typeface="Times New Roman"/>
                          <a:cs typeface="Times New Roman"/>
                        </a:rPr>
                        <a:t>Title</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286385">
                        <a:lnSpc>
                          <a:spcPct val="100000"/>
                        </a:lnSpc>
                      </a:pPr>
                      <a:r>
                        <a:rPr sz="1800" b="1" spc="-10">
                          <a:solidFill>
                            <a:schemeClr val="tx1"/>
                          </a:solidFill>
                          <a:latin typeface="Times New Roman"/>
                          <a:cs typeface="Times New Roman"/>
                        </a:rPr>
                        <a:t>Methodology</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361315">
                        <a:lnSpc>
                          <a:spcPct val="100000"/>
                        </a:lnSpc>
                      </a:pPr>
                      <a:r>
                        <a:rPr sz="1800" b="1" spc="-10">
                          <a:solidFill>
                            <a:schemeClr val="tx1"/>
                          </a:solidFill>
                          <a:latin typeface="Times New Roman"/>
                          <a:cs typeface="Times New Roman"/>
                        </a:rPr>
                        <a:t>Limitations</a:t>
                      </a:r>
                      <a:endParaRPr sz="1800">
                        <a:solidFill>
                          <a:schemeClr val="tx1"/>
                        </a:solidFill>
                        <a:latin typeface="Times New Roman"/>
                        <a:cs typeface="Times New Roman"/>
                      </a:endParaRPr>
                    </a:p>
                  </a:txBody>
                  <a:tcPr marL="0" marR="0" marT="5715" marB="0"/>
                </a:tc>
                <a:tc>
                  <a:txBody>
                    <a:bodyPr/>
                    <a:lstStyle/>
                    <a:p>
                      <a:pPr marL="261620" marR="85725" indent="-169545" algn="ctr">
                        <a:lnSpc>
                          <a:spcPts val="1380"/>
                        </a:lnSpc>
                        <a:spcBef>
                          <a:spcPts val="840"/>
                        </a:spcBef>
                      </a:pPr>
                      <a:r>
                        <a:rPr lang="en-IN" sz="1800" b="1" spc="-10">
                          <a:solidFill>
                            <a:schemeClr val="tx1"/>
                          </a:solidFill>
                          <a:latin typeface="Times New Roman"/>
                          <a:cs typeface="Times New Roman"/>
                        </a:rPr>
                        <a:t>   </a:t>
                      </a:r>
                      <a:r>
                        <a:rPr sz="1800" b="1" spc="-10">
                          <a:solidFill>
                            <a:schemeClr val="tx1"/>
                          </a:solidFill>
                          <a:latin typeface="Times New Roman"/>
                          <a:cs typeface="Times New Roman"/>
                        </a:rPr>
                        <a:t>Research</a:t>
                      </a:r>
                      <a:r>
                        <a:rPr sz="1800" b="1" spc="-5">
                          <a:solidFill>
                            <a:schemeClr val="tx1"/>
                          </a:solidFill>
                          <a:latin typeface="Times New Roman"/>
                          <a:cs typeface="Times New Roman"/>
                        </a:rPr>
                        <a:t> </a:t>
                      </a:r>
                      <a:r>
                        <a:rPr sz="1800" b="1" spc="-20">
                          <a:solidFill>
                            <a:schemeClr val="tx1"/>
                          </a:solidFill>
                          <a:latin typeface="Times New Roman"/>
                          <a:cs typeface="Times New Roman"/>
                        </a:rPr>
                        <a:t>Gaps </a:t>
                      </a:r>
                      <a:r>
                        <a:rPr sz="1800" b="1" spc="-10">
                          <a:solidFill>
                            <a:schemeClr val="tx1"/>
                          </a:solidFill>
                          <a:latin typeface="Times New Roman"/>
                          <a:cs typeface="Times New Roman"/>
                        </a:rPr>
                        <a:t>Identified</a:t>
                      </a:r>
                      <a:endParaRPr sz="1800">
                        <a:solidFill>
                          <a:schemeClr val="tx1"/>
                        </a:solidFill>
                        <a:latin typeface="Times New Roman"/>
                        <a:cs typeface="Times New Roman"/>
                      </a:endParaRPr>
                    </a:p>
                  </a:txBody>
                  <a:tcPr marL="0" marR="0" marT="106680" marB="0"/>
                </a:tc>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Year</a:t>
                      </a:r>
                      <a:endParaRPr sz="1800">
                        <a:solidFill>
                          <a:schemeClr val="tx1"/>
                        </a:solidFill>
                        <a:latin typeface="Times New Roman"/>
                        <a:cs typeface="Times New Roman"/>
                      </a:endParaRPr>
                    </a:p>
                  </a:txBody>
                  <a:tcPr marL="0" marR="0" marT="5715" marB="0"/>
                </a:tc>
                <a:extLst>
                  <a:ext uri="{0D108BD9-81ED-4DB2-BD59-A6C34878D82A}">
                    <a16:rowId xmlns:a16="http://schemas.microsoft.com/office/drawing/2014/main" val="1084521095"/>
                  </a:ext>
                </a:extLst>
              </a:tr>
              <a:tr h="4655540">
                <a:tc>
                  <a:txBody>
                    <a:bodyPr/>
                    <a:lstStyle/>
                    <a:p>
                      <a:pPr algn="ctr">
                        <a:lnSpc>
                          <a:spcPts val="1380"/>
                        </a:lnSpc>
                      </a:pPr>
                      <a:endParaRPr lang="en-IN" sz="1700" spc="-50">
                        <a:latin typeface="Times New Roman"/>
                        <a:cs typeface="Times New Roman"/>
                      </a:endParaRPr>
                    </a:p>
                    <a:p>
                      <a:pPr algn="ctr">
                        <a:lnSpc>
                          <a:spcPts val="1380"/>
                        </a:lnSpc>
                      </a:pPr>
                      <a:endParaRPr lang="en-IN" sz="1700" spc="-50">
                        <a:latin typeface="Times New Roman"/>
                        <a:cs typeface="Times New Roman"/>
                      </a:endParaRPr>
                    </a:p>
                    <a:p>
                      <a:pPr algn="ctr">
                        <a:lnSpc>
                          <a:spcPts val="1380"/>
                        </a:lnSpc>
                      </a:pPr>
                      <a:endParaRPr lang="en-IN" sz="1700" spc="-50">
                        <a:latin typeface="Times New Roman"/>
                        <a:cs typeface="Times New Roman"/>
                      </a:endParaRPr>
                    </a:p>
                    <a:p>
                      <a:pPr algn="ctr">
                        <a:lnSpc>
                          <a:spcPts val="1380"/>
                        </a:lnSpc>
                      </a:pPr>
                      <a:endParaRPr lang="en-IN" sz="1700" spc="-50">
                        <a:latin typeface="Times New Roman"/>
                        <a:cs typeface="Times New Roman"/>
                      </a:endParaRPr>
                    </a:p>
                    <a:p>
                      <a:pPr algn="ctr">
                        <a:lnSpc>
                          <a:spcPts val="1380"/>
                        </a:lnSpc>
                      </a:pPr>
                      <a:endParaRPr lang="en-IN" sz="1700" spc="-50">
                        <a:latin typeface="Times New Roman"/>
                        <a:cs typeface="Times New Roman"/>
                      </a:endParaRPr>
                    </a:p>
                    <a:p>
                      <a:pPr algn="ctr">
                        <a:lnSpc>
                          <a:spcPts val="1380"/>
                        </a:lnSpc>
                      </a:pPr>
                      <a:r>
                        <a:rPr lang="en-IN" sz="1700">
                          <a:latin typeface="Times New Roman"/>
                          <a:cs typeface="Times New Roman"/>
                        </a:rPr>
                        <a:t>3</a:t>
                      </a:r>
                      <a:endParaRPr sz="1700">
                        <a:latin typeface="Times New Roman"/>
                        <a:cs typeface="Times New Roman"/>
                      </a:endParaRPr>
                    </a:p>
                  </a:txBody>
                  <a:tcPr marL="0" marR="0" marT="0" marB="0"/>
                </a:tc>
                <a:tc>
                  <a:txBody>
                    <a:bodyPr/>
                    <a:lstStyle/>
                    <a:p>
                      <a:pPr marL="67945">
                        <a:lnSpc>
                          <a:spcPts val="1380"/>
                        </a:lnSpc>
                      </a:pPr>
                      <a:endParaRPr lang="en-IN" sz="1700" spc="-10">
                        <a:latin typeface="Times New Roman"/>
                        <a:cs typeface="Times New Roman"/>
                      </a:endParaRPr>
                    </a:p>
                    <a:p>
                      <a:pPr marL="67945">
                        <a:lnSpc>
                          <a:spcPts val="1380"/>
                        </a:lnSpc>
                      </a:pPr>
                      <a:endParaRPr lang="en-IN" sz="1700" spc="-10">
                        <a:latin typeface="Times New Roman"/>
                        <a:cs typeface="Times New Roman"/>
                      </a:endParaRPr>
                    </a:p>
                    <a:p>
                      <a:pPr marL="67945">
                        <a:lnSpc>
                          <a:spcPts val="1380"/>
                        </a:lnSpc>
                      </a:pPr>
                      <a:r>
                        <a:rPr sz="1700" spc="-10">
                          <a:latin typeface="Times New Roman"/>
                          <a:cs typeface="Times New Roman"/>
                        </a:rPr>
                        <a:t>Camouflage</a:t>
                      </a:r>
                      <a:endParaRPr sz="1700">
                        <a:latin typeface="Times New Roman"/>
                        <a:cs typeface="Times New Roman"/>
                      </a:endParaRPr>
                    </a:p>
                    <a:p>
                      <a:pPr marL="67945" marR="223520">
                        <a:lnSpc>
                          <a:spcPct val="110200"/>
                        </a:lnSpc>
                        <a:spcBef>
                          <a:spcPts val="10"/>
                        </a:spcBef>
                      </a:pPr>
                      <a:r>
                        <a:rPr sz="1700">
                          <a:latin typeface="Times New Roman"/>
                          <a:cs typeface="Times New Roman"/>
                        </a:rPr>
                        <a:t>d </a:t>
                      </a:r>
                      <a:r>
                        <a:rPr sz="1700" spc="-10">
                          <a:latin typeface="Times New Roman"/>
                          <a:cs typeface="Times New Roman"/>
                        </a:rPr>
                        <a:t>Military Personnel Detection Using SSIM-</a:t>
                      </a:r>
                      <a:endParaRPr sz="1700">
                        <a:latin typeface="Times New Roman"/>
                        <a:cs typeface="Times New Roman"/>
                      </a:endParaRPr>
                    </a:p>
                    <a:p>
                      <a:pPr marL="67945" marR="80645">
                        <a:lnSpc>
                          <a:spcPct val="110000"/>
                        </a:lnSpc>
                      </a:pPr>
                      <a:r>
                        <a:rPr sz="1700" spc="-10">
                          <a:latin typeface="Times New Roman"/>
                          <a:cs typeface="Times New Roman"/>
                        </a:rPr>
                        <a:t>Based</a:t>
                      </a:r>
                      <a:r>
                        <a:rPr sz="1700" spc="500">
                          <a:latin typeface="Times New Roman"/>
                          <a:cs typeface="Times New Roman"/>
                        </a:rPr>
                        <a:t> </a:t>
                      </a:r>
                      <a:r>
                        <a:rPr sz="1700">
                          <a:latin typeface="Times New Roman"/>
                          <a:cs typeface="Times New Roman"/>
                        </a:rPr>
                        <a:t>Faster</a:t>
                      </a:r>
                      <a:r>
                        <a:rPr sz="1700" spc="-35">
                          <a:latin typeface="Times New Roman"/>
                          <a:cs typeface="Times New Roman"/>
                        </a:rPr>
                        <a:t> </a:t>
                      </a:r>
                      <a:r>
                        <a:rPr sz="1700" spc="-25">
                          <a:latin typeface="Times New Roman"/>
                          <a:cs typeface="Times New Roman"/>
                        </a:rPr>
                        <a:t>R- </a:t>
                      </a:r>
                      <a:r>
                        <a:rPr sz="1700">
                          <a:latin typeface="Times New Roman"/>
                          <a:cs typeface="Times New Roman"/>
                        </a:rPr>
                        <a:t>CNN</a:t>
                      </a:r>
                      <a:r>
                        <a:rPr sz="1700" spc="-10">
                          <a:latin typeface="Times New Roman"/>
                          <a:cs typeface="Times New Roman"/>
                        </a:rPr>
                        <a:t> Model</a:t>
                      </a:r>
                      <a:endParaRPr sz="1700">
                        <a:latin typeface="Times New Roman"/>
                        <a:cs typeface="Times New Roman"/>
                      </a:endParaRPr>
                    </a:p>
                  </a:txBody>
                  <a:tcPr marL="0" marR="0" marT="0" marB="0"/>
                </a:tc>
                <a:tc>
                  <a:txBody>
                    <a:bodyPr/>
                    <a:lstStyle/>
                    <a:p>
                      <a:pPr marL="68580">
                        <a:lnSpc>
                          <a:spcPts val="1380"/>
                        </a:lnSpc>
                      </a:pPr>
                      <a:endParaRPr lang="en-IN" sz="1700" spc="-35">
                        <a:latin typeface="Times New Roman"/>
                        <a:cs typeface="Times New Roman"/>
                      </a:endParaRPr>
                    </a:p>
                    <a:p>
                      <a:pPr marL="68580">
                        <a:lnSpc>
                          <a:spcPts val="1380"/>
                        </a:lnSpc>
                      </a:pPr>
                      <a:endParaRPr lang="en-IN" sz="1700" spc="-35">
                        <a:latin typeface="Times New Roman"/>
                        <a:cs typeface="Times New Roman"/>
                      </a:endParaRPr>
                    </a:p>
                    <a:p>
                      <a:pPr marL="68580">
                        <a:lnSpc>
                          <a:spcPts val="1380"/>
                        </a:lnSpc>
                      </a:pPr>
                      <a:r>
                        <a:rPr sz="1700" spc="-35">
                          <a:latin typeface="Times New Roman"/>
                          <a:cs typeface="Times New Roman"/>
                        </a:rPr>
                        <a:t>Two-</a:t>
                      </a:r>
                      <a:r>
                        <a:rPr sz="1700">
                          <a:latin typeface="Times New Roman"/>
                          <a:cs typeface="Times New Roman"/>
                        </a:rPr>
                        <a:t>stage</a:t>
                      </a:r>
                      <a:r>
                        <a:rPr sz="1700" spc="-20">
                          <a:latin typeface="Times New Roman"/>
                          <a:cs typeface="Times New Roman"/>
                        </a:rPr>
                        <a:t> </a:t>
                      </a:r>
                      <a:r>
                        <a:rPr sz="1700">
                          <a:latin typeface="Times New Roman"/>
                          <a:cs typeface="Times New Roman"/>
                        </a:rPr>
                        <a:t>Faster</a:t>
                      </a:r>
                      <a:r>
                        <a:rPr sz="1700" spc="-5">
                          <a:latin typeface="Times New Roman"/>
                          <a:cs typeface="Times New Roman"/>
                        </a:rPr>
                        <a:t> </a:t>
                      </a:r>
                      <a:r>
                        <a:rPr sz="1700" spc="-25">
                          <a:latin typeface="Times New Roman"/>
                          <a:cs typeface="Times New Roman"/>
                        </a:rPr>
                        <a:t>R-</a:t>
                      </a:r>
                      <a:endParaRPr sz="1700">
                        <a:latin typeface="Times New Roman"/>
                        <a:cs typeface="Times New Roman"/>
                      </a:endParaRPr>
                    </a:p>
                    <a:p>
                      <a:pPr marL="68580" marR="266700">
                        <a:lnSpc>
                          <a:spcPct val="110000"/>
                        </a:lnSpc>
                        <a:spcBef>
                          <a:spcPts val="10"/>
                        </a:spcBef>
                      </a:pPr>
                      <a:r>
                        <a:rPr sz="1700">
                          <a:latin typeface="Times New Roman"/>
                          <a:cs typeface="Times New Roman"/>
                        </a:rPr>
                        <a:t>CNN</a:t>
                      </a:r>
                      <a:r>
                        <a:rPr sz="1700" spc="-10">
                          <a:latin typeface="Times New Roman"/>
                          <a:cs typeface="Times New Roman"/>
                        </a:rPr>
                        <a:t> detector </a:t>
                      </a:r>
                      <a:r>
                        <a:rPr sz="1700">
                          <a:latin typeface="Times New Roman"/>
                          <a:cs typeface="Times New Roman"/>
                        </a:rPr>
                        <a:t>enhanced</a:t>
                      </a:r>
                      <a:r>
                        <a:rPr sz="1700" spc="-50">
                          <a:latin typeface="Times New Roman"/>
                          <a:cs typeface="Times New Roman"/>
                        </a:rPr>
                        <a:t> </a:t>
                      </a:r>
                      <a:r>
                        <a:rPr sz="1700" spc="-20">
                          <a:latin typeface="Times New Roman"/>
                          <a:cs typeface="Times New Roman"/>
                        </a:rPr>
                        <a:t>with </a:t>
                      </a:r>
                      <a:r>
                        <a:rPr sz="1700" spc="-10">
                          <a:latin typeface="Times New Roman"/>
                          <a:cs typeface="Times New Roman"/>
                        </a:rPr>
                        <a:t>SSIM-</a:t>
                      </a:r>
                      <a:r>
                        <a:rPr sz="1700">
                          <a:latin typeface="Times New Roman"/>
                          <a:cs typeface="Times New Roman"/>
                        </a:rPr>
                        <a:t>based </a:t>
                      </a:r>
                      <a:r>
                        <a:rPr sz="1700" spc="-20">
                          <a:latin typeface="Times New Roman"/>
                          <a:cs typeface="Times New Roman"/>
                        </a:rPr>
                        <a:t>loss </a:t>
                      </a:r>
                      <a:r>
                        <a:rPr sz="1700">
                          <a:latin typeface="Times New Roman"/>
                          <a:cs typeface="Times New Roman"/>
                        </a:rPr>
                        <a:t>component</a:t>
                      </a:r>
                      <a:r>
                        <a:rPr sz="1700" spc="-60">
                          <a:latin typeface="Times New Roman"/>
                          <a:cs typeface="Times New Roman"/>
                        </a:rPr>
                        <a:t> </a:t>
                      </a:r>
                      <a:r>
                        <a:rPr sz="1700" spc="-25">
                          <a:latin typeface="Times New Roman"/>
                          <a:cs typeface="Times New Roman"/>
                        </a:rPr>
                        <a:t>to</a:t>
                      </a:r>
                      <a:endParaRPr sz="1700">
                        <a:latin typeface="Times New Roman"/>
                        <a:cs typeface="Times New Roman"/>
                      </a:endParaRPr>
                    </a:p>
                    <a:p>
                      <a:pPr marL="68580" marR="175260">
                        <a:lnSpc>
                          <a:spcPct val="110000"/>
                        </a:lnSpc>
                        <a:spcBef>
                          <a:spcPts val="10"/>
                        </a:spcBef>
                      </a:pPr>
                      <a:r>
                        <a:rPr sz="1700">
                          <a:latin typeface="Times New Roman"/>
                          <a:cs typeface="Times New Roman"/>
                        </a:rPr>
                        <a:t>improve</a:t>
                      </a:r>
                      <a:r>
                        <a:rPr sz="1700" spc="-55">
                          <a:latin typeface="Times New Roman"/>
                          <a:cs typeface="Times New Roman"/>
                        </a:rPr>
                        <a:t> </a:t>
                      </a:r>
                      <a:r>
                        <a:rPr sz="1700" spc="-10">
                          <a:latin typeface="Times New Roman"/>
                          <a:cs typeface="Times New Roman"/>
                        </a:rPr>
                        <a:t>structural differentiation</a:t>
                      </a:r>
                      <a:endParaRPr sz="1700">
                        <a:latin typeface="Times New Roman"/>
                        <a:cs typeface="Times New Roman"/>
                      </a:endParaRPr>
                    </a:p>
                    <a:p>
                      <a:pPr marL="68580" marR="509905">
                        <a:lnSpc>
                          <a:spcPct val="110000"/>
                        </a:lnSpc>
                      </a:pPr>
                      <a:r>
                        <a:rPr sz="1700" spc="-10">
                          <a:latin typeface="Times New Roman"/>
                          <a:cs typeface="Times New Roman"/>
                        </a:rPr>
                        <a:t>between camouflaged</a:t>
                      </a:r>
                      <a:endParaRPr sz="1700">
                        <a:latin typeface="Times New Roman"/>
                        <a:cs typeface="Times New Roman"/>
                      </a:endParaRPr>
                    </a:p>
                    <a:p>
                      <a:pPr marL="68580">
                        <a:lnSpc>
                          <a:spcPct val="100000"/>
                        </a:lnSpc>
                        <a:spcBef>
                          <a:spcPts val="160"/>
                        </a:spcBef>
                      </a:pPr>
                      <a:r>
                        <a:rPr sz="1700">
                          <a:latin typeface="Times New Roman"/>
                          <a:cs typeface="Times New Roman"/>
                        </a:rPr>
                        <a:t>objects</a:t>
                      </a:r>
                      <a:r>
                        <a:rPr sz="1700" spc="-50">
                          <a:latin typeface="Times New Roman"/>
                          <a:cs typeface="Times New Roman"/>
                        </a:rPr>
                        <a:t> </a:t>
                      </a:r>
                      <a:r>
                        <a:rPr sz="1700" spc="-25">
                          <a:latin typeface="Times New Roman"/>
                          <a:cs typeface="Times New Roman"/>
                        </a:rPr>
                        <a:t>and</a:t>
                      </a:r>
                      <a:endParaRPr sz="1700">
                        <a:latin typeface="Times New Roman"/>
                        <a:cs typeface="Times New Roman"/>
                      </a:endParaRPr>
                    </a:p>
                    <a:p>
                      <a:pPr marL="68580" marR="204470">
                        <a:lnSpc>
                          <a:spcPct val="110000"/>
                        </a:lnSpc>
                      </a:pPr>
                      <a:r>
                        <a:rPr sz="1700">
                          <a:latin typeface="Times New Roman"/>
                          <a:cs typeface="Times New Roman"/>
                        </a:rPr>
                        <a:t>background.</a:t>
                      </a:r>
                      <a:r>
                        <a:rPr sz="1700" spc="-60">
                          <a:latin typeface="Times New Roman"/>
                          <a:cs typeface="Times New Roman"/>
                        </a:rPr>
                        <a:t> </a:t>
                      </a:r>
                      <a:r>
                        <a:rPr sz="1700" spc="-20">
                          <a:latin typeface="Times New Roman"/>
                          <a:cs typeface="Times New Roman"/>
                        </a:rPr>
                        <a:t>Uses </a:t>
                      </a:r>
                      <a:r>
                        <a:rPr sz="1700" spc="-10">
                          <a:latin typeface="Times New Roman"/>
                          <a:cs typeface="Times New Roman"/>
                        </a:rPr>
                        <a:t>perceptual</a:t>
                      </a:r>
                      <a:endParaRPr sz="1700">
                        <a:latin typeface="Times New Roman"/>
                        <a:cs typeface="Times New Roman"/>
                      </a:endParaRPr>
                    </a:p>
                    <a:p>
                      <a:pPr marL="68580">
                        <a:lnSpc>
                          <a:spcPct val="100000"/>
                        </a:lnSpc>
                        <a:spcBef>
                          <a:spcPts val="145"/>
                        </a:spcBef>
                      </a:pPr>
                      <a:r>
                        <a:rPr sz="1700" spc="-10">
                          <a:latin typeface="Times New Roman"/>
                          <a:cs typeface="Times New Roman"/>
                        </a:rPr>
                        <a:t>similarity</a:t>
                      </a:r>
                      <a:endParaRPr sz="1700">
                        <a:latin typeface="Times New Roman"/>
                        <a:cs typeface="Times New Roman"/>
                      </a:endParaRPr>
                    </a:p>
                    <a:p>
                      <a:pPr marL="68580" marR="137160">
                        <a:lnSpc>
                          <a:spcPct val="110000"/>
                        </a:lnSpc>
                        <a:spcBef>
                          <a:spcPts val="10"/>
                        </a:spcBef>
                      </a:pPr>
                      <a:r>
                        <a:rPr sz="1700">
                          <a:latin typeface="Times New Roman"/>
                          <a:cs typeface="Times New Roman"/>
                        </a:rPr>
                        <a:t>constraints</a:t>
                      </a:r>
                      <a:r>
                        <a:rPr sz="1700" spc="-50">
                          <a:latin typeface="Times New Roman"/>
                          <a:cs typeface="Times New Roman"/>
                        </a:rPr>
                        <a:t> </a:t>
                      </a:r>
                      <a:r>
                        <a:rPr sz="1700" spc="-10">
                          <a:latin typeface="Times New Roman"/>
                          <a:cs typeface="Times New Roman"/>
                        </a:rPr>
                        <a:t>during </a:t>
                      </a:r>
                      <a:r>
                        <a:rPr sz="1700">
                          <a:latin typeface="Times New Roman"/>
                          <a:cs typeface="Times New Roman"/>
                        </a:rPr>
                        <a:t>training.</a:t>
                      </a:r>
                      <a:r>
                        <a:rPr sz="1700" spc="-40">
                          <a:latin typeface="Times New Roman"/>
                          <a:cs typeface="Times New Roman"/>
                        </a:rPr>
                        <a:t> </a:t>
                      </a:r>
                      <a:r>
                        <a:rPr sz="1700" spc="-10">
                          <a:latin typeface="Times New Roman"/>
                          <a:cs typeface="Times New Roman"/>
                        </a:rPr>
                        <a:t>Evaluated </a:t>
                      </a:r>
                      <a:r>
                        <a:rPr sz="1700">
                          <a:latin typeface="Times New Roman"/>
                          <a:cs typeface="Times New Roman"/>
                        </a:rPr>
                        <a:t>using</a:t>
                      </a:r>
                      <a:r>
                        <a:rPr sz="1700" spc="-10">
                          <a:latin typeface="Times New Roman"/>
                          <a:cs typeface="Times New Roman"/>
                        </a:rPr>
                        <a:t> </a:t>
                      </a:r>
                      <a:r>
                        <a:rPr sz="1700">
                          <a:latin typeface="Times New Roman"/>
                          <a:cs typeface="Times New Roman"/>
                        </a:rPr>
                        <a:t>mAP</a:t>
                      </a:r>
                      <a:r>
                        <a:rPr sz="1700" spc="-50">
                          <a:latin typeface="Times New Roman"/>
                          <a:cs typeface="Times New Roman"/>
                        </a:rPr>
                        <a:t> </a:t>
                      </a:r>
                      <a:r>
                        <a:rPr sz="1700" spc="-25">
                          <a:latin typeface="Times New Roman"/>
                          <a:cs typeface="Times New Roman"/>
                        </a:rPr>
                        <a:t>and </a:t>
                      </a:r>
                      <a:r>
                        <a:rPr sz="1700" spc="-20">
                          <a:latin typeface="Times New Roman"/>
                          <a:cs typeface="Times New Roman"/>
                        </a:rPr>
                        <a:t>IoU.</a:t>
                      </a:r>
                      <a:endParaRPr sz="1700">
                        <a:latin typeface="Times New Roman"/>
                        <a:cs typeface="Times New Roman"/>
                      </a:endParaRPr>
                    </a:p>
                  </a:txBody>
                  <a:tcPr marL="0" marR="0" marT="0" marB="0"/>
                </a:tc>
                <a:tc>
                  <a:txBody>
                    <a:bodyPr/>
                    <a:lstStyle/>
                    <a:p>
                      <a:pPr marL="68580">
                        <a:lnSpc>
                          <a:spcPts val="1380"/>
                        </a:lnSpc>
                      </a:pPr>
                      <a:endParaRPr lang="en-IN" sz="1700">
                        <a:latin typeface="Times New Roman"/>
                        <a:cs typeface="Times New Roman"/>
                      </a:endParaRPr>
                    </a:p>
                    <a:p>
                      <a:pPr marL="68580">
                        <a:lnSpc>
                          <a:spcPts val="1380"/>
                        </a:lnSpc>
                      </a:pPr>
                      <a:r>
                        <a:rPr sz="1700">
                          <a:latin typeface="Times New Roman"/>
                          <a:cs typeface="Times New Roman"/>
                        </a:rPr>
                        <a:t>Still</a:t>
                      </a:r>
                      <a:r>
                        <a:rPr sz="1700" spc="-20">
                          <a:latin typeface="Times New Roman"/>
                          <a:cs typeface="Times New Roman"/>
                        </a:rPr>
                        <a:t> </a:t>
                      </a:r>
                      <a:r>
                        <a:rPr sz="1700">
                          <a:latin typeface="Times New Roman"/>
                          <a:cs typeface="Times New Roman"/>
                        </a:rPr>
                        <a:t>based</a:t>
                      </a:r>
                      <a:r>
                        <a:rPr sz="1700" spc="-20">
                          <a:latin typeface="Times New Roman"/>
                          <a:cs typeface="Times New Roman"/>
                        </a:rPr>
                        <a:t> </a:t>
                      </a:r>
                      <a:r>
                        <a:rPr sz="1700">
                          <a:latin typeface="Times New Roman"/>
                          <a:cs typeface="Times New Roman"/>
                        </a:rPr>
                        <a:t>on</a:t>
                      </a:r>
                      <a:r>
                        <a:rPr sz="1700" spc="-20">
                          <a:latin typeface="Times New Roman"/>
                          <a:cs typeface="Times New Roman"/>
                        </a:rPr>
                        <a:t> </a:t>
                      </a:r>
                      <a:r>
                        <a:rPr sz="1700" spc="-10">
                          <a:latin typeface="Times New Roman"/>
                          <a:cs typeface="Times New Roman"/>
                        </a:rPr>
                        <a:t>generic</a:t>
                      </a:r>
                      <a:endParaRPr sz="1700">
                        <a:latin typeface="Times New Roman"/>
                        <a:cs typeface="Times New Roman"/>
                      </a:endParaRPr>
                    </a:p>
                    <a:p>
                      <a:pPr marL="68580" marR="65405">
                        <a:lnSpc>
                          <a:spcPct val="110200"/>
                        </a:lnSpc>
                        <a:spcBef>
                          <a:spcPts val="10"/>
                        </a:spcBef>
                      </a:pPr>
                      <a:r>
                        <a:rPr sz="1700">
                          <a:latin typeface="Times New Roman"/>
                          <a:cs typeface="Times New Roman"/>
                        </a:rPr>
                        <a:t>detector;</a:t>
                      </a:r>
                      <a:r>
                        <a:rPr sz="1700" spc="-25">
                          <a:latin typeface="Times New Roman"/>
                          <a:cs typeface="Times New Roman"/>
                        </a:rPr>
                        <a:t> </a:t>
                      </a:r>
                      <a:r>
                        <a:rPr sz="1700">
                          <a:latin typeface="Times New Roman"/>
                          <a:cs typeface="Times New Roman"/>
                        </a:rPr>
                        <a:t>SSIM</a:t>
                      </a:r>
                      <a:r>
                        <a:rPr sz="1700" spc="-25">
                          <a:latin typeface="Times New Roman"/>
                          <a:cs typeface="Times New Roman"/>
                        </a:rPr>
                        <a:t> </a:t>
                      </a:r>
                      <a:r>
                        <a:rPr sz="1700">
                          <a:latin typeface="Times New Roman"/>
                          <a:cs typeface="Times New Roman"/>
                        </a:rPr>
                        <a:t>is</a:t>
                      </a:r>
                      <a:r>
                        <a:rPr sz="1700" spc="-30">
                          <a:latin typeface="Times New Roman"/>
                          <a:cs typeface="Times New Roman"/>
                        </a:rPr>
                        <a:t> </a:t>
                      </a:r>
                      <a:r>
                        <a:rPr sz="1700" spc="-20">
                          <a:latin typeface="Times New Roman"/>
                          <a:cs typeface="Times New Roman"/>
                        </a:rPr>
                        <a:t>low- </a:t>
                      </a:r>
                      <a:r>
                        <a:rPr sz="1700">
                          <a:latin typeface="Times New Roman"/>
                          <a:cs typeface="Times New Roman"/>
                        </a:rPr>
                        <a:t>level</a:t>
                      </a:r>
                      <a:r>
                        <a:rPr sz="1700" spc="-50">
                          <a:latin typeface="Times New Roman"/>
                          <a:cs typeface="Times New Roman"/>
                        </a:rPr>
                        <a:t> </a:t>
                      </a:r>
                      <a:r>
                        <a:rPr sz="1700">
                          <a:latin typeface="Times New Roman"/>
                          <a:cs typeface="Times New Roman"/>
                        </a:rPr>
                        <a:t>perceptual</a:t>
                      </a:r>
                      <a:r>
                        <a:rPr sz="1700" spc="-50">
                          <a:latin typeface="Times New Roman"/>
                          <a:cs typeface="Times New Roman"/>
                        </a:rPr>
                        <a:t> </a:t>
                      </a:r>
                      <a:r>
                        <a:rPr sz="1700" spc="-10">
                          <a:latin typeface="Times New Roman"/>
                          <a:cs typeface="Times New Roman"/>
                        </a:rPr>
                        <a:t>metric </a:t>
                      </a:r>
                      <a:r>
                        <a:rPr sz="1700">
                          <a:latin typeface="Times New Roman"/>
                          <a:cs typeface="Times New Roman"/>
                        </a:rPr>
                        <a:t>(not</a:t>
                      </a:r>
                      <a:r>
                        <a:rPr sz="1700" spc="-45">
                          <a:latin typeface="Times New Roman"/>
                          <a:cs typeface="Times New Roman"/>
                        </a:rPr>
                        <a:t> </a:t>
                      </a:r>
                      <a:r>
                        <a:rPr sz="1700">
                          <a:latin typeface="Times New Roman"/>
                          <a:cs typeface="Times New Roman"/>
                        </a:rPr>
                        <a:t>semantic);</a:t>
                      </a:r>
                      <a:r>
                        <a:rPr sz="1700" spc="-45">
                          <a:latin typeface="Times New Roman"/>
                          <a:cs typeface="Times New Roman"/>
                        </a:rPr>
                        <a:t> </a:t>
                      </a:r>
                      <a:r>
                        <a:rPr sz="1700" spc="-10">
                          <a:latin typeface="Times New Roman"/>
                          <a:cs typeface="Times New Roman"/>
                        </a:rPr>
                        <a:t>limited </a:t>
                      </a:r>
                      <a:r>
                        <a:rPr sz="1700">
                          <a:latin typeface="Times New Roman"/>
                          <a:cs typeface="Times New Roman"/>
                        </a:rPr>
                        <a:t>modality</a:t>
                      </a:r>
                      <a:r>
                        <a:rPr sz="1700" spc="-35">
                          <a:latin typeface="Times New Roman"/>
                          <a:cs typeface="Times New Roman"/>
                        </a:rPr>
                        <a:t> </a:t>
                      </a:r>
                      <a:r>
                        <a:rPr sz="1700">
                          <a:latin typeface="Times New Roman"/>
                          <a:cs typeface="Times New Roman"/>
                        </a:rPr>
                        <a:t>scope</a:t>
                      </a:r>
                      <a:r>
                        <a:rPr sz="1700" spc="-40">
                          <a:latin typeface="Times New Roman"/>
                          <a:cs typeface="Times New Roman"/>
                        </a:rPr>
                        <a:t> </a:t>
                      </a:r>
                      <a:r>
                        <a:rPr sz="1700" spc="-20">
                          <a:latin typeface="Times New Roman"/>
                          <a:cs typeface="Times New Roman"/>
                        </a:rPr>
                        <a:t>(RGB </a:t>
                      </a:r>
                      <a:r>
                        <a:rPr sz="1700">
                          <a:latin typeface="Times New Roman"/>
                          <a:cs typeface="Times New Roman"/>
                        </a:rPr>
                        <a:t>only);</a:t>
                      </a:r>
                      <a:r>
                        <a:rPr sz="1700" spc="-30">
                          <a:latin typeface="Times New Roman"/>
                          <a:cs typeface="Times New Roman"/>
                        </a:rPr>
                        <a:t> </a:t>
                      </a:r>
                      <a:r>
                        <a:rPr sz="1700" spc="-10">
                          <a:latin typeface="Times New Roman"/>
                          <a:cs typeface="Times New Roman"/>
                        </a:rPr>
                        <a:t>computationally </a:t>
                      </a:r>
                      <a:r>
                        <a:rPr sz="1700">
                          <a:latin typeface="Times New Roman"/>
                          <a:cs typeface="Times New Roman"/>
                        </a:rPr>
                        <a:t>heavier;</a:t>
                      </a:r>
                      <a:r>
                        <a:rPr sz="1700" spc="-65">
                          <a:latin typeface="Times New Roman"/>
                          <a:cs typeface="Times New Roman"/>
                        </a:rPr>
                        <a:t> </a:t>
                      </a:r>
                      <a:r>
                        <a:rPr sz="1700" spc="-10">
                          <a:latin typeface="Times New Roman"/>
                          <a:cs typeface="Times New Roman"/>
                        </a:rPr>
                        <a:t>potential</a:t>
                      </a:r>
                      <a:endParaRPr sz="1700">
                        <a:latin typeface="Times New Roman"/>
                        <a:cs typeface="Times New Roman"/>
                      </a:endParaRPr>
                    </a:p>
                    <a:p>
                      <a:pPr marL="68580" marR="148590">
                        <a:lnSpc>
                          <a:spcPct val="110000"/>
                        </a:lnSpc>
                      </a:pPr>
                      <a:r>
                        <a:rPr sz="1700">
                          <a:latin typeface="Times New Roman"/>
                          <a:cs typeface="Times New Roman"/>
                        </a:rPr>
                        <a:t>overfitting</a:t>
                      </a:r>
                      <a:r>
                        <a:rPr sz="1700" spc="-40">
                          <a:latin typeface="Times New Roman"/>
                          <a:cs typeface="Times New Roman"/>
                        </a:rPr>
                        <a:t> </a:t>
                      </a:r>
                      <a:r>
                        <a:rPr sz="1700">
                          <a:latin typeface="Times New Roman"/>
                          <a:cs typeface="Times New Roman"/>
                        </a:rPr>
                        <a:t>to</a:t>
                      </a:r>
                      <a:r>
                        <a:rPr sz="1700" spc="-40">
                          <a:latin typeface="Times New Roman"/>
                          <a:cs typeface="Times New Roman"/>
                        </a:rPr>
                        <a:t> </a:t>
                      </a:r>
                      <a:r>
                        <a:rPr sz="1700" spc="-10">
                          <a:latin typeface="Times New Roman"/>
                          <a:cs typeface="Times New Roman"/>
                        </a:rPr>
                        <a:t>training </a:t>
                      </a:r>
                      <a:r>
                        <a:rPr sz="1700">
                          <a:latin typeface="Times New Roman"/>
                          <a:cs typeface="Times New Roman"/>
                        </a:rPr>
                        <a:t>textures;</a:t>
                      </a:r>
                      <a:r>
                        <a:rPr sz="1700" spc="-45">
                          <a:latin typeface="Times New Roman"/>
                          <a:cs typeface="Times New Roman"/>
                        </a:rPr>
                        <a:t> </a:t>
                      </a:r>
                      <a:r>
                        <a:rPr sz="1700" spc="-25">
                          <a:latin typeface="Times New Roman"/>
                          <a:cs typeface="Times New Roman"/>
                        </a:rPr>
                        <a:t>no</a:t>
                      </a:r>
                      <a:endParaRPr sz="1700">
                        <a:latin typeface="Times New Roman"/>
                        <a:cs typeface="Times New Roman"/>
                      </a:endParaRPr>
                    </a:p>
                    <a:p>
                      <a:pPr marL="68580">
                        <a:lnSpc>
                          <a:spcPct val="100000"/>
                        </a:lnSpc>
                        <a:spcBef>
                          <a:spcPts val="155"/>
                        </a:spcBef>
                      </a:pPr>
                      <a:r>
                        <a:rPr sz="1700" spc="-10">
                          <a:latin typeface="Times New Roman"/>
                          <a:cs typeface="Times New Roman"/>
                        </a:rPr>
                        <a:t>multimodal</a:t>
                      </a:r>
                      <a:endParaRPr sz="1700">
                        <a:latin typeface="Times New Roman"/>
                        <a:cs typeface="Times New Roman"/>
                      </a:endParaRPr>
                    </a:p>
                    <a:p>
                      <a:pPr marL="68580">
                        <a:lnSpc>
                          <a:spcPct val="100000"/>
                        </a:lnSpc>
                        <a:spcBef>
                          <a:spcPts val="145"/>
                        </a:spcBef>
                      </a:pPr>
                      <a:r>
                        <a:rPr sz="1700">
                          <a:latin typeface="Times New Roman"/>
                          <a:cs typeface="Times New Roman"/>
                        </a:rPr>
                        <a:t>integration.</a:t>
                      </a:r>
                      <a:r>
                        <a:rPr sz="1700" spc="-65">
                          <a:latin typeface="Times New Roman"/>
                          <a:cs typeface="Times New Roman"/>
                        </a:rPr>
                        <a:t> </a:t>
                      </a:r>
                      <a:r>
                        <a:rPr sz="1700" spc="-20">
                          <a:latin typeface="Times New Roman"/>
                          <a:cs typeface="Times New Roman"/>
                        </a:rPr>
                        <a:t>Slow</a:t>
                      </a:r>
                      <a:endParaRPr sz="1700">
                        <a:latin typeface="Times New Roman"/>
                        <a:cs typeface="Times New Roman"/>
                      </a:endParaRPr>
                    </a:p>
                    <a:p>
                      <a:pPr marL="68580" marR="136525">
                        <a:lnSpc>
                          <a:spcPct val="110000"/>
                        </a:lnSpc>
                      </a:pPr>
                      <a:r>
                        <a:rPr sz="1700">
                          <a:latin typeface="Times New Roman"/>
                          <a:cs typeface="Times New Roman"/>
                        </a:rPr>
                        <a:t>inference</a:t>
                      </a:r>
                      <a:r>
                        <a:rPr sz="1700" spc="-35">
                          <a:latin typeface="Times New Roman"/>
                          <a:cs typeface="Times New Roman"/>
                        </a:rPr>
                        <a:t> </a:t>
                      </a:r>
                      <a:r>
                        <a:rPr sz="1700" spc="-10">
                          <a:latin typeface="Times New Roman"/>
                          <a:cs typeface="Times New Roman"/>
                        </a:rPr>
                        <a:t>(two-stage </a:t>
                      </a:r>
                      <a:r>
                        <a:rPr sz="1700">
                          <a:latin typeface="Times New Roman"/>
                          <a:cs typeface="Times New Roman"/>
                        </a:rPr>
                        <a:t>detector),</a:t>
                      </a:r>
                      <a:r>
                        <a:rPr sz="1700" spc="-40">
                          <a:latin typeface="Times New Roman"/>
                          <a:cs typeface="Times New Roman"/>
                        </a:rPr>
                        <a:t> </a:t>
                      </a:r>
                      <a:r>
                        <a:rPr sz="1700">
                          <a:latin typeface="Times New Roman"/>
                          <a:cs typeface="Times New Roman"/>
                        </a:rPr>
                        <a:t>not</a:t>
                      </a:r>
                      <a:r>
                        <a:rPr sz="1700" spc="-40">
                          <a:latin typeface="Times New Roman"/>
                          <a:cs typeface="Times New Roman"/>
                        </a:rPr>
                        <a:t> </a:t>
                      </a:r>
                      <a:r>
                        <a:rPr sz="1700" spc="-10">
                          <a:latin typeface="Times New Roman"/>
                          <a:cs typeface="Times New Roman"/>
                        </a:rPr>
                        <a:t>suitable</a:t>
                      </a:r>
                      <a:endParaRPr sz="1700">
                        <a:latin typeface="Times New Roman"/>
                        <a:cs typeface="Times New Roman"/>
                      </a:endParaRPr>
                    </a:p>
                    <a:p>
                      <a:pPr marL="68580" marR="147955">
                        <a:lnSpc>
                          <a:spcPct val="110000"/>
                        </a:lnSpc>
                        <a:spcBef>
                          <a:spcPts val="10"/>
                        </a:spcBef>
                      </a:pPr>
                      <a:r>
                        <a:rPr sz="1700">
                          <a:latin typeface="Times New Roman"/>
                          <a:cs typeface="Times New Roman"/>
                        </a:rPr>
                        <a:t>for</a:t>
                      </a:r>
                      <a:r>
                        <a:rPr sz="1700" spc="-35">
                          <a:latin typeface="Times New Roman"/>
                          <a:cs typeface="Times New Roman"/>
                        </a:rPr>
                        <a:t> </a:t>
                      </a:r>
                      <a:r>
                        <a:rPr sz="1700">
                          <a:latin typeface="Times New Roman"/>
                          <a:cs typeface="Times New Roman"/>
                        </a:rPr>
                        <a:t>real</a:t>
                      </a:r>
                      <a:r>
                        <a:rPr sz="1700" spc="-20">
                          <a:latin typeface="Times New Roman"/>
                          <a:cs typeface="Times New Roman"/>
                        </a:rPr>
                        <a:t> </a:t>
                      </a:r>
                      <a:r>
                        <a:rPr sz="1700">
                          <a:latin typeface="Times New Roman"/>
                          <a:cs typeface="Times New Roman"/>
                        </a:rPr>
                        <a:t>time,</a:t>
                      </a:r>
                      <a:r>
                        <a:rPr sz="1700" spc="-25">
                          <a:latin typeface="Times New Roman"/>
                          <a:cs typeface="Times New Roman"/>
                        </a:rPr>
                        <a:t> </a:t>
                      </a:r>
                      <a:r>
                        <a:rPr sz="1700" spc="-10">
                          <a:latin typeface="Times New Roman"/>
                          <a:cs typeface="Times New Roman"/>
                        </a:rPr>
                        <a:t>limited </a:t>
                      </a:r>
                      <a:r>
                        <a:rPr sz="1700">
                          <a:latin typeface="Times New Roman"/>
                          <a:cs typeface="Times New Roman"/>
                        </a:rPr>
                        <a:t>small</a:t>
                      </a:r>
                      <a:r>
                        <a:rPr sz="1700" spc="-30">
                          <a:latin typeface="Times New Roman"/>
                          <a:cs typeface="Times New Roman"/>
                        </a:rPr>
                        <a:t> </a:t>
                      </a:r>
                      <a:r>
                        <a:rPr sz="1700">
                          <a:latin typeface="Times New Roman"/>
                          <a:cs typeface="Times New Roman"/>
                        </a:rPr>
                        <a:t>object</a:t>
                      </a:r>
                      <a:r>
                        <a:rPr sz="1700" spc="-35">
                          <a:latin typeface="Times New Roman"/>
                          <a:cs typeface="Times New Roman"/>
                        </a:rPr>
                        <a:t> </a:t>
                      </a:r>
                      <a:r>
                        <a:rPr sz="1700" spc="-10">
                          <a:latin typeface="Times New Roman"/>
                          <a:cs typeface="Times New Roman"/>
                        </a:rPr>
                        <a:t>handling</a:t>
                      </a:r>
                      <a:endParaRPr sz="1700">
                        <a:latin typeface="Times New Roman"/>
                        <a:cs typeface="Times New Roman"/>
                      </a:endParaRPr>
                    </a:p>
                  </a:txBody>
                  <a:tcPr marL="0" marR="0" marT="0" marB="0"/>
                </a:tc>
                <a:tc>
                  <a:txBody>
                    <a:bodyPr/>
                    <a:lstStyle/>
                    <a:p>
                      <a:pPr marL="67945" algn="just">
                        <a:lnSpc>
                          <a:spcPts val="1380"/>
                        </a:lnSpc>
                      </a:pPr>
                      <a:endParaRPr lang="en-IN" sz="1700">
                        <a:latin typeface="Times New Roman"/>
                        <a:cs typeface="Times New Roman"/>
                      </a:endParaRPr>
                    </a:p>
                    <a:p>
                      <a:pPr marL="67945" algn="just">
                        <a:lnSpc>
                          <a:spcPts val="1380"/>
                        </a:lnSpc>
                      </a:pPr>
                      <a:r>
                        <a:rPr sz="1700">
                          <a:latin typeface="Times New Roman"/>
                          <a:cs typeface="Times New Roman"/>
                        </a:rPr>
                        <a:t>Need</a:t>
                      </a:r>
                      <a:r>
                        <a:rPr sz="1700" spc="-35">
                          <a:latin typeface="Times New Roman"/>
                          <a:cs typeface="Times New Roman"/>
                        </a:rPr>
                        <a:t> </a:t>
                      </a:r>
                      <a:r>
                        <a:rPr sz="1700" spc="-25">
                          <a:latin typeface="Times New Roman"/>
                          <a:cs typeface="Times New Roman"/>
                        </a:rPr>
                        <a:t>for</a:t>
                      </a:r>
                      <a:endParaRPr sz="1700">
                        <a:latin typeface="Times New Roman"/>
                        <a:cs typeface="Times New Roman"/>
                      </a:endParaRPr>
                    </a:p>
                    <a:p>
                      <a:pPr marL="67945" marR="381000" algn="just">
                        <a:lnSpc>
                          <a:spcPct val="110000"/>
                        </a:lnSpc>
                        <a:spcBef>
                          <a:spcPts val="10"/>
                        </a:spcBef>
                      </a:pPr>
                      <a:r>
                        <a:rPr sz="1700" spc="-10">
                          <a:latin typeface="Times New Roman"/>
                          <a:cs typeface="Times New Roman"/>
                        </a:rPr>
                        <a:t>multimodal integration; </a:t>
                      </a:r>
                      <a:r>
                        <a:rPr sz="1700">
                          <a:latin typeface="Times New Roman"/>
                          <a:cs typeface="Times New Roman"/>
                        </a:rPr>
                        <a:t>need</a:t>
                      </a:r>
                      <a:r>
                        <a:rPr sz="1700" spc="-30">
                          <a:latin typeface="Times New Roman"/>
                          <a:cs typeface="Times New Roman"/>
                        </a:rPr>
                        <a:t> </a:t>
                      </a:r>
                      <a:r>
                        <a:rPr sz="1700" spc="-25">
                          <a:latin typeface="Times New Roman"/>
                          <a:cs typeface="Times New Roman"/>
                        </a:rPr>
                        <a:t>for</a:t>
                      </a:r>
                      <a:endParaRPr sz="1700">
                        <a:latin typeface="Times New Roman"/>
                        <a:cs typeface="Times New Roman"/>
                      </a:endParaRPr>
                    </a:p>
                    <a:p>
                      <a:pPr marL="67945">
                        <a:lnSpc>
                          <a:spcPct val="100000"/>
                        </a:lnSpc>
                        <a:spcBef>
                          <a:spcPts val="145"/>
                        </a:spcBef>
                      </a:pPr>
                      <a:r>
                        <a:rPr sz="1700" spc="-10">
                          <a:latin typeface="Times New Roman"/>
                          <a:cs typeface="Times New Roman"/>
                        </a:rPr>
                        <a:t>transformer-</a:t>
                      </a:r>
                      <a:endParaRPr sz="1700">
                        <a:latin typeface="Times New Roman"/>
                        <a:cs typeface="Times New Roman"/>
                      </a:endParaRPr>
                    </a:p>
                    <a:p>
                      <a:pPr marL="67945" marR="252729">
                        <a:lnSpc>
                          <a:spcPct val="110000"/>
                        </a:lnSpc>
                        <a:spcBef>
                          <a:spcPts val="10"/>
                        </a:spcBef>
                      </a:pPr>
                      <a:r>
                        <a:rPr sz="1700">
                          <a:latin typeface="Times New Roman"/>
                          <a:cs typeface="Times New Roman"/>
                        </a:rPr>
                        <a:t>based</a:t>
                      </a:r>
                      <a:r>
                        <a:rPr sz="1700" spc="-35">
                          <a:latin typeface="Times New Roman"/>
                          <a:cs typeface="Times New Roman"/>
                        </a:rPr>
                        <a:t> </a:t>
                      </a:r>
                      <a:r>
                        <a:rPr sz="1700" spc="-10">
                          <a:latin typeface="Times New Roman"/>
                          <a:cs typeface="Times New Roman"/>
                        </a:rPr>
                        <a:t>context modeling; insufficient</a:t>
                      </a:r>
                      <a:endParaRPr sz="1700">
                        <a:latin typeface="Times New Roman"/>
                        <a:cs typeface="Times New Roman"/>
                      </a:endParaRPr>
                    </a:p>
                    <a:p>
                      <a:pPr marL="67945">
                        <a:lnSpc>
                          <a:spcPct val="100000"/>
                        </a:lnSpc>
                        <a:spcBef>
                          <a:spcPts val="145"/>
                        </a:spcBef>
                      </a:pPr>
                      <a:r>
                        <a:rPr sz="1700" spc="-10">
                          <a:latin typeface="Times New Roman"/>
                          <a:cs typeface="Times New Roman"/>
                        </a:rPr>
                        <a:t>robustness</a:t>
                      </a:r>
                      <a:endParaRPr sz="1700">
                        <a:latin typeface="Times New Roman"/>
                        <a:cs typeface="Times New Roman"/>
                      </a:endParaRPr>
                    </a:p>
                    <a:p>
                      <a:pPr marL="67945" marR="521334">
                        <a:lnSpc>
                          <a:spcPct val="110100"/>
                        </a:lnSpc>
                        <a:spcBef>
                          <a:spcPts val="10"/>
                        </a:spcBef>
                      </a:pPr>
                      <a:r>
                        <a:rPr sz="1700">
                          <a:latin typeface="Times New Roman"/>
                          <a:cs typeface="Times New Roman"/>
                        </a:rPr>
                        <a:t>testing</a:t>
                      </a:r>
                      <a:r>
                        <a:rPr sz="1700" spc="-35">
                          <a:latin typeface="Times New Roman"/>
                          <a:cs typeface="Times New Roman"/>
                        </a:rPr>
                        <a:t> </a:t>
                      </a:r>
                      <a:r>
                        <a:rPr sz="1700" spc="-25">
                          <a:latin typeface="Times New Roman"/>
                          <a:cs typeface="Times New Roman"/>
                        </a:rPr>
                        <a:t>in </a:t>
                      </a:r>
                      <a:r>
                        <a:rPr sz="1700" spc="-10">
                          <a:latin typeface="Times New Roman"/>
                          <a:cs typeface="Times New Roman"/>
                        </a:rPr>
                        <a:t>extreme</a:t>
                      </a:r>
                      <a:endParaRPr sz="1700">
                        <a:latin typeface="Times New Roman"/>
                        <a:cs typeface="Times New Roman"/>
                      </a:endParaRPr>
                    </a:p>
                    <a:p>
                      <a:pPr marL="67945">
                        <a:lnSpc>
                          <a:spcPct val="100000"/>
                        </a:lnSpc>
                        <a:spcBef>
                          <a:spcPts val="145"/>
                        </a:spcBef>
                      </a:pPr>
                      <a:r>
                        <a:rPr sz="1700" spc="-10">
                          <a:latin typeface="Times New Roman"/>
                          <a:cs typeface="Times New Roman"/>
                        </a:rPr>
                        <a:t>camouflage;</a:t>
                      </a:r>
                      <a:endParaRPr sz="1700">
                        <a:latin typeface="Times New Roman"/>
                        <a:cs typeface="Times New Roman"/>
                      </a:endParaRPr>
                    </a:p>
                    <a:p>
                      <a:pPr marL="67945" marR="112395">
                        <a:lnSpc>
                          <a:spcPts val="1600"/>
                        </a:lnSpc>
                        <a:spcBef>
                          <a:spcPts val="65"/>
                        </a:spcBef>
                      </a:pPr>
                      <a:r>
                        <a:rPr sz="1700">
                          <a:latin typeface="Times New Roman"/>
                          <a:cs typeface="Times New Roman"/>
                        </a:rPr>
                        <a:t>lack</a:t>
                      </a:r>
                      <a:r>
                        <a:rPr sz="1700" spc="-20">
                          <a:latin typeface="Times New Roman"/>
                          <a:cs typeface="Times New Roman"/>
                        </a:rPr>
                        <a:t> </a:t>
                      </a:r>
                      <a:r>
                        <a:rPr sz="1700">
                          <a:latin typeface="Times New Roman"/>
                          <a:cs typeface="Times New Roman"/>
                        </a:rPr>
                        <a:t>of</a:t>
                      </a:r>
                      <a:r>
                        <a:rPr sz="1700" spc="-15">
                          <a:latin typeface="Times New Roman"/>
                          <a:cs typeface="Times New Roman"/>
                        </a:rPr>
                        <a:t> </a:t>
                      </a:r>
                      <a:r>
                        <a:rPr sz="1700" spc="-10">
                          <a:latin typeface="Times New Roman"/>
                          <a:cs typeface="Times New Roman"/>
                        </a:rPr>
                        <a:t>adaptive feature</a:t>
                      </a:r>
                      <a:endParaRPr sz="1700">
                        <a:latin typeface="Times New Roman"/>
                        <a:cs typeface="Times New Roman"/>
                      </a:endParaRPr>
                    </a:p>
                    <a:p>
                      <a:pPr marL="67945">
                        <a:lnSpc>
                          <a:spcPct val="100000"/>
                        </a:lnSpc>
                        <a:spcBef>
                          <a:spcPts val="60"/>
                        </a:spcBef>
                      </a:pPr>
                      <a:r>
                        <a:rPr sz="1700" spc="-10">
                          <a:latin typeface="Times New Roman"/>
                          <a:cs typeface="Times New Roman"/>
                        </a:rPr>
                        <a:t>amplification;</a:t>
                      </a:r>
                      <a:endParaRPr sz="1700">
                        <a:latin typeface="Times New Roman"/>
                        <a:cs typeface="Times New Roman"/>
                      </a:endParaRPr>
                    </a:p>
                    <a:p>
                      <a:pPr marL="67945" marR="400685" algn="just">
                        <a:lnSpc>
                          <a:spcPct val="110000"/>
                        </a:lnSpc>
                      </a:pPr>
                      <a:r>
                        <a:rPr sz="1700">
                          <a:latin typeface="Times New Roman"/>
                          <a:cs typeface="Times New Roman"/>
                        </a:rPr>
                        <a:t>absence</a:t>
                      </a:r>
                      <a:r>
                        <a:rPr sz="1700" spc="-60">
                          <a:latin typeface="Times New Roman"/>
                          <a:cs typeface="Times New Roman"/>
                        </a:rPr>
                        <a:t> </a:t>
                      </a:r>
                      <a:r>
                        <a:rPr sz="1700" spc="-25">
                          <a:latin typeface="Times New Roman"/>
                          <a:cs typeface="Times New Roman"/>
                        </a:rPr>
                        <a:t>of </a:t>
                      </a:r>
                      <a:r>
                        <a:rPr sz="1700" spc="-10">
                          <a:latin typeface="Times New Roman"/>
                          <a:cs typeface="Times New Roman"/>
                        </a:rPr>
                        <a:t>scene-level reasoning</a:t>
                      </a:r>
                      <a:endParaRPr sz="1700">
                        <a:latin typeface="Times New Roman"/>
                        <a:cs typeface="Times New Roman"/>
                      </a:endParaRPr>
                    </a:p>
                    <a:p>
                      <a:pPr marL="67945">
                        <a:lnSpc>
                          <a:spcPct val="100000"/>
                        </a:lnSpc>
                        <a:spcBef>
                          <a:spcPts val="155"/>
                        </a:spcBef>
                      </a:pPr>
                      <a:r>
                        <a:rPr sz="1700" spc="-10">
                          <a:latin typeface="Times New Roman"/>
                          <a:cs typeface="Times New Roman"/>
                        </a:rPr>
                        <a:t>modules.</a:t>
                      </a:r>
                      <a:endParaRPr sz="1700">
                        <a:latin typeface="Times New Roman"/>
                        <a:cs typeface="Times New Roman"/>
                      </a:endParaRPr>
                    </a:p>
                  </a:txBody>
                  <a:tcPr marL="0" marR="0" marT="0" marB="0"/>
                </a:tc>
                <a:tc>
                  <a:txBody>
                    <a:bodyPr/>
                    <a:lstStyle/>
                    <a:p>
                      <a:pPr algn="ctr">
                        <a:lnSpc>
                          <a:spcPts val="1380"/>
                        </a:lnSpc>
                      </a:pPr>
                      <a:endParaRPr lang="en-IN" sz="1700" spc="-20">
                        <a:latin typeface="Times New Roman"/>
                        <a:cs typeface="Times New Roman"/>
                      </a:endParaRPr>
                    </a:p>
                    <a:p>
                      <a:pPr algn="ctr">
                        <a:lnSpc>
                          <a:spcPts val="1380"/>
                        </a:lnSpc>
                      </a:pPr>
                      <a:endParaRPr lang="en-IN" sz="1700" spc="-20">
                        <a:latin typeface="Times New Roman"/>
                        <a:cs typeface="Times New Roman"/>
                      </a:endParaRPr>
                    </a:p>
                    <a:p>
                      <a:pPr algn="ctr">
                        <a:lnSpc>
                          <a:spcPts val="1380"/>
                        </a:lnSpc>
                      </a:pPr>
                      <a:endParaRPr lang="en-IN" sz="1700" spc="-20">
                        <a:latin typeface="Times New Roman"/>
                        <a:cs typeface="Times New Roman"/>
                      </a:endParaRPr>
                    </a:p>
                    <a:p>
                      <a:pPr algn="ctr">
                        <a:lnSpc>
                          <a:spcPts val="1380"/>
                        </a:lnSpc>
                      </a:pPr>
                      <a:endParaRPr lang="en-IN" sz="1700" spc="-20">
                        <a:latin typeface="Times New Roman"/>
                        <a:cs typeface="Times New Roman"/>
                      </a:endParaRPr>
                    </a:p>
                    <a:p>
                      <a:pPr algn="ctr">
                        <a:lnSpc>
                          <a:spcPts val="1380"/>
                        </a:lnSpc>
                      </a:pPr>
                      <a:endParaRPr lang="en-IN" sz="1700" spc="-20">
                        <a:latin typeface="Times New Roman"/>
                        <a:cs typeface="Times New Roman"/>
                      </a:endParaRPr>
                    </a:p>
                    <a:p>
                      <a:pPr algn="ctr">
                        <a:lnSpc>
                          <a:spcPts val="1380"/>
                        </a:lnSpc>
                      </a:pPr>
                      <a:endParaRPr lang="en-IN" sz="1700" spc="-20">
                        <a:latin typeface="Times New Roman"/>
                        <a:cs typeface="Times New Roman"/>
                      </a:endParaRPr>
                    </a:p>
                    <a:p>
                      <a:pPr algn="ctr">
                        <a:lnSpc>
                          <a:spcPts val="1380"/>
                        </a:lnSpc>
                      </a:pPr>
                      <a:r>
                        <a:rPr sz="1700" spc="-20">
                          <a:latin typeface="Times New Roman"/>
                          <a:cs typeface="Times New Roman"/>
                        </a:rPr>
                        <a:t>2025</a:t>
                      </a:r>
                      <a:endParaRPr sz="1700">
                        <a:latin typeface="Times New Roman"/>
                        <a:cs typeface="Times New Roman"/>
                      </a:endParaRPr>
                    </a:p>
                  </a:txBody>
                  <a:tcPr marL="0" marR="0" marT="0" marB="0"/>
                </a:tc>
                <a:extLst>
                  <a:ext uri="{0D108BD9-81ED-4DB2-BD59-A6C34878D82A}">
                    <a16:rowId xmlns:a16="http://schemas.microsoft.com/office/drawing/2014/main" val="274513387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9F778E5A-2933-68FC-8109-919D71227F7E}"/>
              </a:ext>
            </a:extLst>
          </p:cNvPr>
          <p:cNvSpPr txBox="1">
            <a:spLocks noGrp="1"/>
          </p:cNvSpPr>
          <p:nvPr>
            <p:ph type="title"/>
          </p:nvPr>
        </p:nvSpPr>
        <p:spPr>
          <a:xfrm>
            <a:off x="2848973" y="189970"/>
            <a:ext cx="6474460" cy="536575"/>
          </a:xfrm>
          <a:prstGeom prst="rect">
            <a:avLst/>
          </a:prstGeom>
        </p:spPr>
        <p:txBody>
          <a:bodyPr vert="horz" wrap="square" lIns="0" tIns="13335" rIns="0" bIns="0" rtlCol="0">
            <a:spAutoFit/>
          </a:bodyPr>
          <a:lstStyle/>
          <a:p>
            <a:pPr marL="12700">
              <a:lnSpc>
                <a:spcPct val="100000"/>
              </a:lnSpc>
              <a:spcBef>
                <a:spcPts val="105"/>
              </a:spcBef>
              <a:tabLst>
                <a:tab pos="2883535" algn="l"/>
              </a:tabLst>
            </a:pPr>
            <a:r>
              <a:rPr sz="3350" spc="-10"/>
              <a:t>LITERATURE</a:t>
            </a:r>
            <a:r>
              <a:rPr sz="3350"/>
              <a:t>	SURVEY</a:t>
            </a:r>
            <a:r>
              <a:rPr sz="3350" spc="25"/>
              <a:t> </a:t>
            </a:r>
            <a:r>
              <a:rPr sz="3350" spc="130"/>
              <a:t>CONT....</a:t>
            </a:r>
            <a:endParaRPr sz="3350"/>
          </a:p>
        </p:txBody>
      </p:sp>
      <p:graphicFrame>
        <p:nvGraphicFramePr>
          <p:cNvPr id="5" name="Table 4">
            <a:extLst>
              <a:ext uri="{FF2B5EF4-FFF2-40B4-BE49-F238E27FC236}">
                <a16:creationId xmlns:a16="http://schemas.microsoft.com/office/drawing/2014/main" id="{ADA1F527-328B-F136-0832-2DD21B2A9271}"/>
              </a:ext>
            </a:extLst>
          </p:cNvPr>
          <p:cNvGraphicFramePr>
            <a:graphicFrameLocks noGrp="1"/>
          </p:cNvGraphicFramePr>
          <p:nvPr>
            <p:extLst>
              <p:ext uri="{D42A27DB-BD31-4B8C-83A1-F6EECF244321}">
                <p14:modId xmlns:p14="http://schemas.microsoft.com/office/powerpoint/2010/main" val="3950195729"/>
              </p:ext>
            </p:extLst>
          </p:nvPr>
        </p:nvGraphicFramePr>
        <p:xfrm>
          <a:off x="739661" y="914400"/>
          <a:ext cx="10712677" cy="5403075"/>
        </p:xfrm>
        <a:graphic>
          <a:graphicData uri="http://schemas.openxmlformats.org/drawingml/2006/table">
            <a:tbl>
              <a:tblPr firstRow="1" bandRow="1">
                <a:tableStyleId>{5C22544A-7EE6-4342-B048-85BDC9FD1C3A}</a:tableStyleId>
              </a:tblPr>
              <a:tblGrid>
                <a:gridCol w="1066801">
                  <a:extLst>
                    <a:ext uri="{9D8B030D-6E8A-4147-A177-3AD203B41FA5}">
                      <a16:colId xmlns:a16="http://schemas.microsoft.com/office/drawing/2014/main" val="1227485370"/>
                    </a:ext>
                  </a:extLst>
                </a:gridCol>
                <a:gridCol w="1828800">
                  <a:extLst>
                    <a:ext uri="{9D8B030D-6E8A-4147-A177-3AD203B41FA5}">
                      <a16:colId xmlns:a16="http://schemas.microsoft.com/office/drawing/2014/main" val="3278785917"/>
                    </a:ext>
                  </a:extLst>
                </a:gridCol>
                <a:gridCol w="2590800">
                  <a:extLst>
                    <a:ext uri="{9D8B030D-6E8A-4147-A177-3AD203B41FA5}">
                      <a16:colId xmlns:a16="http://schemas.microsoft.com/office/drawing/2014/main" val="2705291310"/>
                    </a:ext>
                  </a:extLst>
                </a:gridCol>
                <a:gridCol w="2057400">
                  <a:extLst>
                    <a:ext uri="{9D8B030D-6E8A-4147-A177-3AD203B41FA5}">
                      <a16:colId xmlns:a16="http://schemas.microsoft.com/office/drawing/2014/main" val="3659209749"/>
                    </a:ext>
                  </a:extLst>
                </a:gridCol>
                <a:gridCol w="1828800">
                  <a:extLst>
                    <a:ext uri="{9D8B030D-6E8A-4147-A177-3AD203B41FA5}">
                      <a16:colId xmlns:a16="http://schemas.microsoft.com/office/drawing/2014/main" val="3968197652"/>
                    </a:ext>
                  </a:extLst>
                </a:gridCol>
                <a:gridCol w="1340076">
                  <a:extLst>
                    <a:ext uri="{9D8B030D-6E8A-4147-A177-3AD203B41FA5}">
                      <a16:colId xmlns:a16="http://schemas.microsoft.com/office/drawing/2014/main" val="1922085330"/>
                    </a:ext>
                  </a:extLst>
                </a:gridCol>
              </a:tblGrid>
              <a:tr h="649528">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dirty="0" err="1">
                          <a:solidFill>
                            <a:schemeClr val="tx1"/>
                          </a:solidFill>
                          <a:latin typeface="Times New Roman"/>
                          <a:cs typeface="Times New Roman"/>
                        </a:rPr>
                        <a:t>S.No</a:t>
                      </a:r>
                      <a:endParaRPr sz="1800" dirty="0" err="1">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93980">
                        <a:lnSpc>
                          <a:spcPct val="100000"/>
                        </a:lnSpc>
                      </a:pPr>
                      <a:r>
                        <a:rPr sz="1800" b="1">
                          <a:solidFill>
                            <a:schemeClr val="tx1"/>
                          </a:solidFill>
                          <a:latin typeface="Times New Roman"/>
                          <a:cs typeface="Times New Roman"/>
                        </a:rPr>
                        <a:t>Paper</a:t>
                      </a:r>
                      <a:r>
                        <a:rPr sz="1800" b="1" spc="-75" dirty="0">
                          <a:solidFill>
                            <a:schemeClr val="tx1"/>
                          </a:solidFill>
                          <a:latin typeface="Times New Roman"/>
                          <a:cs typeface="Times New Roman"/>
                        </a:rPr>
                        <a:t> </a:t>
                      </a:r>
                      <a:r>
                        <a:rPr sz="1800" b="1" spc="-10">
                          <a:solidFill>
                            <a:schemeClr val="tx1"/>
                          </a:solidFill>
                          <a:latin typeface="Times New Roman"/>
                          <a:cs typeface="Times New Roman"/>
                        </a:rPr>
                        <a:t>Title</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286385">
                        <a:lnSpc>
                          <a:spcPct val="100000"/>
                        </a:lnSpc>
                      </a:pPr>
                      <a:r>
                        <a:rPr sz="1800" b="1" spc="-10">
                          <a:solidFill>
                            <a:schemeClr val="tx1"/>
                          </a:solidFill>
                          <a:latin typeface="Times New Roman"/>
                          <a:cs typeface="Times New Roman"/>
                        </a:rPr>
                        <a:t>Methodology</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361315">
                        <a:lnSpc>
                          <a:spcPct val="100000"/>
                        </a:lnSpc>
                      </a:pPr>
                      <a:r>
                        <a:rPr sz="1800" b="1" spc="-10">
                          <a:solidFill>
                            <a:schemeClr val="tx1"/>
                          </a:solidFill>
                          <a:latin typeface="Times New Roman"/>
                          <a:cs typeface="Times New Roman"/>
                        </a:rPr>
                        <a:t>Limitations</a:t>
                      </a:r>
                      <a:endParaRPr sz="1800">
                        <a:solidFill>
                          <a:schemeClr val="tx1"/>
                        </a:solidFill>
                        <a:latin typeface="Times New Roman"/>
                        <a:cs typeface="Times New Roman"/>
                      </a:endParaRPr>
                    </a:p>
                  </a:txBody>
                  <a:tcPr marL="0" marR="0" marT="5715" marB="0"/>
                </a:tc>
                <a:tc>
                  <a:txBody>
                    <a:bodyPr/>
                    <a:lstStyle/>
                    <a:p>
                      <a:pPr marL="261620" marR="85725" indent="-169545" algn="ctr">
                        <a:lnSpc>
                          <a:spcPts val="1380"/>
                        </a:lnSpc>
                        <a:spcBef>
                          <a:spcPts val="840"/>
                        </a:spcBef>
                      </a:pPr>
                      <a:r>
                        <a:rPr lang="en-IN" sz="1800" b="1" spc="-10" dirty="0">
                          <a:solidFill>
                            <a:schemeClr val="tx1"/>
                          </a:solidFill>
                          <a:latin typeface="Times New Roman"/>
                          <a:cs typeface="Times New Roman"/>
                        </a:rPr>
                        <a:t>   </a:t>
                      </a:r>
                      <a:r>
                        <a:rPr sz="1800" b="1" spc="-10">
                          <a:solidFill>
                            <a:schemeClr val="tx1"/>
                          </a:solidFill>
                          <a:latin typeface="Times New Roman"/>
                          <a:cs typeface="Times New Roman"/>
                        </a:rPr>
                        <a:t>Research</a:t>
                      </a:r>
                      <a:r>
                        <a:rPr sz="1800" b="1" spc="-5" dirty="0">
                          <a:solidFill>
                            <a:schemeClr val="tx1"/>
                          </a:solidFill>
                          <a:latin typeface="Times New Roman"/>
                          <a:cs typeface="Times New Roman"/>
                        </a:rPr>
                        <a:t> </a:t>
                      </a:r>
                      <a:r>
                        <a:rPr sz="1800" b="1" spc="-20">
                          <a:solidFill>
                            <a:schemeClr val="tx1"/>
                          </a:solidFill>
                          <a:latin typeface="Times New Roman"/>
                          <a:cs typeface="Times New Roman"/>
                        </a:rPr>
                        <a:t>Gaps </a:t>
                      </a:r>
                      <a:r>
                        <a:rPr sz="1800" b="1" spc="-10">
                          <a:solidFill>
                            <a:schemeClr val="tx1"/>
                          </a:solidFill>
                          <a:latin typeface="Times New Roman"/>
                          <a:cs typeface="Times New Roman"/>
                        </a:rPr>
                        <a:t>Identified</a:t>
                      </a:r>
                      <a:endParaRPr sz="1800">
                        <a:solidFill>
                          <a:schemeClr val="tx1"/>
                        </a:solidFill>
                        <a:latin typeface="Times New Roman"/>
                        <a:cs typeface="Times New Roman"/>
                      </a:endParaRPr>
                    </a:p>
                  </a:txBody>
                  <a:tcPr marL="0" marR="0" marT="106680" marB="0"/>
                </a:tc>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Year</a:t>
                      </a:r>
                      <a:endParaRPr sz="1800">
                        <a:solidFill>
                          <a:schemeClr val="tx1"/>
                        </a:solidFill>
                        <a:latin typeface="Times New Roman"/>
                        <a:cs typeface="Times New Roman"/>
                      </a:endParaRPr>
                    </a:p>
                  </a:txBody>
                  <a:tcPr marL="0" marR="0" marT="5715" marB="0"/>
                </a:tc>
                <a:extLst>
                  <a:ext uri="{0D108BD9-81ED-4DB2-BD59-A6C34878D82A}">
                    <a16:rowId xmlns:a16="http://schemas.microsoft.com/office/drawing/2014/main" val="3508376306"/>
                  </a:ext>
                </a:extLst>
              </a:tr>
              <a:tr h="4753547">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190"/>
                        </a:spcBef>
                      </a:pPr>
                      <a:endParaRPr sz="1800">
                        <a:latin typeface="Times New Roman"/>
                        <a:cs typeface="Times New Roman"/>
                      </a:endParaRPr>
                    </a:p>
                    <a:p>
                      <a:pPr algn="ctr">
                        <a:lnSpc>
                          <a:spcPct val="100000"/>
                        </a:lnSpc>
                      </a:pPr>
                      <a:r>
                        <a:rPr lang="en-IN" sz="1800" spc="-50">
                          <a:latin typeface="Times New Roman"/>
                          <a:cs typeface="Times New Roman"/>
                        </a:rPr>
                        <a:t>4</a:t>
                      </a:r>
                      <a:endParaRPr sz="1800">
                        <a:latin typeface="Times New Roman"/>
                        <a:cs typeface="Times New Roman"/>
                      </a:endParaRPr>
                    </a:p>
                  </a:txBody>
                  <a:tcPr marL="0" marR="0" marT="0" marB="0"/>
                </a:tc>
                <a:tc>
                  <a:txBody>
                    <a:bodyPr/>
                    <a:lstStyle/>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lvl="0" algn="just">
                        <a:lnSpc>
                          <a:spcPts val="1380"/>
                        </a:lnSpc>
                        <a:buNone/>
                      </a:pPr>
                      <a:r>
                        <a:rPr lang="en-US" sz="1800" b="0" i="0" u="none" strike="noStrike" spc="-10" noProof="0">
                          <a:solidFill>
                            <a:schemeClr val="tx1"/>
                          </a:solidFill>
                          <a:latin typeface="Times New Roman"/>
                          <a:cs typeface="Times New Roman"/>
                        </a:rPr>
                        <a:t>Camouflage</a:t>
                      </a:r>
                      <a:endParaRPr lang="en-US" sz="1800" b="0" i="0" u="none" strike="noStrike" spc="-10" noProof="0">
                        <a:solidFill>
                          <a:srgbClr val="000000"/>
                        </a:solidFill>
                        <a:latin typeface="Times New Roman"/>
                        <a:cs typeface="Times New Roman"/>
                      </a:endParaRPr>
                    </a:p>
                    <a:p>
                      <a:pPr marL="67945" lvl="0" algn="just">
                        <a:lnSpc>
                          <a:spcPct val="100000"/>
                        </a:lnSpc>
                        <a:spcBef>
                          <a:spcPts val="145"/>
                        </a:spcBef>
                        <a:buNone/>
                      </a:pPr>
                      <a:r>
                        <a:rPr lang="en-US" sz="1800" b="0" i="0" u="none" strike="noStrike" spc="-10" noProof="0">
                          <a:solidFill>
                            <a:schemeClr val="tx1"/>
                          </a:solidFill>
                          <a:latin typeface="Times New Roman"/>
                          <a:cs typeface="Times New Roman"/>
                        </a:rPr>
                        <a:t>d Object</a:t>
                      </a:r>
                      <a:endParaRPr lang="en-US" sz="1800" b="0" i="0" u="none" strike="noStrike" spc="-10" noProof="0">
                        <a:solidFill>
                          <a:srgbClr val="000000"/>
                        </a:solidFill>
                        <a:latin typeface="Times New Roman"/>
                        <a:cs typeface="Times New Roman"/>
                      </a:endParaRPr>
                    </a:p>
                    <a:p>
                      <a:pPr marL="67945" marR="245745" lvl="0" algn="just">
                        <a:lnSpc>
                          <a:spcPct val="110000"/>
                        </a:lnSpc>
                        <a:spcBef>
                          <a:spcPts val="10"/>
                        </a:spcBef>
                        <a:buNone/>
                      </a:pPr>
                      <a:r>
                        <a:rPr lang="en-US" sz="1800" b="0" i="0" u="none" strike="noStrike" spc="-10" noProof="0">
                          <a:solidFill>
                            <a:schemeClr val="tx1"/>
                          </a:solidFill>
                          <a:latin typeface="Times New Roman"/>
                          <a:cs typeface="Times New Roman"/>
                        </a:rPr>
                        <a:t>Detection Using Hybrid- Deep</a:t>
                      </a:r>
                      <a:endParaRPr lang="en-US" sz="1800" b="0" i="0" u="none" strike="noStrike" spc="-10" noProof="0">
                        <a:solidFill>
                          <a:srgbClr val="000000"/>
                        </a:solidFill>
                        <a:latin typeface="Times New Roman"/>
                        <a:cs typeface="Times New Roman"/>
                      </a:endParaRPr>
                    </a:p>
                    <a:p>
                      <a:pPr marL="67945" marR="288925" lvl="0" algn="just">
                        <a:lnSpc>
                          <a:spcPct val="110000"/>
                        </a:lnSpc>
                        <a:spcBef>
                          <a:spcPts val="15"/>
                        </a:spcBef>
                        <a:buNone/>
                      </a:pPr>
                      <a:r>
                        <a:rPr lang="en-US" sz="1800" b="0" i="0" u="none" strike="noStrike" spc="-10" noProof="0">
                          <a:solidFill>
                            <a:schemeClr val="tx1"/>
                          </a:solidFill>
                          <a:latin typeface="Times New Roman"/>
                          <a:cs typeface="Times New Roman"/>
                        </a:rPr>
                        <a:t>Learning Model</a:t>
                      </a:r>
                      <a:endParaRPr/>
                    </a:p>
                  </a:txBody>
                  <a:tcPr marL="0" marR="0" marT="0" marB="0"/>
                </a:tc>
                <a:tc>
                  <a:txBody>
                    <a:bodyPr/>
                    <a:lstStyle/>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lvl="0" algn="just">
                        <a:lnSpc>
                          <a:spcPts val="1380"/>
                        </a:lnSpc>
                        <a:buNone/>
                      </a:pPr>
                      <a:r>
                        <a:rPr lang="en-IN" sz="1800" b="0" i="0" u="none" strike="noStrike" noProof="0">
                          <a:solidFill>
                            <a:schemeClr val="tx1"/>
                          </a:solidFill>
                          <a:latin typeface="Times New Roman"/>
                          <a:cs typeface="Times New Roman"/>
                        </a:rPr>
                        <a:t>The model combines</a:t>
                      </a:r>
                      <a:endParaRPr lang="en-IN" sz="1800" b="0" i="0" u="none" strike="noStrike" noProof="0">
                        <a:solidFill>
                          <a:srgbClr val="000000"/>
                        </a:solidFill>
                        <a:latin typeface="Times New Roman"/>
                        <a:cs typeface="Times New Roman"/>
                      </a:endParaRPr>
                    </a:p>
                    <a:p>
                      <a:pPr marL="68580" marR="144145" lvl="0" algn="just">
                        <a:lnSpc>
                          <a:spcPts val="1600"/>
                        </a:lnSpc>
                        <a:spcBef>
                          <a:spcPts val="65"/>
                        </a:spcBef>
                        <a:buNone/>
                      </a:pPr>
                      <a:r>
                        <a:rPr lang="en-IN" sz="1800" b="0" i="0" u="none" strike="noStrike" noProof="0">
                          <a:solidFill>
                            <a:schemeClr val="tx1"/>
                          </a:solidFill>
                          <a:latin typeface="Times New Roman"/>
                          <a:cs typeface="Times New Roman"/>
                        </a:rPr>
                        <a:t>a Swin Transformer backbone with</a:t>
                      </a:r>
                      <a:endParaRPr lang="en-IN" sz="1800" b="0" i="0" u="none" strike="noStrike" noProof="0">
                        <a:solidFill>
                          <a:srgbClr val="000000"/>
                        </a:solidFill>
                        <a:latin typeface="Times New Roman"/>
                        <a:cs typeface="Times New Roman"/>
                      </a:endParaRPr>
                    </a:p>
                    <a:p>
                      <a:pPr marL="68580" lvl="0" algn="just">
                        <a:lnSpc>
                          <a:spcPct val="100000"/>
                        </a:lnSpc>
                        <a:spcBef>
                          <a:spcPts val="60"/>
                        </a:spcBef>
                        <a:buNone/>
                      </a:pPr>
                      <a:r>
                        <a:rPr lang="en-IN" sz="1800" b="0" i="0" u="none" strike="noStrike" noProof="0">
                          <a:solidFill>
                            <a:schemeClr val="tx1"/>
                          </a:solidFill>
                          <a:latin typeface="Times New Roman"/>
                          <a:cs typeface="Times New Roman"/>
                        </a:rPr>
                        <a:t>Enhanced Receptive</a:t>
                      </a:r>
                      <a:endParaRPr lang="en-IN" sz="1800" b="0" i="0" u="none" strike="noStrike" noProof="0">
                        <a:solidFill>
                          <a:srgbClr val="000000"/>
                        </a:solidFill>
                        <a:latin typeface="Times New Roman"/>
                        <a:cs typeface="Times New Roman"/>
                      </a:endParaRPr>
                    </a:p>
                    <a:p>
                      <a:pPr marL="68580" marR="65405" lvl="0" algn="just">
                        <a:lnSpc>
                          <a:spcPct val="110000"/>
                        </a:lnSpc>
                        <a:buNone/>
                      </a:pPr>
                      <a:r>
                        <a:rPr lang="en-IN" sz="1800" b="0" i="0" u="none" strike="noStrike" noProof="0" dirty="0">
                          <a:solidFill>
                            <a:schemeClr val="tx1"/>
                          </a:solidFill>
                          <a:latin typeface="Times New Roman"/>
                          <a:cs typeface="Times New Roman"/>
                        </a:rPr>
                        <a:t>Field (ERF) modules and </a:t>
                      </a:r>
                      <a:r>
                        <a:rPr lang="en-IN" sz="1800" b="0" i="0" u="none" strike="noStrike" noProof="0" dirty="0" err="1">
                          <a:solidFill>
                            <a:schemeClr val="tx1"/>
                          </a:solidFill>
                          <a:latin typeface="Times New Roman"/>
                          <a:cs typeface="Times New Roman"/>
                        </a:rPr>
                        <a:t>CrossScale</a:t>
                      </a:r>
                      <a:endParaRPr lang="en-IN" sz="1800" b="0" i="0" u="none" strike="noStrike" noProof="0" dirty="0" err="1">
                        <a:solidFill>
                          <a:srgbClr val="000000"/>
                        </a:solidFill>
                        <a:latin typeface="Times New Roman"/>
                        <a:cs typeface="Times New Roman"/>
                      </a:endParaRPr>
                    </a:p>
                    <a:p>
                      <a:pPr marL="68580" marR="252095" lvl="0" algn="just">
                        <a:lnSpc>
                          <a:spcPct val="110000"/>
                        </a:lnSpc>
                        <a:spcBef>
                          <a:spcPts val="15"/>
                        </a:spcBef>
                        <a:buNone/>
                      </a:pPr>
                      <a:r>
                        <a:rPr lang="en-IN" sz="1800" b="0" i="0" u="none" strike="noStrike" noProof="0">
                          <a:solidFill>
                            <a:schemeClr val="tx1"/>
                          </a:solidFill>
                          <a:latin typeface="Times New Roman"/>
                          <a:cs typeface="Times New Roman"/>
                        </a:rPr>
                        <a:t>Feature Fusion (CSFF) to capture multi-scale</a:t>
                      </a:r>
                      <a:endParaRPr lang="en-IN" sz="1800" b="0" i="0" u="none" strike="noStrike" noProof="0">
                        <a:solidFill>
                          <a:srgbClr val="000000"/>
                        </a:solidFill>
                        <a:latin typeface="Times New Roman"/>
                        <a:cs typeface="Times New Roman"/>
                      </a:endParaRPr>
                    </a:p>
                    <a:p>
                      <a:pPr marL="68580" marR="199390" lvl="0" algn="just">
                        <a:lnSpc>
                          <a:spcPts val="1600"/>
                        </a:lnSpc>
                        <a:spcBef>
                          <a:spcPts val="60"/>
                        </a:spcBef>
                        <a:buNone/>
                      </a:pPr>
                      <a:r>
                        <a:rPr lang="en-IN" sz="1800" b="0" i="0" u="none" strike="noStrike" noProof="0" dirty="0">
                          <a:solidFill>
                            <a:schemeClr val="tx1"/>
                          </a:solidFill>
                          <a:latin typeface="Times New Roman"/>
                          <a:cs typeface="Times New Roman"/>
                        </a:rPr>
                        <a:t>contextual features for accurate</a:t>
                      </a:r>
                      <a:endParaRPr lang="en-IN" sz="1800" b="0" i="0" u="none" strike="noStrike" noProof="0" dirty="0">
                        <a:solidFill>
                          <a:srgbClr val="000000"/>
                        </a:solidFill>
                        <a:latin typeface="Times New Roman"/>
                        <a:cs typeface="Times New Roman"/>
                      </a:endParaRPr>
                    </a:p>
                    <a:p>
                      <a:pPr marL="68580" lvl="0" algn="just">
                        <a:lnSpc>
                          <a:spcPct val="100000"/>
                        </a:lnSpc>
                        <a:spcBef>
                          <a:spcPts val="60"/>
                        </a:spcBef>
                        <a:buNone/>
                      </a:pPr>
                      <a:r>
                        <a:rPr lang="en-IN" sz="1800" b="0" i="0" u="none" strike="noStrike" noProof="0">
                          <a:solidFill>
                            <a:schemeClr val="tx1"/>
                          </a:solidFill>
                          <a:latin typeface="Times New Roman"/>
                          <a:cs typeface="Times New Roman"/>
                        </a:rPr>
                        <a:t>camouflaged object</a:t>
                      </a:r>
                      <a:endParaRPr lang="en-IN" sz="1800" b="0" i="0" u="none" strike="noStrike" noProof="0">
                        <a:solidFill>
                          <a:srgbClr val="000000"/>
                        </a:solidFill>
                        <a:latin typeface="Times New Roman"/>
                        <a:cs typeface="Times New Roman"/>
                      </a:endParaRPr>
                    </a:p>
                    <a:p>
                      <a:pPr marL="68580" lvl="0" algn="just">
                        <a:lnSpc>
                          <a:spcPct val="100000"/>
                        </a:lnSpc>
                        <a:spcBef>
                          <a:spcPts val="145"/>
                        </a:spcBef>
                        <a:buNone/>
                      </a:pPr>
                      <a:r>
                        <a:rPr lang="en-IN" sz="1800" b="0" i="0" u="none" strike="noStrike" noProof="0">
                          <a:solidFill>
                            <a:schemeClr val="tx1"/>
                          </a:solidFill>
                          <a:latin typeface="Times New Roman"/>
                          <a:cs typeface="Times New Roman"/>
                        </a:rPr>
                        <a:t>segmentation.</a:t>
                      </a:r>
                      <a:endParaRPr/>
                    </a:p>
                  </a:txBody>
                  <a:tcPr marL="0" marR="0" marT="0" marB="0"/>
                </a:tc>
                <a:tc>
                  <a:txBody>
                    <a:bodyPr/>
                    <a:lstStyle/>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6675" lvl="0" algn="just">
                        <a:lnSpc>
                          <a:spcPts val="1380"/>
                        </a:lnSpc>
                        <a:buNone/>
                      </a:pPr>
                      <a:r>
                        <a:rPr lang="en-US" sz="1800" b="0" i="0" u="none" strike="noStrike" spc="-25" noProof="0">
                          <a:solidFill>
                            <a:schemeClr val="tx1"/>
                          </a:solidFill>
                          <a:latin typeface="Times New Roman"/>
                          <a:cs typeface="Times New Roman"/>
                        </a:rPr>
                        <a:t>Complex multi-</a:t>
                      </a:r>
                      <a:endParaRPr lang="en-US" sz="1800" b="0" i="0" u="none" strike="noStrike" spc="-25" noProof="0">
                        <a:solidFill>
                          <a:srgbClr val="000000"/>
                        </a:solidFill>
                        <a:latin typeface="Times New Roman"/>
                        <a:cs typeface="Times New Roman"/>
                      </a:endParaRPr>
                    </a:p>
                    <a:p>
                      <a:pPr marL="66675" lvl="0" algn="just">
                        <a:lnSpc>
                          <a:spcPct val="100000"/>
                        </a:lnSpc>
                        <a:spcBef>
                          <a:spcPts val="145"/>
                        </a:spcBef>
                        <a:buNone/>
                      </a:pPr>
                      <a:r>
                        <a:rPr lang="en-US" sz="1800" b="0" i="0" u="none" strike="noStrike" spc="-25" noProof="0">
                          <a:solidFill>
                            <a:schemeClr val="tx1"/>
                          </a:solidFill>
                          <a:latin typeface="Times New Roman"/>
                          <a:cs typeface="Times New Roman"/>
                        </a:rPr>
                        <a:t>module pipeline;</a:t>
                      </a:r>
                      <a:endParaRPr lang="en-US" sz="1800" b="0" i="0" u="none" strike="noStrike" spc="-25" noProof="0">
                        <a:solidFill>
                          <a:srgbClr val="000000"/>
                        </a:solidFill>
                        <a:latin typeface="Times New Roman"/>
                        <a:cs typeface="Times New Roman"/>
                      </a:endParaRPr>
                    </a:p>
                    <a:p>
                      <a:pPr marL="66675" marR="105410" lvl="0" algn="just">
                        <a:lnSpc>
                          <a:spcPct val="110000"/>
                        </a:lnSpc>
                        <a:spcBef>
                          <a:spcPts val="10"/>
                        </a:spcBef>
                        <a:buNone/>
                      </a:pPr>
                      <a:r>
                        <a:rPr lang="en-US" sz="1800" b="0" i="0" u="none" strike="noStrike" spc="-25" noProof="0">
                          <a:solidFill>
                            <a:schemeClr val="tx1"/>
                          </a:solidFill>
                          <a:latin typeface="Times New Roman"/>
                          <a:cs typeface="Times New Roman"/>
                        </a:rPr>
                        <a:t>higher computational overhead; still RGB- dependent; slower</a:t>
                      </a:r>
                      <a:endParaRPr lang="en-US" sz="1800" b="0" i="0" u="none" strike="noStrike" spc="-25" noProof="0">
                        <a:solidFill>
                          <a:srgbClr val="000000"/>
                        </a:solidFill>
                        <a:latin typeface="Times New Roman"/>
                        <a:cs typeface="Times New Roman"/>
                      </a:endParaRPr>
                    </a:p>
                    <a:p>
                      <a:pPr marL="66675" lvl="0" algn="just">
                        <a:lnSpc>
                          <a:spcPct val="100000"/>
                        </a:lnSpc>
                        <a:spcBef>
                          <a:spcPts val="145"/>
                        </a:spcBef>
                        <a:buNone/>
                      </a:pPr>
                      <a:r>
                        <a:rPr lang="en-US" sz="1800" b="0" i="0" u="none" strike="noStrike" spc="-25" noProof="0">
                          <a:solidFill>
                            <a:schemeClr val="tx1"/>
                          </a:solidFill>
                          <a:latin typeface="Times New Roman"/>
                          <a:cs typeface="Times New Roman"/>
                        </a:rPr>
                        <a:t>inference in some</a:t>
                      </a:r>
                      <a:endParaRPr lang="en-US" sz="1800" b="0" i="0" u="none" strike="noStrike" spc="-25" noProof="0">
                        <a:solidFill>
                          <a:srgbClr val="000000"/>
                        </a:solidFill>
                        <a:latin typeface="Times New Roman"/>
                        <a:cs typeface="Times New Roman"/>
                      </a:endParaRPr>
                    </a:p>
                    <a:p>
                      <a:pPr marL="66675" marR="254000" lvl="0">
                        <a:lnSpc>
                          <a:spcPct val="110000"/>
                        </a:lnSpc>
                        <a:spcBef>
                          <a:spcPts val="15"/>
                        </a:spcBef>
                        <a:buNone/>
                      </a:pPr>
                      <a:r>
                        <a:rPr lang="en-US" sz="1800" b="0" i="0" u="none" strike="noStrike" spc="-25" noProof="0">
                          <a:solidFill>
                            <a:schemeClr val="tx1"/>
                          </a:solidFill>
                          <a:latin typeface="Times New Roman"/>
                          <a:cs typeface="Times New Roman"/>
                        </a:rPr>
                        <a:t>cases; limited real- time and video</a:t>
                      </a:r>
                      <a:endParaRPr lang="en-US" sz="1800" b="0" i="0" u="none" strike="noStrike" spc="-25" noProof="0">
                        <a:solidFill>
                          <a:srgbClr val="000000"/>
                        </a:solidFill>
                        <a:latin typeface="Times New Roman"/>
                        <a:cs typeface="Times New Roman"/>
                      </a:endParaRPr>
                    </a:p>
                    <a:p>
                      <a:pPr marL="66675" lvl="0">
                        <a:lnSpc>
                          <a:spcPct val="100000"/>
                        </a:lnSpc>
                        <a:spcBef>
                          <a:spcPts val="140"/>
                        </a:spcBef>
                        <a:buNone/>
                      </a:pPr>
                      <a:r>
                        <a:rPr lang="en-US" sz="1800" b="0" i="0" u="none" strike="noStrike" spc="-25" noProof="0">
                          <a:solidFill>
                            <a:schemeClr val="tx1"/>
                          </a:solidFill>
                          <a:latin typeface="Times New Roman"/>
                          <a:cs typeface="Times New Roman"/>
                        </a:rPr>
                        <a:t>validation.</a:t>
                      </a:r>
                      <a:endParaRPr lang="en-US"/>
                    </a:p>
                  </a:txBody>
                  <a:tcPr marL="0" marR="0" marT="0" marB="0"/>
                </a:tc>
                <a:tc>
                  <a:txBody>
                    <a:bodyPr/>
                    <a:lstStyle/>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lvl="0">
                        <a:lnSpc>
                          <a:spcPts val="1380"/>
                        </a:lnSpc>
                        <a:buNone/>
                      </a:pPr>
                      <a:r>
                        <a:rPr lang="en-US" sz="1800" b="0" i="0" u="none" strike="noStrike" spc="-10" noProof="0">
                          <a:solidFill>
                            <a:schemeClr val="tx1"/>
                          </a:solidFill>
                          <a:latin typeface="Times New Roman"/>
                          <a:cs typeface="Times New Roman"/>
                        </a:rPr>
                        <a:t>Future work</a:t>
                      </a:r>
                      <a:endParaRPr lang="en-US" sz="1800" b="0" i="0" u="none" strike="noStrike" spc="-10" noProof="0">
                        <a:solidFill>
                          <a:srgbClr val="000000"/>
                        </a:solidFill>
                        <a:latin typeface="Times New Roman"/>
                        <a:cs typeface="Times New Roman"/>
                      </a:endParaRPr>
                    </a:p>
                    <a:p>
                      <a:pPr marL="67945" lvl="0">
                        <a:lnSpc>
                          <a:spcPct val="100000"/>
                        </a:lnSpc>
                        <a:spcBef>
                          <a:spcPts val="145"/>
                        </a:spcBef>
                        <a:buNone/>
                      </a:pPr>
                      <a:r>
                        <a:rPr lang="en-US" sz="1800" b="0" i="0" u="none" strike="noStrike" spc="-10" noProof="0">
                          <a:solidFill>
                            <a:schemeClr val="tx1"/>
                          </a:solidFill>
                          <a:latin typeface="Times New Roman"/>
                          <a:cs typeface="Times New Roman"/>
                        </a:rPr>
                        <a:t>should focus on</a:t>
                      </a:r>
                      <a:endParaRPr lang="en-US" sz="1800" b="0" i="0" u="none" strike="noStrike" spc="-10" noProof="0">
                        <a:solidFill>
                          <a:srgbClr val="000000"/>
                        </a:solidFill>
                        <a:latin typeface="Times New Roman"/>
                        <a:cs typeface="Times New Roman"/>
                      </a:endParaRPr>
                    </a:p>
                    <a:p>
                      <a:pPr marL="67945" marR="73660" lvl="0">
                        <a:lnSpc>
                          <a:spcPct val="110000"/>
                        </a:lnSpc>
                        <a:spcBef>
                          <a:spcPts val="10"/>
                        </a:spcBef>
                        <a:buNone/>
                      </a:pPr>
                      <a:r>
                        <a:rPr lang="en-US" sz="1800" b="0" i="0" u="none" strike="noStrike" spc="-10" noProof="0">
                          <a:solidFill>
                            <a:schemeClr val="tx1"/>
                          </a:solidFill>
                          <a:latin typeface="Times New Roman"/>
                          <a:cs typeface="Times New Roman"/>
                        </a:rPr>
                        <a:t>lightweight real- time COD</a:t>
                      </a:r>
                      <a:endParaRPr lang="en-US" sz="1800" b="0" i="0" u="none" strike="noStrike" spc="-10" noProof="0">
                        <a:solidFill>
                          <a:srgbClr val="000000"/>
                        </a:solidFill>
                        <a:latin typeface="Times New Roman"/>
                        <a:cs typeface="Times New Roman"/>
                      </a:endParaRPr>
                    </a:p>
                    <a:p>
                      <a:pPr marL="67945" lvl="0">
                        <a:lnSpc>
                          <a:spcPct val="100000"/>
                        </a:lnSpc>
                        <a:spcBef>
                          <a:spcPts val="145"/>
                        </a:spcBef>
                        <a:buNone/>
                      </a:pPr>
                      <a:r>
                        <a:rPr lang="en-US" sz="1800" b="0" i="0" u="none" strike="noStrike" spc="-10" noProof="0">
                          <a:solidFill>
                            <a:schemeClr val="tx1"/>
                          </a:solidFill>
                          <a:latin typeface="Times New Roman"/>
                          <a:cs typeface="Times New Roman"/>
                        </a:rPr>
                        <a:t>systems,</a:t>
                      </a:r>
                      <a:endParaRPr lang="en-US" sz="1800" b="0" i="0" u="none" strike="noStrike" spc="-10" noProof="0">
                        <a:solidFill>
                          <a:srgbClr val="000000"/>
                        </a:solidFill>
                        <a:latin typeface="Times New Roman"/>
                        <a:cs typeface="Times New Roman"/>
                      </a:endParaRPr>
                    </a:p>
                    <a:p>
                      <a:pPr marL="67945" lvl="0">
                        <a:lnSpc>
                          <a:spcPct val="100000"/>
                        </a:lnSpc>
                        <a:spcBef>
                          <a:spcPts val="140"/>
                        </a:spcBef>
                        <a:buNone/>
                      </a:pPr>
                      <a:r>
                        <a:rPr lang="en-US" sz="1800" b="0" i="0" u="none" strike="noStrike" spc="-10" noProof="0">
                          <a:solidFill>
                            <a:schemeClr val="tx1"/>
                          </a:solidFill>
                          <a:latin typeface="Times New Roman"/>
                          <a:cs typeface="Times New Roman"/>
                        </a:rPr>
                        <a:t>multimodal</a:t>
                      </a:r>
                      <a:endParaRPr lang="en-US" sz="1800" b="0" i="0" u="none" strike="noStrike" spc="-10" noProof="0">
                        <a:solidFill>
                          <a:srgbClr val="000000"/>
                        </a:solidFill>
                        <a:latin typeface="Times New Roman"/>
                        <a:cs typeface="Times New Roman"/>
                      </a:endParaRPr>
                    </a:p>
                    <a:p>
                      <a:pPr marL="67945" marR="167640" lvl="0">
                        <a:lnSpc>
                          <a:spcPct val="110200"/>
                        </a:lnSpc>
                        <a:spcBef>
                          <a:spcPts val="15"/>
                        </a:spcBef>
                        <a:buNone/>
                      </a:pPr>
                      <a:r>
                        <a:rPr lang="en-US" sz="1800" b="0" i="0" u="none" strike="noStrike" spc="-10" noProof="0">
                          <a:solidFill>
                            <a:schemeClr val="tx1"/>
                          </a:solidFill>
                          <a:latin typeface="Times New Roman"/>
                          <a:cs typeface="Times New Roman"/>
                        </a:rPr>
                        <a:t>fusion (e.g., RGB-thermal), and stronger evaluation on dynamic video camouflage</a:t>
                      </a:r>
                      <a:endParaRPr lang="en-US" sz="1800" b="0" i="0" u="none" strike="noStrike" spc="-10" noProof="0">
                        <a:solidFill>
                          <a:srgbClr val="000000"/>
                        </a:solidFill>
                        <a:latin typeface="Times New Roman"/>
                        <a:cs typeface="Times New Roman"/>
                      </a:endParaRPr>
                    </a:p>
                    <a:p>
                      <a:pPr marL="67945" lvl="0">
                        <a:lnSpc>
                          <a:spcPct val="100000"/>
                        </a:lnSpc>
                        <a:spcBef>
                          <a:spcPts val="145"/>
                        </a:spcBef>
                        <a:buNone/>
                      </a:pPr>
                      <a:r>
                        <a:rPr lang="en-US" sz="1800" b="0" i="0" u="none" strike="noStrike" spc="-10" noProof="0">
                          <a:solidFill>
                            <a:schemeClr val="tx1"/>
                          </a:solidFill>
                          <a:latin typeface="Times New Roman"/>
                          <a:cs typeface="Times New Roman"/>
                        </a:rPr>
                        <a:t>scenarios.</a:t>
                      </a:r>
                      <a:endParaRPr/>
                    </a:p>
                  </a:txBody>
                  <a:tcPr marL="0" marR="0" marT="0" marB="0"/>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190"/>
                        </a:spcBef>
                      </a:pPr>
                      <a:endParaRPr sz="1800">
                        <a:latin typeface="Times New Roman"/>
                        <a:cs typeface="Times New Roman"/>
                      </a:endParaRPr>
                    </a:p>
                    <a:p>
                      <a:pPr algn="ctr">
                        <a:lnSpc>
                          <a:spcPct val="100000"/>
                        </a:lnSpc>
                      </a:pPr>
                      <a:r>
                        <a:rPr sz="1800" spc="-20">
                          <a:latin typeface="Times New Roman"/>
                          <a:cs typeface="Times New Roman"/>
                        </a:rPr>
                        <a:t>2024</a:t>
                      </a:r>
                      <a:endParaRPr sz="1800">
                        <a:latin typeface="Times New Roman"/>
                        <a:cs typeface="Times New Roman"/>
                      </a:endParaRPr>
                    </a:p>
                  </a:txBody>
                  <a:tcPr marL="0" marR="0" marT="0" marB="0"/>
                </a:tc>
                <a:extLst>
                  <a:ext uri="{0D108BD9-81ED-4DB2-BD59-A6C34878D82A}">
                    <a16:rowId xmlns:a16="http://schemas.microsoft.com/office/drawing/2014/main" val="38718270"/>
                  </a:ext>
                </a:extLst>
              </a:tr>
            </a:tbl>
          </a:graphicData>
        </a:graphic>
      </p:graphicFrame>
      <p:sp>
        <p:nvSpPr>
          <p:cNvPr id="8" name="TextBox 7">
            <a:extLst>
              <a:ext uri="{FF2B5EF4-FFF2-40B4-BE49-F238E27FC236}">
                <a16:creationId xmlns:a16="http://schemas.microsoft.com/office/drawing/2014/main" id="{29CCA28B-15F7-7E89-1F75-31BE9901F1E5}"/>
              </a:ext>
            </a:extLst>
          </p:cNvPr>
          <p:cNvSpPr txBox="1"/>
          <p:nvPr/>
        </p:nvSpPr>
        <p:spPr>
          <a:xfrm>
            <a:off x="742119" y="6416935"/>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8</a:t>
            </a:r>
            <a:endParaRPr lang="en-IN" sz="1200" spc="-85">
              <a:solidFill>
                <a:schemeClr val="tx1"/>
              </a:solidFill>
            </a:endParaRPr>
          </a:p>
        </p:txBody>
      </p:sp>
    </p:spTree>
    <p:extLst>
      <p:ext uri="{BB962C8B-B14F-4D97-AF65-F5344CB8AC3E}">
        <p14:creationId xmlns:p14="http://schemas.microsoft.com/office/powerpoint/2010/main" val="4051111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4C6D3A9-D8CA-5020-B17C-743F11BCE517}"/>
              </a:ext>
            </a:extLst>
          </p:cNvPr>
          <p:cNvGraphicFramePr>
            <a:graphicFrameLocks noGrp="1"/>
          </p:cNvGraphicFramePr>
          <p:nvPr>
            <p:extLst>
              <p:ext uri="{D42A27DB-BD31-4B8C-83A1-F6EECF244321}">
                <p14:modId xmlns:p14="http://schemas.microsoft.com/office/powerpoint/2010/main" val="3395237281"/>
              </p:ext>
            </p:extLst>
          </p:nvPr>
        </p:nvGraphicFramePr>
        <p:xfrm>
          <a:off x="1158761" y="762000"/>
          <a:ext cx="10712677" cy="5584770"/>
        </p:xfrm>
        <a:graphic>
          <a:graphicData uri="http://schemas.openxmlformats.org/drawingml/2006/table">
            <a:tbl>
              <a:tblPr firstRow="1" bandRow="1">
                <a:tableStyleId>{5C22544A-7EE6-4342-B048-85BDC9FD1C3A}</a:tableStyleId>
              </a:tblPr>
              <a:tblGrid>
                <a:gridCol w="898639">
                  <a:extLst>
                    <a:ext uri="{9D8B030D-6E8A-4147-A177-3AD203B41FA5}">
                      <a16:colId xmlns:a16="http://schemas.microsoft.com/office/drawing/2014/main" val="2239202392"/>
                    </a:ext>
                  </a:extLst>
                </a:gridCol>
                <a:gridCol w="2057400">
                  <a:extLst>
                    <a:ext uri="{9D8B030D-6E8A-4147-A177-3AD203B41FA5}">
                      <a16:colId xmlns:a16="http://schemas.microsoft.com/office/drawing/2014/main" val="2912810958"/>
                    </a:ext>
                  </a:extLst>
                </a:gridCol>
                <a:gridCol w="2530362">
                  <a:extLst>
                    <a:ext uri="{9D8B030D-6E8A-4147-A177-3AD203B41FA5}">
                      <a16:colId xmlns:a16="http://schemas.microsoft.com/office/drawing/2014/main" val="1267278830"/>
                    </a:ext>
                  </a:extLst>
                </a:gridCol>
                <a:gridCol w="2270238">
                  <a:extLst>
                    <a:ext uri="{9D8B030D-6E8A-4147-A177-3AD203B41FA5}">
                      <a16:colId xmlns:a16="http://schemas.microsoft.com/office/drawing/2014/main" val="1621154421"/>
                    </a:ext>
                  </a:extLst>
                </a:gridCol>
                <a:gridCol w="1752600">
                  <a:extLst>
                    <a:ext uri="{9D8B030D-6E8A-4147-A177-3AD203B41FA5}">
                      <a16:colId xmlns:a16="http://schemas.microsoft.com/office/drawing/2014/main" val="3306041281"/>
                    </a:ext>
                  </a:extLst>
                </a:gridCol>
                <a:gridCol w="1203438">
                  <a:extLst>
                    <a:ext uri="{9D8B030D-6E8A-4147-A177-3AD203B41FA5}">
                      <a16:colId xmlns:a16="http://schemas.microsoft.com/office/drawing/2014/main" val="1445610817"/>
                    </a:ext>
                  </a:extLst>
                </a:gridCol>
              </a:tblGrid>
              <a:tr h="649528">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S.No</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93980">
                        <a:lnSpc>
                          <a:spcPct val="100000"/>
                        </a:lnSpc>
                      </a:pPr>
                      <a:r>
                        <a:rPr sz="1800" b="1">
                          <a:solidFill>
                            <a:schemeClr val="tx1"/>
                          </a:solidFill>
                          <a:latin typeface="Times New Roman"/>
                          <a:cs typeface="Times New Roman"/>
                        </a:rPr>
                        <a:t>Paper</a:t>
                      </a:r>
                      <a:r>
                        <a:rPr sz="1800" b="1" spc="-75">
                          <a:solidFill>
                            <a:schemeClr val="tx1"/>
                          </a:solidFill>
                          <a:latin typeface="Times New Roman"/>
                          <a:cs typeface="Times New Roman"/>
                        </a:rPr>
                        <a:t> </a:t>
                      </a:r>
                      <a:r>
                        <a:rPr sz="1800" b="1" spc="-10">
                          <a:solidFill>
                            <a:schemeClr val="tx1"/>
                          </a:solidFill>
                          <a:latin typeface="Times New Roman"/>
                          <a:cs typeface="Times New Roman"/>
                        </a:rPr>
                        <a:t>Title</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286385">
                        <a:lnSpc>
                          <a:spcPct val="100000"/>
                        </a:lnSpc>
                      </a:pPr>
                      <a:r>
                        <a:rPr sz="1800" b="1" spc="-10">
                          <a:solidFill>
                            <a:schemeClr val="tx1"/>
                          </a:solidFill>
                          <a:latin typeface="Times New Roman"/>
                          <a:cs typeface="Times New Roman"/>
                        </a:rPr>
                        <a:t>Methodology</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361315">
                        <a:lnSpc>
                          <a:spcPct val="100000"/>
                        </a:lnSpc>
                      </a:pPr>
                      <a:r>
                        <a:rPr sz="1800" b="1" spc="-10">
                          <a:solidFill>
                            <a:schemeClr val="tx1"/>
                          </a:solidFill>
                          <a:latin typeface="Times New Roman"/>
                          <a:cs typeface="Times New Roman"/>
                        </a:rPr>
                        <a:t>Limitations</a:t>
                      </a:r>
                      <a:endParaRPr sz="1800">
                        <a:solidFill>
                          <a:schemeClr val="tx1"/>
                        </a:solidFill>
                        <a:latin typeface="Times New Roman"/>
                        <a:cs typeface="Times New Roman"/>
                      </a:endParaRPr>
                    </a:p>
                  </a:txBody>
                  <a:tcPr marL="0" marR="0" marT="5715" marB="0"/>
                </a:tc>
                <a:tc>
                  <a:txBody>
                    <a:bodyPr/>
                    <a:lstStyle/>
                    <a:p>
                      <a:pPr marL="261620" marR="85725" indent="-169545" algn="ctr">
                        <a:lnSpc>
                          <a:spcPts val="1380"/>
                        </a:lnSpc>
                        <a:spcBef>
                          <a:spcPts val="840"/>
                        </a:spcBef>
                      </a:pPr>
                      <a:r>
                        <a:rPr lang="en-IN" sz="1800" b="1" spc="-10">
                          <a:solidFill>
                            <a:schemeClr val="tx1"/>
                          </a:solidFill>
                          <a:latin typeface="Times New Roman"/>
                          <a:cs typeface="Times New Roman"/>
                        </a:rPr>
                        <a:t>   </a:t>
                      </a:r>
                      <a:r>
                        <a:rPr sz="1800" b="1" spc="-10">
                          <a:solidFill>
                            <a:schemeClr val="tx1"/>
                          </a:solidFill>
                          <a:latin typeface="Times New Roman"/>
                          <a:cs typeface="Times New Roman"/>
                        </a:rPr>
                        <a:t>Research</a:t>
                      </a:r>
                      <a:r>
                        <a:rPr sz="1800" b="1" spc="-5">
                          <a:solidFill>
                            <a:schemeClr val="tx1"/>
                          </a:solidFill>
                          <a:latin typeface="Times New Roman"/>
                          <a:cs typeface="Times New Roman"/>
                        </a:rPr>
                        <a:t> </a:t>
                      </a:r>
                      <a:r>
                        <a:rPr sz="1800" b="1" spc="-20">
                          <a:solidFill>
                            <a:schemeClr val="tx1"/>
                          </a:solidFill>
                          <a:latin typeface="Times New Roman"/>
                          <a:cs typeface="Times New Roman"/>
                        </a:rPr>
                        <a:t>Gaps </a:t>
                      </a:r>
                      <a:r>
                        <a:rPr sz="1800" b="1" spc="-10">
                          <a:solidFill>
                            <a:schemeClr val="tx1"/>
                          </a:solidFill>
                          <a:latin typeface="Times New Roman"/>
                          <a:cs typeface="Times New Roman"/>
                        </a:rPr>
                        <a:t>Identified</a:t>
                      </a:r>
                      <a:endParaRPr sz="1800">
                        <a:solidFill>
                          <a:schemeClr val="tx1"/>
                        </a:solidFill>
                        <a:latin typeface="Times New Roman"/>
                        <a:cs typeface="Times New Roman"/>
                      </a:endParaRPr>
                    </a:p>
                  </a:txBody>
                  <a:tcPr marL="0" marR="0" marT="106680" marB="0"/>
                </a:tc>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Year</a:t>
                      </a:r>
                      <a:endParaRPr sz="1800">
                        <a:solidFill>
                          <a:schemeClr val="tx1"/>
                        </a:solidFill>
                        <a:latin typeface="Times New Roman"/>
                        <a:cs typeface="Times New Roman"/>
                      </a:endParaRPr>
                    </a:p>
                  </a:txBody>
                  <a:tcPr marL="0" marR="0" marT="5715" marB="0"/>
                </a:tc>
                <a:extLst>
                  <a:ext uri="{0D108BD9-81ED-4DB2-BD59-A6C34878D82A}">
                    <a16:rowId xmlns:a16="http://schemas.microsoft.com/office/drawing/2014/main" val="1218663633"/>
                  </a:ext>
                </a:extLst>
              </a:tr>
              <a:tr h="4935242">
                <a:tc>
                  <a:txBody>
                    <a:bodyPr/>
                    <a:lstStyle/>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endParaRPr lang="en-IN" sz="1200">
                        <a:latin typeface="Times New Roman"/>
                        <a:cs typeface="Times New Roman"/>
                      </a:endParaRPr>
                    </a:p>
                    <a:p>
                      <a:pPr>
                        <a:lnSpc>
                          <a:spcPct val="100000"/>
                        </a:lnSpc>
                      </a:pPr>
                      <a:r>
                        <a:rPr lang="en-IN" sz="1200">
                          <a:latin typeface="Times New Roman"/>
                          <a:cs typeface="Times New Roman"/>
                        </a:rPr>
                        <a:t>  </a:t>
                      </a:r>
                      <a:r>
                        <a:rPr lang="en-IN" sz="1800">
                          <a:latin typeface="Times New Roman"/>
                          <a:cs typeface="Times New Roman"/>
                        </a:rPr>
                        <a:t> 5</a:t>
                      </a:r>
                      <a:endParaRPr sz="1800">
                        <a:latin typeface="Times New Roman"/>
                        <a:cs typeface="Times New Roman"/>
                      </a:endParaRPr>
                    </a:p>
                  </a:txBody>
                  <a:tcPr marL="0" marR="0" marT="0" marB="0"/>
                </a:tc>
                <a:tc>
                  <a:txBody>
                    <a:bodyPr/>
                    <a:lstStyle/>
                    <a:p>
                      <a:pPr marL="67945" marR="0" lvl="0" indent="0" defTabSz="914400" eaLnBrk="1" fontAlgn="auto" latinLnBrk="0" hangingPunct="1">
                        <a:lnSpc>
                          <a:spcPct val="150000"/>
                        </a:lnSpc>
                        <a:spcBef>
                          <a:spcPts val="0"/>
                        </a:spcBef>
                        <a:spcAft>
                          <a:spcPts val="0"/>
                        </a:spcAft>
                        <a:buClrTx/>
                        <a:buSzTx/>
                        <a:buFontTx/>
                        <a:buNone/>
                        <a:tabLst/>
                        <a:defRPr/>
                      </a:pPr>
                      <a:endParaRPr lang="en-US">
                        <a:latin typeface="Times New Roman" panose="02020603050405020304" pitchFamily="18" charset="0"/>
                        <a:cs typeface="Times New Roman" panose="02020603050405020304" pitchFamily="18" charset="0"/>
                      </a:endParaRPr>
                    </a:p>
                    <a:p>
                      <a:pPr marL="67945" marR="0" lvl="0" indent="0" defTabSz="914400" eaLnBrk="1" fontAlgn="auto" latinLnBrk="0" hangingPunct="1">
                        <a:lnSpc>
                          <a:spcPct val="15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Camouflaged soldier object detection network based on attention mechanisms and pyramidal feature shrinking.</a:t>
                      </a:r>
                      <a:endParaRPr lang="en-US" sz="1800">
                        <a:latin typeface="Times New Roman" panose="02020603050405020304" pitchFamily="18" charset="0"/>
                        <a:cs typeface="Times New Roman" panose="02020603050405020304" pitchFamily="18" charset="0"/>
                      </a:endParaRPr>
                    </a:p>
                  </a:txBody>
                  <a:tcPr marL="0" marR="0" marT="0" marB="0"/>
                </a:tc>
                <a:tc>
                  <a:txBody>
                    <a:bodyPr/>
                    <a:lstStyle/>
                    <a:p>
                      <a:pPr marL="68580">
                        <a:lnSpc>
                          <a:spcPct val="100000"/>
                        </a:lnSpc>
                      </a:pPr>
                      <a:endParaRPr lang="en-US" sz="1800">
                        <a:latin typeface="Times New Roman"/>
                        <a:cs typeface="Times New Roman"/>
                      </a:endParaRPr>
                    </a:p>
                    <a:p>
                      <a:pPr marL="68580">
                        <a:lnSpc>
                          <a:spcPct val="100000"/>
                        </a:lnSpc>
                      </a:pPr>
                      <a:endParaRPr lang="en-US" sz="1800">
                        <a:latin typeface="Times New Roman"/>
                        <a:cs typeface="Times New Roman"/>
                      </a:endParaRPr>
                    </a:p>
                    <a:p>
                      <a:pPr marL="68580">
                        <a:lnSpc>
                          <a:spcPct val="100000"/>
                        </a:lnSpc>
                      </a:pPr>
                      <a:r>
                        <a:rPr lang="en-US" sz="1800">
                          <a:latin typeface="Times New Roman"/>
                          <a:cs typeface="Times New Roman"/>
                        </a:rPr>
                        <a:t>YOLOv7 backbone</a:t>
                      </a:r>
                    </a:p>
                    <a:p>
                      <a:pPr marL="68580">
                        <a:lnSpc>
                          <a:spcPct val="100000"/>
                        </a:lnSpc>
                      </a:pPr>
                      <a:r>
                        <a:rPr lang="en-US" sz="1800">
                          <a:latin typeface="Times New Roman"/>
                          <a:cs typeface="Times New Roman"/>
                        </a:rPr>
                        <a:t>(GELU activation).</a:t>
                      </a:r>
                    </a:p>
                    <a:p>
                      <a:pPr marL="68580">
                        <a:lnSpc>
                          <a:spcPct val="100000"/>
                        </a:lnSpc>
                      </a:pPr>
                      <a:r>
                        <a:rPr lang="en-US" sz="1800">
                          <a:latin typeface="Times New Roman"/>
                          <a:cs typeface="Times New Roman"/>
                        </a:rPr>
                        <a:t>CBAM attention mechanism. FSPN(Pyramidal Feature Shrinking) for multi-scale feature </a:t>
                      </a:r>
                      <a:r>
                        <a:rPr lang="en-US" sz="1800" err="1">
                          <a:latin typeface="Times New Roman"/>
                          <a:cs typeface="Times New Roman"/>
                        </a:rPr>
                        <a:t>fusion.IHM</a:t>
                      </a:r>
                      <a:r>
                        <a:rPr lang="en-US" sz="1800">
                          <a:latin typeface="Times New Roman"/>
                          <a:cs typeface="Times New Roman"/>
                        </a:rPr>
                        <a:t> (Information Handle Module) </a:t>
                      </a:r>
                      <a:r>
                        <a:rPr lang="en-US" sz="1800" err="1">
                          <a:latin typeface="Times New Roman"/>
                          <a:cs typeface="Times New Roman"/>
                        </a:rPr>
                        <a:t>forfeature</a:t>
                      </a:r>
                      <a:r>
                        <a:rPr lang="en-US" sz="1800">
                          <a:latin typeface="Times New Roman"/>
                          <a:cs typeface="Times New Roman"/>
                        </a:rPr>
                        <a:t> </a:t>
                      </a:r>
                      <a:r>
                        <a:rPr lang="en-US" sz="1800" err="1">
                          <a:latin typeface="Times New Roman"/>
                          <a:cs typeface="Times New Roman"/>
                        </a:rPr>
                        <a:t>processing.YOLO</a:t>
                      </a:r>
                      <a:r>
                        <a:rPr lang="en-US" sz="1800">
                          <a:latin typeface="Times New Roman"/>
                          <a:cs typeface="Times New Roman"/>
                        </a:rPr>
                        <a:t> </a:t>
                      </a:r>
                    </a:p>
                    <a:p>
                      <a:pPr marL="68580">
                        <a:lnSpc>
                          <a:spcPct val="100000"/>
                        </a:lnSpc>
                      </a:pPr>
                      <a:r>
                        <a:rPr lang="en-US" sz="1800">
                          <a:latin typeface="Times New Roman"/>
                          <a:cs typeface="Times New Roman"/>
                        </a:rPr>
                        <a:t>X-styled coupled detection head</a:t>
                      </a:r>
                    </a:p>
                  </a:txBody>
                  <a:tcPr marL="0" marR="0" marT="0" marB="0"/>
                </a:tc>
                <a:tc>
                  <a:txBody>
                    <a:bodyPr/>
                    <a:lstStyle/>
                    <a:p>
                      <a:pPr marL="68580">
                        <a:lnSpc>
                          <a:spcPct val="100000"/>
                        </a:lnSpc>
                      </a:pPr>
                      <a:endParaRPr lang="en-IN" sz="1800">
                        <a:latin typeface="Times New Roman" panose="02020603050405020304" pitchFamily="18" charset="0"/>
                        <a:cs typeface="Times New Roman" panose="02020603050405020304" pitchFamily="18" charset="0"/>
                      </a:endParaRPr>
                    </a:p>
                    <a:p>
                      <a:pPr marL="68580">
                        <a:lnSpc>
                          <a:spcPct val="100000"/>
                        </a:lnSpc>
                      </a:pPr>
                      <a:endParaRPr lang="en-IN" sz="1800">
                        <a:latin typeface="Times New Roman" panose="02020603050405020304" pitchFamily="18" charset="0"/>
                        <a:cs typeface="Times New Roman" panose="02020603050405020304" pitchFamily="18" charset="0"/>
                      </a:endParaRPr>
                    </a:p>
                    <a:p>
                      <a:pPr marL="68580">
                        <a:lnSpc>
                          <a:spcPct val="100000"/>
                        </a:lnSpc>
                      </a:pPr>
                      <a:r>
                        <a:rPr lang="en-IN" sz="1800">
                          <a:latin typeface="Times New Roman" panose="02020603050405020304" pitchFamily="18" charset="0"/>
                          <a:cs typeface="Times New Roman" panose="02020603050405020304" pitchFamily="18" charset="0"/>
                        </a:rPr>
                        <a:t>No public data </a:t>
                      </a:r>
                      <a:r>
                        <a:rPr lang="en-IN" sz="1800" err="1">
                          <a:latin typeface="Times New Roman" panose="02020603050405020304" pitchFamily="18" charset="0"/>
                          <a:cs typeface="Times New Roman" panose="02020603050405020304" pitchFamily="18" charset="0"/>
                        </a:rPr>
                        <a:t>setor</a:t>
                      </a:r>
                      <a:r>
                        <a:rPr lang="en-IN" sz="1800">
                          <a:latin typeface="Times New Roman" panose="02020603050405020304" pitchFamily="18" charset="0"/>
                          <a:cs typeface="Times New Roman" panose="02020603050405020304" pitchFamily="18" charset="0"/>
                        </a:rPr>
                        <a:t> code. RGB input only. Static image </a:t>
                      </a:r>
                      <a:r>
                        <a:rPr lang="en-IN" sz="1800" err="1">
                          <a:latin typeface="Times New Roman" panose="02020603050405020304" pitchFamily="18" charset="0"/>
                          <a:cs typeface="Times New Roman" panose="02020603050405020304" pitchFamily="18" charset="0"/>
                        </a:rPr>
                        <a:t>detection.Single</a:t>
                      </a:r>
                      <a:r>
                        <a:rPr lang="en-IN" sz="1800">
                          <a:latin typeface="Times New Roman" panose="02020603050405020304" pitchFamily="18" charset="0"/>
                          <a:cs typeface="Times New Roman" panose="02020603050405020304" pitchFamily="18" charset="0"/>
                        </a:rPr>
                        <a:t>-class detection. No real-time FPS or edge deploy </a:t>
                      </a:r>
                      <a:r>
                        <a:rPr lang="en-IN" sz="1800" err="1">
                          <a:latin typeface="Times New Roman" panose="02020603050405020304" pitchFamily="18" charset="0"/>
                          <a:cs typeface="Times New Roman" panose="02020603050405020304" pitchFamily="18" charset="0"/>
                        </a:rPr>
                        <a:t>ment</a:t>
                      </a:r>
                      <a:r>
                        <a:rPr lang="en-IN" sz="1800">
                          <a:latin typeface="Times New Roman" panose="02020603050405020304" pitchFamily="18" charset="0"/>
                          <a:cs typeface="Times New Roman" panose="02020603050405020304" pitchFamily="18" charset="0"/>
                        </a:rPr>
                        <a:t> analysis. Heavy backbone(YOLOv7).</a:t>
                      </a:r>
                      <a:endParaRPr sz="1800">
                        <a:latin typeface="Times New Roman" panose="02020603050405020304" pitchFamily="18" charset="0"/>
                        <a:cs typeface="Times New Roman" panose="02020603050405020304" pitchFamily="18" charset="0"/>
                      </a:endParaRPr>
                    </a:p>
                  </a:txBody>
                  <a:tcPr marL="0" marR="0" marT="0" marB="0"/>
                </a:tc>
                <a:tc>
                  <a:txBody>
                    <a:bodyPr/>
                    <a:lstStyle/>
                    <a:p>
                      <a:pPr marL="67945">
                        <a:lnSpc>
                          <a:spcPct val="100000"/>
                        </a:lnSpc>
                      </a:pPr>
                      <a:endParaRPr lang="en-IN" sz="1800">
                        <a:latin typeface="Times New Roman"/>
                        <a:cs typeface="Times New Roman"/>
                      </a:endParaRPr>
                    </a:p>
                    <a:p>
                      <a:pPr marL="67945">
                        <a:lnSpc>
                          <a:spcPct val="100000"/>
                        </a:lnSpc>
                      </a:pPr>
                      <a:endParaRPr lang="en-IN" sz="1800">
                        <a:latin typeface="Times New Roman"/>
                        <a:cs typeface="Times New Roman"/>
                      </a:endParaRPr>
                    </a:p>
                    <a:p>
                      <a:pPr marL="67945">
                        <a:lnSpc>
                          <a:spcPct val="100000"/>
                        </a:lnSpc>
                      </a:pPr>
                      <a:r>
                        <a:rPr lang="en-IN" sz="1800">
                          <a:latin typeface="Times New Roman"/>
                          <a:cs typeface="Times New Roman"/>
                        </a:rPr>
                        <a:t>No transformer backbone. No temporal video </a:t>
                      </a:r>
                      <a:r>
                        <a:rPr lang="en-IN" sz="1800" err="1">
                          <a:latin typeface="Times New Roman"/>
                          <a:cs typeface="Times New Roman"/>
                        </a:rPr>
                        <a:t>modeling</a:t>
                      </a:r>
                      <a:r>
                        <a:rPr lang="en-IN" sz="1800">
                          <a:latin typeface="Times New Roman"/>
                          <a:cs typeface="Times New Roman"/>
                        </a:rPr>
                        <a:t>. No multispectral/IR fusion. No light weight edge architecture. No cross-dataset </a:t>
                      </a:r>
                      <a:r>
                        <a:rPr lang="en-IN" sz="1800" err="1">
                          <a:latin typeface="Times New Roman"/>
                          <a:cs typeface="Times New Roman"/>
                        </a:rPr>
                        <a:t>generalization.No</a:t>
                      </a:r>
                      <a:r>
                        <a:rPr lang="en-IN" sz="1800">
                          <a:latin typeface="Times New Roman"/>
                          <a:cs typeface="Times New Roman"/>
                        </a:rPr>
                        <a:t> domain adaptation.</a:t>
                      </a:r>
                    </a:p>
                    <a:p>
                      <a:pPr marL="67945">
                        <a:lnSpc>
                          <a:spcPct val="100000"/>
                        </a:lnSpc>
                      </a:pPr>
                      <a:r>
                        <a:rPr lang="en-IN" sz="1800">
                          <a:latin typeface="Times New Roman"/>
                          <a:cs typeface="Times New Roman"/>
                        </a:rPr>
                        <a:t>Limited</a:t>
                      </a:r>
                    </a:p>
                    <a:p>
                      <a:pPr marL="67945">
                        <a:lnSpc>
                          <a:spcPct val="100000"/>
                        </a:lnSpc>
                      </a:pPr>
                      <a:r>
                        <a:rPr lang="en-IN" sz="1800" err="1">
                          <a:latin typeface="Times New Roman"/>
                          <a:cs typeface="Times New Roman"/>
                        </a:rPr>
                        <a:t>explainability</a:t>
                      </a:r>
                      <a:r>
                        <a:rPr lang="en-IN" sz="1800">
                          <a:latin typeface="Times New Roman"/>
                          <a:cs typeface="Times New Roman"/>
                        </a:rPr>
                        <a:t>.</a:t>
                      </a:r>
                      <a:endParaRPr sz="1800">
                        <a:latin typeface="Times New Roman"/>
                        <a:cs typeface="Times New Roman"/>
                      </a:endParaRPr>
                    </a:p>
                  </a:txBody>
                  <a:tcPr marL="0" marR="0" marT="0" marB="0"/>
                </a:tc>
                <a:tc>
                  <a:txBody>
                    <a:bodyPr/>
                    <a:lstStyle/>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endParaRPr lang="en-IN" sz="1800">
                        <a:latin typeface="Times New Roman"/>
                        <a:cs typeface="Times New Roman"/>
                      </a:endParaRPr>
                    </a:p>
                    <a:p>
                      <a:pPr>
                        <a:lnSpc>
                          <a:spcPct val="100000"/>
                        </a:lnSpc>
                      </a:pPr>
                      <a:r>
                        <a:rPr lang="en-IN" sz="1800">
                          <a:latin typeface="Times New Roman"/>
                          <a:cs typeface="Times New Roman"/>
                        </a:rPr>
                        <a:t>     2024</a:t>
                      </a:r>
                      <a:endParaRPr sz="1800">
                        <a:latin typeface="Times New Roman"/>
                        <a:cs typeface="Times New Roman"/>
                      </a:endParaRPr>
                    </a:p>
                  </a:txBody>
                  <a:tcPr marL="0" marR="0" marT="0" marB="0"/>
                </a:tc>
                <a:extLst>
                  <a:ext uri="{0D108BD9-81ED-4DB2-BD59-A6C34878D82A}">
                    <a16:rowId xmlns:a16="http://schemas.microsoft.com/office/drawing/2014/main" val="1970185021"/>
                  </a:ext>
                </a:extLst>
              </a:tr>
            </a:tbl>
          </a:graphicData>
        </a:graphic>
      </p:graphicFrame>
      <p:sp>
        <p:nvSpPr>
          <p:cNvPr id="8" name="TextBox 7">
            <a:extLst>
              <a:ext uri="{FF2B5EF4-FFF2-40B4-BE49-F238E27FC236}">
                <a16:creationId xmlns:a16="http://schemas.microsoft.com/office/drawing/2014/main" id="{37F48872-3CB5-25A7-94FF-4F8A2DB1E23A}"/>
              </a:ext>
            </a:extLst>
          </p:cNvPr>
          <p:cNvSpPr txBox="1"/>
          <p:nvPr/>
        </p:nvSpPr>
        <p:spPr>
          <a:xfrm>
            <a:off x="2590800" y="66122"/>
            <a:ext cx="7848600" cy="600164"/>
          </a:xfrm>
          <a:prstGeom prst="rect">
            <a:avLst/>
          </a:prstGeom>
          <a:noFill/>
        </p:spPr>
        <p:txBody>
          <a:bodyPr wrap="square">
            <a:spAutoFit/>
          </a:bodyPr>
          <a:lstStyle/>
          <a:p>
            <a:r>
              <a:rPr lang="en-IN" sz="3300" spc="-10"/>
              <a:t>LITERATURE</a:t>
            </a:r>
            <a:r>
              <a:rPr lang="en-IN" sz="3300"/>
              <a:t>	SURVEY</a:t>
            </a:r>
            <a:r>
              <a:rPr lang="en-IN" sz="3300" spc="25"/>
              <a:t> </a:t>
            </a:r>
            <a:r>
              <a:rPr lang="en-IN" sz="3300" spc="130"/>
              <a:t>CONT....</a:t>
            </a:r>
            <a:endParaRPr lang="en-IN" sz="3300"/>
          </a:p>
        </p:txBody>
      </p:sp>
      <p:sp>
        <p:nvSpPr>
          <p:cNvPr id="9" name="TextBox 8">
            <a:extLst>
              <a:ext uri="{FF2B5EF4-FFF2-40B4-BE49-F238E27FC236}">
                <a16:creationId xmlns:a16="http://schemas.microsoft.com/office/drawing/2014/main" id="{77DBD4E2-1A40-EA38-892C-4D6F669C8191}"/>
              </a:ext>
            </a:extLst>
          </p:cNvPr>
          <p:cNvSpPr txBox="1"/>
          <p:nvPr/>
        </p:nvSpPr>
        <p:spPr>
          <a:xfrm>
            <a:off x="1158761" y="6442484"/>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9</a:t>
            </a:r>
            <a:endParaRPr lang="en-IN" sz="1200" spc="-85">
              <a:solidFill>
                <a:schemeClr val="tx1"/>
              </a:solidFill>
            </a:endParaRPr>
          </a:p>
        </p:txBody>
      </p:sp>
    </p:spTree>
    <p:extLst>
      <p:ext uri="{BB962C8B-B14F-4D97-AF65-F5344CB8AC3E}">
        <p14:creationId xmlns:p14="http://schemas.microsoft.com/office/powerpoint/2010/main" val="230275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50E3E9C-C185-0C9D-B193-6421D8B29699}"/>
              </a:ext>
            </a:extLst>
          </p:cNvPr>
          <p:cNvGraphicFramePr>
            <a:graphicFrameLocks noGrp="1"/>
          </p:cNvGraphicFramePr>
          <p:nvPr>
            <p:extLst>
              <p:ext uri="{D42A27DB-BD31-4B8C-83A1-F6EECF244321}">
                <p14:modId xmlns:p14="http://schemas.microsoft.com/office/powerpoint/2010/main" val="4017088040"/>
              </p:ext>
            </p:extLst>
          </p:nvPr>
        </p:nvGraphicFramePr>
        <p:xfrm>
          <a:off x="926688" y="838200"/>
          <a:ext cx="10712677" cy="5587288"/>
        </p:xfrm>
        <a:graphic>
          <a:graphicData uri="http://schemas.openxmlformats.org/drawingml/2006/table">
            <a:tbl>
              <a:tblPr firstRow="1" bandRow="1">
                <a:tableStyleId>{5C22544A-7EE6-4342-B048-85BDC9FD1C3A}</a:tableStyleId>
              </a:tblPr>
              <a:tblGrid>
                <a:gridCol w="1066801">
                  <a:extLst>
                    <a:ext uri="{9D8B030D-6E8A-4147-A177-3AD203B41FA5}">
                      <a16:colId xmlns:a16="http://schemas.microsoft.com/office/drawing/2014/main" val="2239202392"/>
                    </a:ext>
                  </a:extLst>
                </a:gridCol>
                <a:gridCol w="1828800">
                  <a:extLst>
                    <a:ext uri="{9D8B030D-6E8A-4147-A177-3AD203B41FA5}">
                      <a16:colId xmlns:a16="http://schemas.microsoft.com/office/drawing/2014/main" val="2912810958"/>
                    </a:ext>
                  </a:extLst>
                </a:gridCol>
                <a:gridCol w="2590800">
                  <a:extLst>
                    <a:ext uri="{9D8B030D-6E8A-4147-A177-3AD203B41FA5}">
                      <a16:colId xmlns:a16="http://schemas.microsoft.com/office/drawing/2014/main" val="1267278830"/>
                    </a:ext>
                  </a:extLst>
                </a:gridCol>
                <a:gridCol w="2057400">
                  <a:extLst>
                    <a:ext uri="{9D8B030D-6E8A-4147-A177-3AD203B41FA5}">
                      <a16:colId xmlns:a16="http://schemas.microsoft.com/office/drawing/2014/main" val="1621154421"/>
                    </a:ext>
                  </a:extLst>
                </a:gridCol>
                <a:gridCol w="1828800">
                  <a:extLst>
                    <a:ext uri="{9D8B030D-6E8A-4147-A177-3AD203B41FA5}">
                      <a16:colId xmlns:a16="http://schemas.microsoft.com/office/drawing/2014/main" val="3306041281"/>
                    </a:ext>
                  </a:extLst>
                </a:gridCol>
                <a:gridCol w="1340076">
                  <a:extLst>
                    <a:ext uri="{9D8B030D-6E8A-4147-A177-3AD203B41FA5}">
                      <a16:colId xmlns:a16="http://schemas.microsoft.com/office/drawing/2014/main" val="1445610817"/>
                    </a:ext>
                  </a:extLst>
                </a:gridCol>
              </a:tblGrid>
              <a:tr h="649528">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S.No</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93980">
                        <a:lnSpc>
                          <a:spcPct val="100000"/>
                        </a:lnSpc>
                      </a:pPr>
                      <a:r>
                        <a:rPr sz="1800" b="1">
                          <a:solidFill>
                            <a:schemeClr val="tx1"/>
                          </a:solidFill>
                          <a:latin typeface="Times New Roman"/>
                          <a:cs typeface="Times New Roman"/>
                        </a:rPr>
                        <a:t>Paper</a:t>
                      </a:r>
                      <a:r>
                        <a:rPr sz="1800" b="1" spc="-75">
                          <a:solidFill>
                            <a:schemeClr val="tx1"/>
                          </a:solidFill>
                          <a:latin typeface="Times New Roman"/>
                          <a:cs typeface="Times New Roman"/>
                        </a:rPr>
                        <a:t> </a:t>
                      </a:r>
                      <a:r>
                        <a:rPr sz="1800" b="1" spc="-10">
                          <a:solidFill>
                            <a:schemeClr val="tx1"/>
                          </a:solidFill>
                          <a:latin typeface="Times New Roman"/>
                          <a:cs typeface="Times New Roman"/>
                        </a:rPr>
                        <a:t>Title</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286385">
                        <a:lnSpc>
                          <a:spcPct val="100000"/>
                        </a:lnSpc>
                      </a:pPr>
                      <a:r>
                        <a:rPr sz="1800" b="1" spc="-10">
                          <a:solidFill>
                            <a:schemeClr val="tx1"/>
                          </a:solidFill>
                          <a:latin typeface="Times New Roman"/>
                          <a:cs typeface="Times New Roman"/>
                        </a:rPr>
                        <a:t>Methodology</a:t>
                      </a:r>
                      <a:endParaRPr sz="1800">
                        <a:solidFill>
                          <a:schemeClr val="tx1"/>
                        </a:solidFill>
                        <a:latin typeface="Times New Roman"/>
                        <a:cs typeface="Times New Roman"/>
                      </a:endParaRPr>
                    </a:p>
                  </a:txBody>
                  <a:tcPr marL="0" marR="0" marT="5715" marB="0"/>
                </a:tc>
                <a:tc>
                  <a:txBody>
                    <a:bodyPr/>
                    <a:lstStyle/>
                    <a:p>
                      <a:pPr>
                        <a:lnSpc>
                          <a:spcPct val="100000"/>
                        </a:lnSpc>
                        <a:spcBef>
                          <a:spcPts val="45"/>
                        </a:spcBef>
                      </a:pPr>
                      <a:endParaRPr sz="1800">
                        <a:solidFill>
                          <a:schemeClr val="tx1"/>
                        </a:solidFill>
                        <a:latin typeface="Times New Roman"/>
                        <a:cs typeface="Times New Roman"/>
                      </a:endParaRPr>
                    </a:p>
                    <a:p>
                      <a:pPr marL="361315">
                        <a:lnSpc>
                          <a:spcPct val="100000"/>
                        </a:lnSpc>
                      </a:pPr>
                      <a:r>
                        <a:rPr sz="1800" b="1" spc="-10">
                          <a:solidFill>
                            <a:schemeClr val="tx1"/>
                          </a:solidFill>
                          <a:latin typeface="Times New Roman"/>
                          <a:cs typeface="Times New Roman"/>
                        </a:rPr>
                        <a:t>Limitations</a:t>
                      </a:r>
                      <a:endParaRPr sz="1800">
                        <a:solidFill>
                          <a:schemeClr val="tx1"/>
                        </a:solidFill>
                        <a:latin typeface="Times New Roman"/>
                        <a:cs typeface="Times New Roman"/>
                      </a:endParaRPr>
                    </a:p>
                  </a:txBody>
                  <a:tcPr marL="0" marR="0" marT="5715" marB="0"/>
                </a:tc>
                <a:tc>
                  <a:txBody>
                    <a:bodyPr/>
                    <a:lstStyle/>
                    <a:p>
                      <a:pPr marL="261620" marR="85725" indent="-169545" algn="ctr">
                        <a:lnSpc>
                          <a:spcPts val="1380"/>
                        </a:lnSpc>
                        <a:spcBef>
                          <a:spcPts val="840"/>
                        </a:spcBef>
                      </a:pPr>
                      <a:r>
                        <a:rPr lang="en-IN" sz="1800" b="1" spc="-10">
                          <a:solidFill>
                            <a:schemeClr val="tx1"/>
                          </a:solidFill>
                          <a:latin typeface="Times New Roman"/>
                          <a:cs typeface="Times New Roman"/>
                        </a:rPr>
                        <a:t>   </a:t>
                      </a:r>
                      <a:r>
                        <a:rPr sz="1800" b="1" spc="-10">
                          <a:solidFill>
                            <a:schemeClr val="tx1"/>
                          </a:solidFill>
                          <a:latin typeface="Times New Roman"/>
                          <a:cs typeface="Times New Roman"/>
                        </a:rPr>
                        <a:t>Research</a:t>
                      </a:r>
                      <a:r>
                        <a:rPr sz="1800" b="1" spc="-5">
                          <a:solidFill>
                            <a:schemeClr val="tx1"/>
                          </a:solidFill>
                          <a:latin typeface="Times New Roman"/>
                          <a:cs typeface="Times New Roman"/>
                        </a:rPr>
                        <a:t> </a:t>
                      </a:r>
                      <a:r>
                        <a:rPr sz="1800" b="1" spc="-20">
                          <a:solidFill>
                            <a:schemeClr val="tx1"/>
                          </a:solidFill>
                          <a:latin typeface="Times New Roman"/>
                          <a:cs typeface="Times New Roman"/>
                        </a:rPr>
                        <a:t>Gaps </a:t>
                      </a:r>
                      <a:r>
                        <a:rPr sz="1800" b="1" spc="-10">
                          <a:solidFill>
                            <a:schemeClr val="tx1"/>
                          </a:solidFill>
                          <a:latin typeface="Times New Roman"/>
                          <a:cs typeface="Times New Roman"/>
                        </a:rPr>
                        <a:t>Identified</a:t>
                      </a:r>
                      <a:endParaRPr sz="1800">
                        <a:solidFill>
                          <a:schemeClr val="tx1"/>
                        </a:solidFill>
                        <a:latin typeface="Times New Roman"/>
                        <a:cs typeface="Times New Roman"/>
                      </a:endParaRPr>
                    </a:p>
                  </a:txBody>
                  <a:tcPr marL="0" marR="0" marT="106680" marB="0"/>
                </a:tc>
                <a:tc>
                  <a:txBody>
                    <a:bodyPr/>
                    <a:lstStyle/>
                    <a:p>
                      <a:pPr>
                        <a:lnSpc>
                          <a:spcPct val="100000"/>
                        </a:lnSpc>
                        <a:spcBef>
                          <a:spcPts val="45"/>
                        </a:spcBef>
                      </a:pPr>
                      <a:endParaRPr sz="1800">
                        <a:solidFill>
                          <a:schemeClr val="tx1"/>
                        </a:solidFill>
                        <a:latin typeface="Times New Roman"/>
                        <a:cs typeface="Times New Roman"/>
                      </a:endParaRPr>
                    </a:p>
                    <a:p>
                      <a:pPr algn="ctr">
                        <a:lnSpc>
                          <a:spcPct val="100000"/>
                        </a:lnSpc>
                      </a:pPr>
                      <a:r>
                        <a:rPr sz="1800" b="1" spc="-20">
                          <a:solidFill>
                            <a:schemeClr val="tx1"/>
                          </a:solidFill>
                          <a:latin typeface="Times New Roman"/>
                          <a:cs typeface="Times New Roman"/>
                        </a:rPr>
                        <a:t>Year</a:t>
                      </a:r>
                      <a:endParaRPr sz="1800">
                        <a:solidFill>
                          <a:schemeClr val="tx1"/>
                        </a:solidFill>
                        <a:latin typeface="Times New Roman"/>
                        <a:cs typeface="Times New Roman"/>
                      </a:endParaRPr>
                    </a:p>
                  </a:txBody>
                  <a:tcPr marL="0" marR="0" marT="5715" marB="0"/>
                </a:tc>
                <a:extLst>
                  <a:ext uri="{0D108BD9-81ED-4DB2-BD59-A6C34878D82A}">
                    <a16:rowId xmlns:a16="http://schemas.microsoft.com/office/drawing/2014/main" val="1218663633"/>
                  </a:ext>
                </a:extLst>
              </a:tr>
              <a:tr h="4753547">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190"/>
                        </a:spcBef>
                      </a:pPr>
                      <a:endParaRPr sz="1800">
                        <a:latin typeface="Times New Roman"/>
                        <a:cs typeface="Times New Roman"/>
                      </a:endParaRPr>
                    </a:p>
                    <a:p>
                      <a:pPr algn="ctr">
                        <a:lnSpc>
                          <a:spcPct val="100000"/>
                        </a:lnSpc>
                      </a:pPr>
                      <a:r>
                        <a:rPr lang="en-IN" sz="1800" spc="-50">
                          <a:latin typeface="Times New Roman"/>
                          <a:cs typeface="Times New Roman"/>
                        </a:rPr>
                        <a:t>6</a:t>
                      </a:r>
                      <a:endParaRPr sz="1800">
                        <a:latin typeface="Times New Roman"/>
                        <a:cs typeface="Times New Roman"/>
                      </a:endParaRPr>
                    </a:p>
                  </a:txBody>
                  <a:tcPr marL="0" marR="0" marT="0" marB="0"/>
                </a:tc>
                <a:tc>
                  <a:txBody>
                    <a:bodyPr/>
                    <a:lstStyle/>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ct val="150000"/>
                        </a:lnSpc>
                      </a:pPr>
                      <a:r>
                        <a:rPr lang="en-US">
                          <a:latin typeface="Times New Roman" panose="02020603050405020304" pitchFamily="18" charset="0"/>
                          <a:cs typeface="Times New Roman" panose="02020603050405020304" pitchFamily="18" charset="0"/>
                        </a:rPr>
                        <a:t>Ultra-lightweight camouflage object detection framework</a:t>
                      </a:r>
                      <a:endParaRPr lang="en-IN" sz="1800" spc="-10">
                        <a:latin typeface="Times New Roman" panose="02020603050405020304" pitchFamily="18" charset="0"/>
                        <a:cs typeface="Times New Roman" panose="02020603050405020304" pitchFamily="18" charset="0"/>
                      </a:endParaRPr>
                    </a:p>
                  </a:txBody>
                  <a:tcPr marL="0" marR="0" marT="0" marB="0"/>
                </a:tc>
                <a:tc>
                  <a:txBody>
                    <a:bodyPr/>
                    <a:lstStyle/>
                    <a:p>
                      <a:pPr marL="68580">
                        <a:lnSpc>
                          <a:spcPts val="1380"/>
                        </a:lnSpc>
                      </a:pPr>
                      <a:endParaRPr lang="en-IN" sz="1800">
                        <a:latin typeface="Times New Roman"/>
                        <a:cs typeface="Times New Roman"/>
                      </a:endParaRPr>
                    </a:p>
                    <a:p>
                      <a:pPr marL="68580">
                        <a:lnSpc>
                          <a:spcPts val="1380"/>
                        </a:lnSpc>
                      </a:pPr>
                      <a:endParaRPr lang="en-IN" sz="1800">
                        <a:latin typeface="Times New Roman"/>
                        <a:cs typeface="Times New Roman"/>
                      </a:endParaRPr>
                    </a:p>
                    <a:p>
                      <a:pPr marL="68580">
                        <a:lnSpc>
                          <a:spcPct val="100000"/>
                        </a:lnSpc>
                      </a:pPr>
                      <a:r>
                        <a:rPr lang="en-US">
                          <a:latin typeface="Times New Roman" panose="02020603050405020304" pitchFamily="18" charset="0"/>
                          <a:cs typeface="Times New Roman" panose="02020603050405020304" pitchFamily="18" charset="0"/>
                        </a:rPr>
                        <a:t>ULCOD-Net is a lightweight camouflaged object detection model using a </a:t>
                      </a:r>
                      <a:r>
                        <a:rPr lang="en-US" err="1">
                          <a:latin typeface="Times New Roman" panose="02020603050405020304" pitchFamily="18" charset="0"/>
                          <a:cs typeface="Times New Roman" panose="02020603050405020304" pitchFamily="18" charset="0"/>
                        </a:rPr>
                        <a:t>MobileViT</a:t>
                      </a:r>
                      <a:r>
                        <a:rPr lang="en-US">
                          <a:latin typeface="Times New Roman" panose="02020603050405020304" pitchFamily="18" charset="0"/>
                          <a:cs typeface="Times New Roman" panose="02020603050405020304" pitchFamily="18" charset="0"/>
                        </a:rPr>
                        <a:t> backbone, gated feature fusion, and a boundary-region decoder with dual-loss training. It achieves 96 FPS on an RTX 4090 but lacks testing on Raspberry Pi or ARM CPUs, with no quantization, pruning, power analysis, or hardware-aware optimization.</a:t>
                      </a:r>
                      <a:endParaRPr lang="en-IN" sz="1800">
                        <a:latin typeface="Times New Roman" panose="02020603050405020304" pitchFamily="18" charset="0"/>
                        <a:cs typeface="Times New Roman" panose="02020603050405020304" pitchFamily="18" charset="0"/>
                      </a:endParaRPr>
                    </a:p>
                  </a:txBody>
                  <a:tcPr marL="0" marR="0" marT="0" marB="0"/>
                </a:tc>
                <a:tc>
                  <a:txBody>
                    <a:bodyPr/>
                    <a:lstStyle/>
                    <a:p>
                      <a:pPr marL="68580" marR="0" lvl="0" indent="0" defTabSz="91440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The model runs at 96 FPS on an NVIDIA RTX 4090 but was not tested on Raspberry Pi or ARM CPUs, with no power analysis. Although GFLOPs are lightweight for GPUs, it remains relatively heavy for ARM inference. No quantization or pruning results are provided, and evaluation was limited to benchmark datasets </a:t>
                      </a:r>
                      <a:endParaRPr lang="en-IN" sz="1800">
                        <a:latin typeface="Times New Roman"/>
                        <a:cs typeface="Times New Roman"/>
                      </a:endParaRPr>
                    </a:p>
                  </a:txBody>
                  <a:tcPr marL="0" marR="0" marT="0" marB="0"/>
                </a:tc>
                <a:tc>
                  <a:txBody>
                    <a:bodyPr/>
                    <a:lstStyle/>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ts val="1380"/>
                        </a:lnSpc>
                      </a:pPr>
                      <a:endParaRPr lang="en-IN" sz="1800" spc="-10">
                        <a:latin typeface="Times New Roman"/>
                        <a:cs typeface="Times New Roman"/>
                      </a:endParaRPr>
                    </a:p>
                    <a:p>
                      <a:pPr marL="67945">
                        <a:lnSpc>
                          <a:spcPct val="100000"/>
                        </a:lnSpc>
                      </a:pPr>
                      <a:r>
                        <a:rPr lang="en-US" sz="1800" spc="-10">
                          <a:latin typeface="Times New Roman"/>
                          <a:cs typeface="Times New Roman"/>
                        </a:rPr>
                        <a:t>lack of true edge</a:t>
                      </a:r>
                    </a:p>
                    <a:p>
                      <a:pPr marL="67945">
                        <a:lnSpc>
                          <a:spcPct val="100000"/>
                        </a:lnSpc>
                      </a:pPr>
                      <a:r>
                        <a:rPr lang="en-US" sz="1800" spc="-10">
                          <a:latin typeface="Times New Roman"/>
                          <a:cs typeface="Times New Roman"/>
                        </a:rPr>
                        <a:t>Hardware</a:t>
                      </a:r>
                    </a:p>
                    <a:p>
                      <a:pPr marL="67945">
                        <a:lnSpc>
                          <a:spcPct val="100000"/>
                        </a:lnSpc>
                      </a:pPr>
                      <a:r>
                        <a:rPr lang="en-US" sz="1800" spc="-10">
                          <a:latin typeface="Times New Roman"/>
                          <a:cs typeface="Times New Roman"/>
                        </a:rPr>
                        <a:t>Validation</a:t>
                      </a:r>
                    </a:p>
                    <a:p>
                      <a:pPr marL="67945">
                        <a:lnSpc>
                          <a:spcPct val="100000"/>
                        </a:lnSpc>
                      </a:pPr>
                      <a:r>
                        <a:rPr lang="en-US" sz="1800" spc="-10">
                          <a:latin typeface="Times New Roman"/>
                          <a:cs typeface="Times New Roman"/>
                        </a:rPr>
                        <a:t>absence of hardware-aware optimization it was still heavy for arm CPU inference</a:t>
                      </a:r>
                      <a:endParaRPr lang="en-IN" sz="1800" spc="-1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1190"/>
                        </a:spcBef>
                      </a:pPr>
                      <a:endParaRPr sz="1800">
                        <a:latin typeface="Times New Roman"/>
                        <a:cs typeface="Times New Roman"/>
                      </a:endParaRPr>
                    </a:p>
                    <a:p>
                      <a:pPr algn="ctr">
                        <a:lnSpc>
                          <a:spcPct val="100000"/>
                        </a:lnSpc>
                      </a:pPr>
                      <a:r>
                        <a:rPr sz="1800" spc="-20">
                          <a:latin typeface="Times New Roman"/>
                          <a:cs typeface="Times New Roman"/>
                        </a:rPr>
                        <a:t>202</a:t>
                      </a:r>
                      <a:r>
                        <a:rPr lang="en-IN" sz="1800" spc="-20">
                          <a:latin typeface="Times New Roman"/>
                          <a:cs typeface="Times New Roman"/>
                        </a:rPr>
                        <a:t>5</a:t>
                      </a:r>
                      <a:endParaRPr sz="1800">
                        <a:latin typeface="Times New Roman"/>
                        <a:cs typeface="Times New Roman"/>
                      </a:endParaRPr>
                    </a:p>
                  </a:txBody>
                  <a:tcPr marL="0" marR="0" marT="0" marB="0"/>
                </a:tc>
                <a:extLst>
                  <a:ext uri="{0D108BD9-81ED-4DB2-BD59-A6C34878D82A}">
                    <a16:rowId xmlns:a16="http://schemas.microsoft.com/office/drawing/2014/main" val="1970185021"/>
                  </a:ext>
                </a:extLst>
              </a:tr>
            </a:tbl>
          </a:graphicData>
        </a:graphic>
      </p:graphicFrame>
      <p:pic>
        <p:nvPicPr>
          <p:cNvPr id="7" name="Picture 6">
            <a:extLst>
              <a:ext uri="{FF2B5EF4-FFF2-40B4-BE49-F238E27FC236}">
                <a16:creationId xmlns:a16="http://schemas.microsoft.com/office/drawing/2014/main" id="{F77C42A7-F168-76AE-728F-0C2D3C698C37}"/>
              </a:ext>
            </a:extLst>
          </p:cNvPr>
          <p:cNvPicPr>
            <a:picLocks noChangeAspect="1"/>
          </p:cNvPicPr>
          <p:nvPr/>
        </p:nvPicPr>
        <p:blipFill>
          <a:blip r:embed="rId2"/>
          <a:stretch>
            <a:fillRect/>
          </a:stretch>
        </p:blipFill>
        <p:spPr>
          <a:xfrm>
            <a:off x="2806402" y="-76200"/>
            <a:ext cx="6953250" cy="914400"/>
          </a:xfrm>
          <a:prstGeom prst="rect">
            <a:avLst/>
          </a:prstGeom>
        </p:spPr>
      </p:pic>
      <p:sp>
        <p:nvSpPr>
          <p:cNvPr id="8" name="TextBox 7">
            <a:extLst>
              <a:ext uri="{FF2B5EF4-FFF2-40B4-BE49-F238E27FC236}">
                <a16:creationId xmlns:a16="http://schemas.microsoft.com/office/drawing/2014/main" id="{01C4FE5B-E584-EFD1-D895-092970117D31}"/>
              </a:ext>
            </a:extLst>
          </p:cNvPr>
          <p:cNvSpPr txBox="1"/>
          <p:nvPr/>
        </p:nvSpPr>
        <p:spPr>
          <a:xfrm>
            <a:off x="963560" y="6477000"/>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10</a:t>
            </a:r>
            <a:endParaRPr lang="en-IN" sz="1200" spc="-85">
              <a:solidFill>
                <a:schemeClr val="tx1"/>
              </a:solidFill>
            </a:endParaRPr>
          </a:p>
        </p:txBody>
      </p:sp>
    </p:spTree>
    <p:extLst>
      <p:ext uri="{BB962C8B-B14F-4D97-AF65-F5344CB8AC3E}">
        <p14:creationId xmlns:p14="http://schemas.microsoft.com/office/powerpoint/2010/main" val="3258312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50"/>
              <a:t>PROBLEM</a:t>
            </a:r>
            <a:r>
              <a:rPr spc="229"/>
              <a:t> </a:t>
            </a:r>
            <a:r>
              <a:rPr spc="50"/>
              <a:t>STATEMENT</a:t>
            </a:r>
          </a:p>
        </p:txBody>
      </p:sp>
      <p:sp>
        <p:nvSpPr>
          <p:cNvPr id="3" name="object 3"/>
          <p:cNvSpPr txBox="1"/>
          <p:nvPr/>
        </p:nvSpPr>
        <p:spPr>
          <a:xfrm>
            <a:off x="522765" y="1587676"/>
            <a:ext cx="11136630" cy="2205988"/>
          </a:xfrm>
          <a:prstGeom prst="rect">
            <a:avLst/>
          </a:prstGeom>
        </p:spPr>
        <p:txBody>
          <a:bodyPr vert="horz" wrap="square" lIns="0" tIns="14604" rIns="0" bIns="0" rtlCol="0">
            <a:spAutoFit/>
          </a:bodyPr>
          <a:lstStyle/>
          <a:p>
            <a:pPr marL="12700" marR="5080" indent="5080" algn="just">
              <a:lnSpc>
                <a:spcPct val="153400"/>
              </a:lnSpc>
              <a:spcBef>
                <a:spcPts val="114"/>
              </a:spcBef>
            </a:pPr>
            <a:r>
              <a:rPr lang="en-US" sz="2400">
                <a:latin typeface="Times New Roman" panose="02020603050405020304" pitchFamily="18" charset="0"/>
                <a:cs typeface="Times New Roman" panose="02020603050405020304" pitchFamily="18" charset="0"/>
              </a:rPr>
              <a:t>Existing camouflaged military target detection models achieve strong accuracy using heavy Transformer-based architectures, but their high computational cost and latency make them impractical for deployment on resource-constrained edge platforms, creating the need for an efficient, low-power, real-time edge-native detection framework.</a:t>
            </a:r>
            <a:endParaRPr lang="en-US" sz="235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45ED94E-1000-69C5-A460-F6C14F17688C}"/>
              </a:ext>
            </a:extLst>
          </p:cNvPr>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11</a:t>
            </a:r>
            <a:endParaRPr lang="en-IN" sz="1200" spc="-85">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4220845">
              <a:lnSpc>
                <a:spcPct val="100000"/>
              </a:lnSpc>
              <a:spcBef>
                <a:spcPts val="105"/>
              </a:spcBef>
            </a:pPr>
            <a:r>
              <a:rPr spc="140"/>
              <a:t>OBJECTIVES</a:t>
            </a:r>
          </a:p>
        </p:txBody>
      </p:sp>
      <p:sp>
        <p:nvSpPr>
          <p:cNvPr id="3" name="object 3"/>
          <p:cNvSpPr txBox="1"/>
          <p:nvPr/>
        </p:nvSpPr>
        <p:spPr>
          <a:xfrm>
            <a:off x="524591" y="1587676"/>
            <a:ext cx="11123295" cy="489493"/>
          </a:xfrm>
          <a:prstGeom prst="rect">
            <a:avLst/>
          </a:prstGeom>
        </p:spPr>
        <p:txBody>
          <a:bodyPr vert="horz" wrap="square" lIns="0" tIns="11430" rIns="0" bIns="0" rtlCol="0">
            <a:spAutoFit/>
          </a:bodyPr>
          <a:lstStyle/>
          <a:p>
            <a:pPr marL="16510" marR="12065">
              <a:lnSpc>
                <a:spcPct val="154300"/>
              </a:lnSpc>
              <a:spcBef>
                <a:spcPts val="90"/>
              </a:spcBef>
              <a:tabLst>
                <a:tab pos="341630" algn="l"/>
                <a:tab pos="3591560" algn="l"/>
              </a:tabLst>
            </a:pPr>
            <a:endParaRPr sz="2300">
              <a:latin typeface="Times New Roman"/>
              <a:cs typeface="Times New Roman"/>
            </a:endParaRPr>
          </a:p>
        </p:txBody>
      </p:sp>
      <p:sp>
        <p:nvSpPr>
          <p:cNvPr id="7" name="TextBox 6">
            <a:extLst>
              <a:ext uri="{FF2B5EF4-FFF2-40B4-BE49-F238E27FC236}">
                <a16:creationId xmlns:a16="http://schemas.microsoft.com/office/drawing/2014/main" id="{F9D537B8-0636-11EF-60FF-B7679A862E3F}"/>
              </a:ext>
            </a:extLst>
          </p:cNvPr>
          <p:cNvSpPr txBox="1"/>
          <p:nvPr/>
        </p:nvSpPr>
        <p:spPr>
          <a:xfrm>
            <a:off x="914400" y="6169731"/>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12</a:t>
            </a:r>
            <a:endParaRPr lang="en-IN" sz="1200" spc="-85">
              <a:solidFill>
                <a:schemeClr val="tx1"/>
              </a:solidFill>
            </a:endParaRPr>
          </a:p>
        </p:txBody>
      </p:sp>
      <p:sp>
        <p:nvSpPr>
          <p:cNvPr id="8" name="Rectangle 1">
            <a:extLst>
              <a:ext uri="{FF2B5EF4-FFF2-40B4-BE49-F238E27FC236}">
                <a16:creationId xmlns:a16="http://schemas.microsoft.com/office/drawing/2014/main" id="{659C14EE-ADCD-39DD-7619-C04BA14FD626}"/>
              </a:ext>
            </a:extLst>
          </p:cNvPr>
          <p:cNvSpPr>
            <a:spLocks noChangeArrowheads="1"/>
          </p:cNvSpPr>
          <p:nvPr/>
        </p:nvSpPr>
        <p:spPr bwMode="auto">
          <a:xfrm>
            <a:off x="914400" y="1370758"/>
            <a:ext cx="104394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Design a lightweight, computationally efficient deep learning model</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for accurate camouflaged soldier and vehicle detection in complex natural environments, optimized for real-time performance on resource-constrained military edge platforms such as micro-UAVs, smart drones, and wearable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Integrate hardware-aware optimization techniques</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including model compression, pruning, and quantization to significantly reduce latency, memory footprint, computational overhead, and power consumption without sacrificing detection reliability.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Develop a fully onboard, autonomous edge pipeline</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capable of real-time video frame processing, camouflage detection, instant threat alert generation, and trigger-based response without reliance on centralized servers or cloud infrastructure.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50"/>
              <a:t>RESEARCH GAP</a:t>
            </a:r>
          </a:p>
        </p:txBody>
      </p:sp>
      <p:sp>
        <p:nvSpPr>
          <p:cNvPr id="3" name="object 3"/>
          <p:cNvSpPr txBox="1"/>
          <p:nvPr/>
        </p:nvSpPr>
        <p:spPr>
          <a:xfrm>
            <a:off x="564518" y="1493731"/>
            <a:ext cx="11063144" cy="4154984"/>
          </a:xfrm>
          <a:prstGeom prst="rect">
            <a:avLst/>
          </a:prstGeom>
        </p:spPr>
        <p:txBody>
          <a:bodyPr vert="horz" wrap="square" lIns="91440" tIns="45720" rIns="91440" bIns="45720" rtlCol="0" anchor="t">
            <a:spAutoFit/>
          </a:bodyPr>
          <a:lstStyle/>
          <a:p>
            <a:pPr marL="0" marR="0" lvl="0" indent="0" algn="l" defTabSz="914400" rtl="0" eaLnBrk="0" fontAlgn="base" latinLnBrk="0" hangingPunct="0">
              <a:lnSpc>
                <a:spcPct val="100000"/>
              </a:lnSpc>
              <a:spcBef>
                <a:spcPct val="0"/>
              </a:spcBef>
              <a:buChar char="•"/>
              <a:tabLst/>
            </a:pPr>
            <a:r>
              <a:rPr kumimoji="0" lang="en-US" altLang="en-US" sz="2200" b="0" i="0" u="none" strike="noStrike" cap="none" normalizeH="0" baseline="0">
                <a:latin typeface="Times New Roman"/>
                <a:cs typeface="Times New Roman"/>
              </a:rPr>
              <a:t>High computational complexity of existing COD models prevents real-time edge deployment</a:t>
            </a:r>
            <a:endParaRPr lang="en-US" altLang="en-US" sz="2200">
              <a:solidFill>
                <a:srgbClr val="000000"/>
              </a:solidFill>
              <a:latin typeface="Times New Roman"/>
              <a:cs typeface="Times New Roman"/>
            </a:endParaRPr>
          </a:p>
          <a:p>
            <a:pPr algn="l">
              <a:spcBef>
                <a:spcPct val="0"/>
              </a:spcBef>
            </a:pPr>
            <a:endParaRPr lang="en-US" altLang="en-US" sz="2200">
              <a:latin typeface="Times New Roman"/>
              <a:cs typeface="Times New Roman"/>
            </a:endParaRPr>
          </a:p>
          <a:p>
            <a:pPr marL="0" marR="0" lvl="0" indent="0" algn="l" defTabSz="914400" rtl="0" eaLnBrk="0" fontAlgn="base" latinLnBrk="0" hangingPunct="0">
              <a:lnSpc>
                <a:spcPct val="100000"/>
              </a:lnSpc>
              <a:spcBef>
                <a:spcPct val="0"/>
              </a:spcBef>
              <a:buChar char="•"/>
              <a:tabLst/>
            </a:pPr>
            <a:r>
              <a:rPr kumimoji="0" lang="en-US" altLang="en-US" sz="2200" b="0" i="0" u="none" strike="noStrike" cap="none" normalizeH="0" baseline="0">
                <a:latin typeface="Times New Roman"/>
                <a:cs typeface="Times New Roman"/>
              </a:rPr>
              <a:t>No existing model balances high accuracy with lightweight inference on ARM/embedded CPUs</a:t>
            </a:r>
          </a:p>
          <a:p>
            <a:pPr algn="l">
              <a:spcBef>
                <a:spcPct val="0"/>
              </a:spcBef>
              <a:buChar char="•"/>
            </a:pPr>
            <a:endParaRPr lang="en-US" altLang="en-US" sz="2200">
              <a:latin typeface="Times New Roman"/>
              <a:cs typeface="Times New Roman"/>
            </a:endParaRPr>
          </a:p>
          <a:p>
            <a:pPr marL="0" marR="0" lvl="0" indent="0" algn="l" defTabSz="914400" rtl="0" eaLnBrk="0" fontAlgn="base" latinLnBrk="0" hangingPunct="0">
              <a:lnSpc>
                <a:spcPct val="100000"/>
              </a:lnSpc>
              <a:spcBef>
                <a:spcPct val="0"/>
              </a:spcBef>
              <a:buChar char="•"/>
              <a:tabLst/>
            </a:pPr>
            <a:r>
              <a:rPr kumimoji="0" lang="en-US" altLang="en-US" sz="2200" b="0" i="0" u="none" strike="noStrike" cap="none" normalizeH="0" baseline="0">
                <a:latin typeface="Times New Roman"/>
                <a:cs typeface="Times New Roman"/>
              </a:rPr>
              <a:t>Most models tested only on GPU hardware — lacking true edge hardware validation</a:t>
            </a:r>
          </a:p>
          <a:p>
            <a:pPr algn="l">
              <a:spcBef>
                <a:spcPct val="0"/>
              </a:spcBef>
              <a:buChar char="•"/>
            </a:pPr>
            <a:endParaRPr lang="en-US" altLang="en-US" sz="2200">
              <a:latin typeface="Times New Roman"/>
              <a:cs typeface="Times New Roman"/>
            </a:endParaRPr>
          </a:p>
          <a:p>
            <a:pPr marL="0" marR="0" lvl="0" indent="0" algn="l" defTabSz="914400" rtl="0" eaLnBrk="0" fontAlgn="base" latinLnBrk="0" hangingPunct="0">
              <a:lnSpc>
                <a:spcPct val="100000"/>
              </a:lnSpc>
              <a:spcBef>
                <a:spcPct val="0"/>
              </a:spcBef>
              <a:buChar char="•"/>
              <a:tabLst/>
            </a:pPr>
            <a:r>
              <a:rPr kumimoji="0" lang="en-US" altLang="en-US" sz="2200" b="0" i="0" u="none" strike="noStrike" cap="none" normalizeH="0" baseline="0">
                <a:latin typeface="Times New Roman"/>
                <a:cs typeface="Times New Roman"/>
              </a:rPr>
              <a:t>Absence of hardware-aware optimization (quantization, pruning) in current COD pipelines</a:t>
            </a:r>
          </a:p>
          <a:p>
            <a:pPr algn="l">
              <a:spcBef>
                <a:spcPct val="0"/>
              </a:spcBef>
              <a:buChar char="•"/>
            </a:pPr>
            <a:endParaRPr lang="en-US" altLang="en-US" sz="2200">
              <a:latin typeface="Times New Roman"/>
              <a:cs typeface="Times New Roman"/>
            </a:endParaRPr>
          </a:p>
          <a:p>
            <a:pPr marL="0" marR="0" lvl="0" indent="0" algn="l" defTabSz="914400" rtl="0" eaLnBrk="0" fontAlgn="base" latinLnBrk="0" hangingPunct="0">
              <a:lnSpc>
                <a:spcPct val="100000"/>
              </a:lnSpc>
              <a:spcBef>
                <a:spcPct val="0"/>
              </a:spcBef>
              <a:buChar char="•"/>
              <a:tabLst/>
            </a:pPr>
            <a:r>
              <a:rPr kumimoji="0" lang="en-US" altLang="en-US" sz="2200" b="0" i="0" u="none" strike="noStrike" cap="none" normalizeH="0" baseline="0">
                <a:latin typeface="Times New Roman"/>
                <a:cs typeface="Times New Roman"/>
              </a:rPr>
              <a:t>Limited real-time video validation on resource-constrained devices such as Raspberry Pi or Jetson Nano</a:t>
            </a:r>
          </a:p>
          <a:p>
            <a:pPr algn="l">
              <a:spcBef>
                <a:spcPct val="0"/>
              </a:spcBef>
              <a:buChar char="•"/>
            </a:pPr>
            <a:endParaRPr lang="en-US" altLang="en-US" sz="2200">
              <a:latin typeface="Times New Roman"/>
              <a:cs typeface="Times New Roman"/>
            </a:endParaRPr>
          </a:p>
          <a:p>
            <a:pPr marL="0" marR="0" lvl="0" indent="0" algn="l" defTabSz="914400" rtl="0" eaLnBrk="0" fontAlgn="base" latinLnBrk="0" hangingPunct="0">
              <a:lnSpc>
                <a:spcPct val="100000"/>
              </a:lnSpc>
              <a:spcBef>
                <a:spcPct val="0"/>
              </a:spcBef>
              <a:buChar char="•"/>
              <a:tabLst/>
            </a:pPr>
            <a:r>
              <a:rPr kumimoji="0" lang="en-US" altLang="en-US" sz="2200" b="0" i="0" u="none" strike="noStrike" cap="none" normalizeH="0" baseline="0">
                <a:latin typeface="Times New Roman"/>
                <a:cs typeface="Times New Roman"/>
              </a:rPr>
              <a:t>No cloud-independent, autonomous trigger-based response mechanism in existing systems</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50"/>
              <a:t>PROPOSED SYSTEM</a:t>
            </a:r>
          </a:p>
        </p:txBody>
      </p:sp>
      <p:sp>
        <p:nvSpPr>
          <p:cNvPr id="3" name="object 3"/>
          <p:cNvSpPr txBox="1"/>
          <p:nvPr/>
        </p:nvSpPr>
        <p:spPr>
          <a:xfrm>
            <a:off x="522765" y="1587676"/>
            <a:ext cx="11136630" cy="4500000"/>
          </a:xfrm>
          <a:prstGeom prst="rect">
            <a:avLst/>
          </a:prstGeom>
        </p:spPr>
        <p:txBody>
          <a:bodyPr vert="horz" wrap="square" lIns="91440" tIns="45720" rIns="91440" bIns="45720" rtlCol="0">
            <a:spAutoFit/>
          </a:bodyPr>
          <a:lstStyle/>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Develop a lightweight camouflaged object detection system optimized for real-time performance</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Employ efficient deep learning backbone (MobileViT / lightweight CNN / YOLO-based) for fast inference</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Apply hardware-aware model optimization: quantization, pruning, and TFLite/ONNX conversion</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Build a fully onboard, autonomous edge pipeline with trigger-based alert response</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Enable real-time video stream processing without cloud dependency</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Ensure deployment on resource-constrained platforms: Raspberry Pi, Jetson Nano, micro-UAVs</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666815" y="672503"/>
            <a:ext cx="7568499" cy="529590"/>
          </a:xfrm>
          <a:prstGeom prst="rect">
            <a:avLst/>
          </a:prstGeom>
        </p:spPr>
        <p:txBody>
          <a:bodyPr vert="horz" wrap="square" lIns="0" tIns="13335" rIns="0" bIns="0" rtlCol="0">
            <a:spAutoFit/>
          </a:bodyPr>
          <a:lstStyle/>
          <a:p>
            <a:pPr marL="12700">
              <a:lnSpc>
                <a:spcPct val="100000"/>
              </a:lnSpc>
              <a:spcBef>
                <a:spcPts val="105"/>
              </a:spcBef>
            </a:pPr>
            <a:r>
              <a:rPr spc="150"/>
              <a:t>FUNCTIONAL REQUIREMENTS</a:t>
            </a:r>
          </a:p>
        </p:txBody>
      </p:sp>
      <p:sp>
        <p:nvSpPr>
          <p:cNvPr id="3" name="object 3"/>
          <p:cNvSpPr txBox="1"/>
          <p:nvPr/>
        </p:nvSpPr>
        <p:spPr>
          <a:xfrm>
            <a:off x="522765" y="1587676"/>
            <a:ext cx="11136630" cy="4500000"/>
          </a:xfrm>
          <a:prstGeom prst="rect">
            <a:avLst/>
          </a:prstGeom>
        </p:spPr>
        <p:txBody>
          <a:bodyPr vert="horz" wrap="square" lIns="91440" tIns="45720" rIns="91440" bIns="45720" rtlCol="0">
            <a:spAutoFit/>
          </a:bodyPr>
          <a:lstStyle/>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Accept video/image input from drone camera or recorded footage</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Preprocess data: resizing, normalization, format conversion</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Train and fine-tune detection model on camouflage datasets (COD10K, CAMO, NC4K)</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Optimize model using quantization and pruning for edge deployment</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Perform real-time inference and generate bounding box / segmentation mask output</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Display detection output with confidence scores and trigger alerts on target detection</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609008" y="698779"/>
            <a:ext cx="7668347" cy="529590"/>
          </a:xfrm>
          <a:prstGeom prst="rect">
            <a:avLst/>
          </a:prstGeom>
        </p:spPr>
        <p:txBody>
          <a:bodyPr vert="horz" wrap="square" lIns="0" tIns="13335" rIns="0" bIns="0" rtlCol="0">
            <a:spAutoFit/>
          </a:bodyPr>
          <a:lstStyle/>
          <a:p>
            <a:pPr marL="12700">
              <a:lnSpc>
                <a:spcPct val="100000"/>
              </a:lnSpc>
              <a:spcBef>
                <a:spcPts val="105"/>
              </a:spcBef>
            </a:pPr>
            <a:r>
              <a:rPr spc="150"/>
              <a:t>NON-FUNCTIONAL REQUIREMENTS</a:t>
            </a:r>
          </a:p>
        </p:txBody>
      </p:sp>
      <p:sp>
        <p:nvSpPr>
          <p:cNvPr id="3" name="object 3"/>
          <p:cNvSpPr txBox="1"/>
          <p:nvPr/>
        </p:nvSpPr>
        <p:spPr>
          <a:xfrm>
            <a:off x="522765" y="1587676"/>
            <a:ext cx="11136630" cy="4500000"/>
          </a:xfrm>
          <a:prstGeom prst="rect">
            <a:avLst/>
          </a:prstGeom>
        </p:spPr>
        <p:txBody>
          <a:bodyPr vert="horz" wrap="square" lIns="91440" tIns="45720" rIns="91440" bIns="45720" rtlCol="0">
            <a:spAutoFit/>
          </a:bodyPr>
          <a:lstStyle/>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Latency: End-to-end inference latency must be below 100 ms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Efficiency: Minimal memory footprint and low power consumption on edge devices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Scalability: System must support multiple input resolutions and drone configurations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Reliability: Robust detection performance under varying lighting, terrain, and camouflage conditions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Portability: Model must run on ARM-based CPUs without GPU dependency</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Security: All processing must be local — no cloud data transmission</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672070" y="746076"/>
            <a:ext cx="6838030" cy="529590"/>
          </a:xfrm>
          <a:prstGeom prst="rect">
            <a:avLst/>
          </a:prstGeom>
        </p:spPr>
        <p:txBody>
          <a:bodyPr vert="horz" wrap="square" lIns="0" tIns="13335" rIns="0" bIns="0" rtlCol="0">
            <a:spAutoFit/>
          </a:bodyPr>
          <a:lstStyle/>
          <a:p>
            <a:pPr marL="12700">
              <a:lnSpc>
                <a:spcPct val="100000"/>
              </a:lnSpc>
              <a:spcBef>
                <a:spcPts val="105"/>
              </a:spcBef>
            </a:pPr>
            <a:r>
              <a:rPr spc="150"/>
              <a:t>SOFTWARE REQUIREMENTS</a:t>
            </a:r>
          </a:p>
        </p:txBody>
      </p:sp>
      <p:sp>
        <p:nvSpPr>
          <p:cNvPr id="3" name="object 3"/>
          <p:cNvSpPr txBox="1"/>
          <p:nvPr/>
        </p:nvSpPr>
        <p:spPr>
          <a:xfrm>
            <a:off x="522765" y="1587676"/>
            <a:ext cx="11136630" cy="4893647"/>
          </a:xfrm>
          <a:prstGeom prst="rect">
            <a:avLst/>
          </a:prstGeom>
        </p:spPr>
        <p:txBody>
          <a:bodyPr vert="horz" wrap="square" lIns="91440" tIns="45720" rIns="91440" bIns="45720" rtlCol="0" anchor="t">
            <a:spAutoFit/>
          </a:bodyPr>
          <a:lstStyle/>
          <a:p>
            <a:pPr algn="l" rtl="0" eaLnBrk="0" fontAlgn="base" hangingPunct="0">
              <a:buChar char="•"/>
            </a:pPr>
            <a:r>
              <a:rPr lang="en-US" sz="2400"/>
              <a:t>Develop a lightweight </a:t>
            </a:r>
            <a:r>
              <a:rPr lang="en-US" sz="2400" err="1"/>
              <a:t>DGNet</a:t>
            </a:r>
            <a:r>
              <a:rPr lang="en-US" sz="2400"/>
              <a:t>-based camouflaged object detection system optimized for real-time performance </a:t>
            </a:r>
            <a:endParaRPr lang="en-US" altLang="en-US" sz="2400">
              <a:latin typeface="Times New Roman"/>
              <a:cs typeface="Times New Roman"/>
            </a:endParaRPr>
          </a:p>
          <a:p>
            <a:pPr algn="l">
              <a:spcBef>
                <a:spcPct val="0"/>
              </a:spcBef>
              <a:spcAft>
                <a:spcPct val="0"/>
              </a:spcAft>
              <a:buChar char="•"/>
            </a:pPr>
            <a:r>
              <a:rPr lang="en-US" sz="2400"/>
              <a:t>Employ efficient deep learning backbones such as </a:t>
            </a:r>
            <a:r>
              <a:rPr lang="en-US" sz="2400" err="1"/>
              <a:t>DGNet</a:t>
            </a:r>
            <a:r>
              <a:rPr lang="en-US" sz="2400"/>
              <a:t>, </a:t>
            </a:r>
            <a:r>
              <a:rPr lang="en-US" sz="2400" err="1"/>
              <a:t>MobileViT</a:t>
            </a:r>
            <a:r>
              <a:rPr lang="en-US" sz="2400"/>
              <a:t>, lightweight CNNs, or YOLO-based models for fast inference </a:t>
            </a:r>
          </a:p>
          <a:p>
            <a:pPr algn="l">
              <a:spcBef>
                <a:spcPct val="0"/>
              </a:spcBef>
              <a:spcAft>
                <a:spcPct val="0"/>
              </a:spcAft>
              <a:buChar char="•"/>
            </a:pPr>
            <a:r>
              <a:rPr lang="en-US" sz="2400"/>
              <a:t>Utilize </a:t>
            </a:r>
            <a:r>
              <a:rPr lang="en-US" sz="2400" err="1"/>
              <a:t>DGNet</a:t>
            </a:r>
            <a:r>
              <a:rPr lang="en-US" sz="2400"/>
              <a:t> dual-branch learning (context + texture gradients) for improved camouflage detection accuracy </a:t>
            </a:r>
          </a:p>
          <a:p>
            <a:pPr algn="l">
              <a:spcBef>
                <a:spcPct val="0"/>
              </a:spcBef>
              <a:spcAft>
                <a:spcPct val="0"/>
              </a:spcAft>
              <a:buChar char="•"/>
            </a:pPr>
            <a:r>
              <a:rPr lang="en-US" sz="2400"/>
              <a:t>Apply hardware-aware model optimization including quantization, pruning, and </a:t>
            </a:r>
            <a:r>
              <a:rPr lang="en-US" sz="2400" err="1"/>
              <a:t>TFLite</a:t>
            </a:r>
            <a:r>
              <a:rPr lang="en-US" sz="2400"/>
              <a:t>/ONNX conversion </a:t>
            </a:r>
          </a:p>
          <a:p>
            <a:pPr algn="l">
              <a:spcBef>
                <a:spcPct val="0"/>
              </a:spcBef>
              <a:spcAft>
                <a:spcPct val="0"/>
              </a:spcAft>
              <a:buChar char="•"/>
            </a:pPr>
            <a:r>
              <a:rPr lang="en-US" sz="2400"/>
              <a:t>Build a fully onboard, autonomous edge pipeline with trigger-based alert response system </a:t>
            </a:r>
          </a:p>
          <a:p>
            <a:pPr algn="l">
              <a:spcBef>
                <a:spcPct val="0"/>
              </a:spcBef>
              <a:spcAft>
                <a:spcPct val="0"/>
              </a:spcAft>
              <a:buChar char="•"/>
            </a:pPr>
            <a:r>
              <a:rPr lang="en-US" sz="2400"/>
              <a:t>Enable real-time video stream processing without cloud dependency and deploy on Raspberry Pi, Jetson Nano, and micro-UAVs</a:t>
            </a:r>
          </a:p>
          <a:p>
            <a:pPr marL="0" marR="0" lvl="0" indent="0" algn="l" defTabSz="914400">
              <a:lnSpc>
                <a:spcPct val="100000"/>
              </a:lnSpc>
              <a:spcBef>
                <a:spcPct val="0"/>
              </a:spcBef>
              <a:buChar char="•"/>
              <a:tabLst/>
            </a:pPr>
            <a:endParaRPr kumimoji="0" lang="en-US" altLang="en-US" sz="2400" i="0" u="none" strike="noStrike" cap="none" normalizeH="0" baseline="0">
              <a:latin typeface="Times New Roman"/>
              <a:cs typeface="Times New Roman"/>
            </a:endParaRP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17</a:t>
            </a:r>
          </a:p>
        </p:txBody>
      </p:sp>
    </p:spTree>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051882" y="182405"/>
            <a:ext cx="6386085" cy="529590"/>
          </a:xfrm>
          <a:prstGeom prst="rect">
            <a:avLst/>
          </a:prstGeom>
        </p:spPr>
        <p:txBody>
          <a:bodyPr vert="horz" wrap="square" lIns="0" tIns="13335" rIns="0" bIns="0" rtlCol="0">
            <a:spAutoFit/>
          </a:bodyPr>
          <a:lstStyle/>
          <a:p>
            <a:pPr marL="12700">
              <a:lnSpc>
                <a:spcPct val="100000"/>
              </a:lnSpc>
              <a:spcBef>
                <a:spcPts val="105"/>
              </a:spcBef>
            </a:pPr>
            <a:r>
              <a:rPr spc="150"/>
              <a:t>HARDWARE REQUIREMENTS</a:t>
            </a:r>
          </a:p>
        </p:txBody>
      </p:sp>
      <p:sp>
        <p:nvSpPr>
          <p:cNvPr id="3" name="object 3"/>
          <p:cNvSpPr txBox="1"/>
          <p:nvPr/>
        </p:nvSpPr>
        <p:spPr>
          <a:xfrm>
            <a:off x="522765" y="909183"/>
            <a:ext cx="11136630" cy="2862322"/>
          </a:xfrm>
          <a:prstGeom prst="rect">
            <a:avLst/>
          </a:prstGeom>
        </p:spPr>
        <p:txBody>
          <a:bodyPr vert="horz" wrap="square" lIns="91440" tIns="45720" rIns="91440" bIns="45720" rtlCol="0" anchor="t">
            <a:spAutoFit/>
          </a:bodyPr>
          <a:lstStyle/>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Development Machine: CPU Intel i5 or higher, RAM 8 GB minimum (16 GB recommended)</a:t>
            </a:r>
            <a:endParaRPr kumimoji="0" lang="en-US" altLang="en-US" sz="2000">
              <a:solidFill>
                <a:srgbClr val="000000"/>
              </a:solidFill>
              <a:latin typeface="Times New Roman"/>
              <a:cs typeface="Times New Roman"/>
            </a:endParaRP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GPU: Optional for training — NVIDIA GPU with CUDA support preferred</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Edge Deployment Devices: Raspberry Pi 4 / Jetson Nano (primary targets)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Camera: USB camera or CSI camera module for real-time video capture</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Storage: Minimum 50 GB SSD for dataset, model checkpoints, and logs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Network: Local network interface for streaming; no cloud connectivity required during inference</a:t>
            </a:r>
          </a:p>
          <a:p>
            <a:pPr algn="l">
              <a:spcBef>
                <a:spcPct val="0"/>
              </a:spcBef>
              <a:buChar char="•"/>
            </a:pPr>
            <a:endParaRPr lang="en-US" altLang="en-US" sz="2000">
              <a:latin typeface="Times New Roman"/>
              <a:cs typeface="Times New Roman"/>
            </a:endParaRPr>
          </a:p>
          <a:p>
            <a:pPr algn="l"/>
            <a:endParaRPr lang="en-US" sz="2000" b="1">
              <a:latin typeface="Times New Roman"/>
              <a:cs typeface="Times New Roman"/>
            </a:endParaRPr>
          </a:p>
          <a:p>
            <a:pPr algn="l">
              <a:spcBef>
                <a:spcPct val="0"/>
              </a:spcBef>
              <a:buChar char="•"/>
            </a:pPr>
            <a:endParaRPr lang="en-US" altLang="en-US" sz="2000">
              <a:latin typeface="Times New Roman"/>
              <a:cs typeface="Times New Roman"/>
            </a:endParaRP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623256" y="746076"/>
            <a:ext cx="5655616" cy="529590"/>
          </a:xfrm>
          <a:prstGeom prst="rect">
            <a:avLst/>
          </a:prstGeom>
        </p:spPr>
        <p:txBody>
          <a:bodyPr vert="horz" wrap="square" lIns="0" tIns="13335" rIns="0" bIns="0" rtlCol="0">
            <a:spAutoFit/>
          </a:bodyPr>
          <a:lstStyle/>
          <a:p>
            <a:pPr marL="12700">
              <a:lnSpc>
                <a:spcPct val="100000"/>
              </a:lnSpc>
              <a:spcBef>
                <a:spcPts val="105"/>
              </a:spcBef>
            </a:pPr>
            <a:r>
              <a:rPr spc="150"/>
              <a:t>SYSTEM ARCHITECTURE</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19</a:t>
            </a:r>
          </a:p>
        </p:txBody>
      </p:sp>
      <p:pic>
        <p:nvPicPr>
          <p:cNvPr id="4" name="Picture 3" descr="A diagram of a technical flowchart&#10;&#10;AI-generated content may be incorrect.">
            <a:extLst>
              <a:ext uri="{FF2B5EF4-FFF2-40B4-BE49-F238E27FC236}">
                <a16:creationId xmlns:a16="http://schemas.microsoft.com/office/drawing/2014/main" id="{650DF58F-2E1D-AC37-AEC1-6C3ACF21E525}"/>
              </a:ext>
            </a:extLst>
          </p:cNvPr>
          <p:cNvPicPr>
            <a:picLocks noChangeAspect="1"/>
          </p:cNvPicPr>
          <p:nvPr/>
        </p:nvPicPr>
        <p:blipFill>
          <a:blip r:embed="rId2"/>
          <a:stretch>
            <a:fillRect/>
          </a:stretch>
        </p:blipFill>
        <p:spPr>
          <a:xfrm>
            <a:off x="1738147" y="1277007"/>
            <a:ext cx="9435663" cy="496088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50"/>
              <a:t>EXECUTION FLOW</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20</a:t>
            </a:r>
          </a:p>
        </p:txBody>
      </p:sp>
      <p:pic>
        <p:nvPicPr>
          <p:cNvPr id="4" name="Picture 3" descr="A diagram of a machine learning pipeline flow&#10;&#10;AI-generated content may be incorrect.">
            <a:extLst>
              <a:ext uri="{FF2B5EF4-FFF2-40B4-BE49-F238E27FC236}">
                <a16:creationId xmlns:a16="http://schemas.microsoft.com/office/drawing/2014/main" id="{28B358AC-556E-9790-AC8C-25122179035F}"/>
              </a:ext>
            </a:extLst>
          </p:cNvPr>
          <p:cNvPicPr>
            <a:picLocks noChangeAspect="1"/>
          </p:cNvPicPr>
          <p:nvPr/>
        </p:nvPicPr>
        <p:blipFill>
          <a:blip r:embed="rId2"/>
          <a:stretch>
            <a:fillRect/>
          </a:stretch>
        </p:blipFill>
        <p:spPr>
          <a:xfrm>
            <a:off x="996677" y="1341054"/>
            <a:ext cx="10293240" cy="471191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50"/>
              <a:t>USE CASE DIAGRAM</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21</a:t>
            </a:r>
          </a:p>
        </p:txBody>
      </p:sp>
      <p:pic>
        <p:nvPicPr>
          <p:cNvPr id="4" name="Picture 3" descr="A diagram of a military object detection system&#10;&#10;AI-generated content may be incorrect.">
            <a:extLst>
              <a:ext uri="{FF2B5EF4-FFF2-40B4-BE49-F238E27FC236}">
                <a16:creationId xmlns:a16="http://schemas.microsoft.com/office/drawing/2014/main" id="{3427D685-6A34-F9D4-ED36-888EA1DBAF7F}"/>
              </a:ext>
            </a:extLst>
          </p:cNvPr>
          <p:cNvPicPr>
            <a:picLocks noChangeAspect="1"/>
          </p:cNvPicPr>
          <p:nvPr/>
        </p:nvPicPr>
        <p:blipFill>
          <a:blip r:embed="rId2"/>
          <a:stretch>
            <a:fillRect/>
          </a:stretch>
        </p:blipFill>
        <p:spPr>
          <a:xfrm>
            <a:off x="1454534" y="1139550"/>
            <a:ext cx="9230382" cy="50360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pc="150"/>
              <a:t>CONSTRAINTS</a:t>
            </a:r>
          </a:p>
        </p:txBody>
      </p:sp>
      <p:sp>
        <p:nvSpPr>
          <p:cNvPr id="3" name="object 3"/>
          <p:cNvSpPr txBox="1"/>
          <p:nvPr/>
        </p:nvSpPr>
        <p:spPr>
          <a:xfrm>
            <a:off x="522765" y="1587676"/>
            <a:ext cx="11136630" cy="4500000"/>
          </a:xfrm>
          <a:prstGeom prst="rect">
            <a:avLst/>
          </a:prstGeom>
        </p:spPr>
        <p:txBody>
          <a:bodyPr vert="horz" wrap="square" lIns="91440" tIns="45720" rIns="91440" bIns="45720" rtlCol="0">
            <a:spAutoFit/>
          </a:bodyPr>
          <a:lstStyle/>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Limited Hardware Resources: Edge devices have restricted RAM, compute, and power budgets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Real-Time Requirement: Inference must complete within 100 ms per frame to ensure operational utility</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Edge Device Limitations: No dedicated GPU on target platforms (Raspberry Pi); ARM CPU only</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Dataset Bias: Training datasets may not fully represent all military terrain and camouflage types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Environmental Variability: Performance may degrade under extreme lighting or weather conditions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Security Restriction: No cloud connectivity permitted — all computation must be fully onboard</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607491" y="746076"/>
            <a:ext cx="5687147" cy="529590"/>
          </a:xfrm>
          <a:prstGeom prst="rect">
            <a:avLst/>
          </a:prstGeom>
        </p:spPr>
        <p:txBody>
          <a:bodyPr vert="horz" wrap="square" lIns="0" tIns="13335" rIns="0" bIns="0" rtlCol="0">
            <a:spAutoFit/>
          </a:bodyPr>
          <a:lstStyle/>
          <a:p>
            <a:pPr marL="12700">
              <a:lnSpc>
                <a:spcPct val="100000"/>
              </a:lnSpc>
              <a:spcBef>
                <a:spcPts val="105"/>
              </a:spcBef>
            </a:pPr>
            <a:r>
              <a:rPr spc="150"/>
              <a:t>TESTING &amp; EVALUATION</a:t>
            </a:r>
          </a:p>
        </p:txBody>
      </p:sp>
      <p:sp>
        <p:nvSpPr>
          <p:cNvPr id="3" name="object 3"/>
          <p:cNvSpPr txBox="1"/>
          <p:nvPr/>
        </p:nvSpPr>
        <p:spPr>
          <a:xfrm>
            <a:off x="522765" y="1587676"/>
            <a:ext cx="11481095" cy="4524315"/>
          </a:xfrm>
          <a:prstGeom prst="rect">
            <a:avLst/>
          </a:prstGeom>
        </p:spPr>
        <p:txBody>
          <a:bodyPr vert="horz" wrap="square" lIns="91440" tIns="45720" rIns="91440" bIns="45720" rtlCol="0" anchor="t">
            <a:spAutoFit/>
          </a:bodyPr>
          <a:lstStyle/>
          <a:p>
            <a:pPr algn="l" rtl="0" eaLnBrk="0" fontAlgn="base" hangingPunct="0"/>
            <a:endParaRPr lang="en-US" sz="2400" b="1">
              <a:latin typeface="Times New Roman"/>
              <a:cs typeface="Times New Roman"/>
            </a:endParaRPr>
          </a:p>
          <a:p>
            <a:pPr algn="l">
              <a:buChar char="•"/>
            </a:pPr>
            <a:endParaRPr lang="en-US" sz="2400">
              <a:latin typeface="Times New Roman"/>
              <a:cs typeface="Times New Roman"/>
            </a:endParaRPr>
          </a:p>
          <a:p>
            <a:pPr algn="l">
              <a:spcBef>
                <a:spcPct val="0"/>
              </a:spcBef>
              <a:spcAft>
                <a:spcPct val="0"/>
              </a:spcAft>
              <a:buChar char="•"/>
            </a:pPr>
            <a:r>
              <a:rPr lang="en-US" sz="2400">
                <a:latin typeface="Times New Roman"/>
                <a:cs typeface="Times New Roman"/>
              </a:rPr>
              <a:t>Use TensorFlow Lite Model Analyzer to inspect model structure and compatibility </a:t>
            </a:r>
          </a:p>
          <a:p>
            <a:pPr algn="l">
              <a:spcBef>
                <a:spcPct val="0"/>
              </a:spcBef>
              <a:spcAft>
                <a:spcPct val="0"/>
              </a:spcAft>
              <a:buChar char="•"/>
            </a:pPr>
            <a:r>
              <a:rPr lang="en-US" sz="2400">
                <a:latin typeface="Times New Roman"/>
                <a:cs typeface="Times New Roman"/>
              </a:rPr>
              <a:t>Use </a:t>
            </a:r>
            <a:r>
              <a:rPr lang="en-US" sz="2400" err="1">
                <a:latin typeface="Times New Roman"/>
                <a:cs typeface="Times New Roman"/>
              </a:rPr>
              <a:t>TFLite</a:t>
            </a:r>
            <a:r>
              <a:rPr lang="en-US" sz="2400">
                <a:latin typeface="Times New Roman"/>
                <a:cs typeface="Times New Roman"/>
              </a:rPr>
              <a:t> Interpreter (local testing) to measure: </a:t>
            </a:r>
          </a:p>
          <a:p>
            <a:pPr lvl="1" algn="l">
              <a:spcBef>
                <a:spcPct val="0"/>
              </a:spcBef>
              <a:spcAft>
                <a:spcPct val="0"/>
              </a:spcAft>
              <a:buChar char="•"/>
            </a:pPr>
            <a:r>
              <a:rPr lang="en-US" sz="2400">
                <a:latin typeface="Times New Roman"/>
                <a:cs typeface="Times New Roman"/>
              </a:rPr>
              <a:t>Inference time </a:t>
            </a:r>
          </a:p>
          <a:p>
            <a:pPr lvl="1" algn="l">
              <a:spcBef>
                <a:spcPct val="0"/>
              </a:spcBef>
              <a:spcAft>
                <a:spcPct val="0"/>
              </a:spcAft>
              <a:buChar char="•"/>
            </a:pPr>
            <a:r>
              <a:rPr lang="en-US" sz="2400">
                <a:latin typeface="Times New Roman"/>
                <a:cs typeface="Times New Roman"/>
              </a:rPr>
              <a:t>Memory usage </a:t>
            </a:r>
          </a:p>
          <a:p>
            <a:pPr algn="l">
              <a:spcBef>
                <a:spcPct val="0"/>
              </a:spcBef>
              <a:spcAft>
                <a:spcPct val="0"/>
              </a:spcAft>
              <a:buChar char="•"/>
            </a:pPr>
            <a:r>
              <a:rPr lang="en-US" sz="2400">
                <a:latin typeface="Times New Roman"/>
                <a:cs typeface="Times New Roman"/>
              </a:rPr>
              <a:t>Use Google AI Edge / mobile benchmarking tools(flutter)  for device testing </a:t>
            </a:r>
          </a:p>
          <a:p>
            <a:pPr algn="l">
              <a:spcBef>
                <a:spcPct val="0"/>
              </a:spcBef>
              <a:spcAft>
                <a:spcPct val="0"/>
              </a:spcAft>
              <a:buChar char="•"/>
            </a:pPr>
            <a:r>
              <a:rPr lang="en-US" sz="2400">
                <a:latin typeface="Times New Roman"/>
                <a:cs typeface="Times New Roman"/>
              </a:rPr>
              <a:t>Evaluate performance using: </a:t>
            </a:r>
          </a:p>
          <a:p>
            <a:pPr lvl="1" algn="l">
              <a:spcBef>
                <a:spcPct val="0"/>
              </a:spcBef>
              <a:spcAft>
                <a:spcPct val="0"/>
              </a:spcAft>
              <a:buChar char="•"/>
            </a:pPr>
            <a:r>
              <a:rPr lang="en-US" sz="2400">
                <a:latin typeface="Times New Roman"/>
                <a:cs typeface="Times New Roman"/>
              </a:rPr>
              <a:t>Latency </a:t>
            </a:r>
          </a:p>
          <a:p>
            <a:pPr lvl="1" algn="l">
              <a:spcBef>
                <a:spcPct val="0"/>
              </a:spcBef>
              <a:spcAft>
                <a:spcPct val="0"/>
              </a:spcAft>
              <a:buChar char="•"/>
            </a:pPr>
            <a:r>
              <a:rPr lang="en-US" sz="2400">
                <a:latin typeface="Times New Roman"/>
                <a:cs typeface="Times New Roman"/>
              </a:rPr>
              <a:t>FPS (Frames Per Second) </a:t>
            </a:r>
          </a:p>
          <a:p>
            <a:pPr lvl="1" algn="l">
              <a:spcBef>
                <a:spcPct val="0"/>
              </a:spcBef>
              <a:spcAft>
                <a:spcPct val="0"/>
              </a:spcAft>
              <a:buChar char="•"/>
            </a:pPr>
            <a:r>
              <a:rPr lang="en-US" sz="2400">
                <a:latin typeface="Times New Roman"/>
                <a:cs typeface="Times New Roman"/>
              </a:rPr>
              <a:t>Real-time inference capability</a:t>
            </a:r>
          </a:p>
          <a:p>
            <a:pPr lvl="1" algn="l">
              <a:spcBef>
                <a:spcPct val="0"/>
              </a:spcBef>
              <a:spcAft>
                <a:spcPct val="0"/>
              </a:spcAft>
              <a:buChar char="•"/>
            </a:pPr>
            <a:r>
              <a:rPr lang="en-US" sz="2000">
                <a:latin typeface="Times New Roman"/>
                <a:cs typeface="Times New Roman"/>
              </a:rPr>
              <a:t>Evaluate using </a:t>
            </a:r>
            <a:r>
              <a:rPr lang="en-US" sz="2000" err="1">
                <a:latin typeface="Times New Roman"/>
                <a:cs typeface="Times New Roman"/>
              </a:rPr>
              <a:t>mAP</a:t>
            </a:r>
            <a:r>
              <a:rPr lang="en-US" sz="2000">
                <a:latin typeface="Times New Roman"/>
                <a:cs typeface="Times New Roman"/>
              </a:rPr>
              <a:t>, </a:t>
            </a:r>
            <a:r>
              <a:rPr lang="en-US" sz="2000" err="1">
                <a:latin typeface="Times New Roman"/>
                <a:cs typeface="Times New Roman"/>
              </a:rPr>
              <a:t>IoU</a:t>
            </a:r>
            <a:r>
              <a:rPr lang="en-US" sz="2000">
                <a:latin typeface="Times New Roman"/>
                <a:cs typeface="Times New Roman"/>
              </a:rPr>
              <a:t>, F1-score on COD10K, CAMO, NC4K test sets</a:t>
            </a:r>
            <a:endParaRPr lang="en-US" sz="2400">
              <a:latin typeface="Times New Roman"/>
              <a:cs typeface="Times New Roman"/>
            </a:endParaRP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23</a:t>
            </a:r>
          </a:p>
        </p:txBody>
      </p:sp>
    </p:spTree>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621739" y="746076"/>
            <a:ext cx="2938693" cy="529590"/>
          </a:xfrm>
          <a:prstGeom prst="rect">
            <a:avLst/>
          </a:prstGeom>
        </p:spPr>
        <p:txBody>
          <a:bodyPr vert="horz" wrap="square" lIns="0" tIns="13335" rIns="0" bIns="0" rtlCol="0">
            <a:spAutoFit/>
          </a:bodyPr>
          <a:lstStyle/>
          <a:p>
            <a:pPr marL="12700">
              <a:lnSpc>
                <a:spcPct val="100000"/>
              </a:lnSpc>
              <a:spcBef>
                <a:spcPts val="105"/>
              </a:spcBef>
            </a:pPr>
            <a:r>
              <a:rPr spc="150"/>
              <a:t>CONCLUSION</a:t>
            </a:r>
          </a:p>
        </p:txBody>
      </p:sp>
      <p:sp>
        <p:nvSpPr>
          <p:cNvPr id="3" name="object 3"/>
          <p:cNvSpPr txBox="1"/>
          <p:nvPr/>
        </p:nvSpPr>
        <p:spPr>
          <a:xfrm>
            <a:off x="522765" y="1587676"/>
            <a:ext cx="11136630" cy="4500000"/>
          </a:xfrm>
          <a:prstGeom prst="rect">
            <a:avLst/>
          </a:prstGeom>
        </p:spPr>
        <p:txBody>
          <a:bodyPr vert="horz" wrap="square" lIns="91440" tIns="45720" rIns="91440" bIns="45720" rtlCol="0">
            <a:spAutoFit/>
          </a:bodyPr>
          <a:lstStyle/>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Designed a lightweight, hardware-aware camouflaged object detection system for edge deployment</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Integrated model compression (quantization, pruning) to enable real-time inference on ARM CPUs</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Proposed fully onboard autonomous pipeline with trigger-based response — no cloud dependency</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Addresses key research gaps: edge hardware validation, real-time video processing, and efficiency</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Balances detection accuracy and computational efficiency for real-world military surveillance use</a:t>
            </a:r>
          </a:p>
          <a:p>
            <a:pPr marL="0" marR="0" lvl="0" indent="0" algn="l" defTabSz="914400" rtl="0" eaLnBrk="0" fontAlgn="base" latinLnBrk="0" hangingPunct="0">
              <a:lnSpc>
                <a:spcPct val="100000"/>
              </a:lnSpc>
              <a:spcBef>
                <a:spcPct val="0"/>
              </a:spcBef>
              <a:buChar char="•"/>
              <a:tabLst/>
            </a:pPr>
            <a:r>
              <a:rPr kumimoji="0" lang="en-US" altLang="en-US" sz="2000" b="0" i="0" u="none" strike="noStrike" cap="none" normalizeH="0" baseline="0">
                <a:latin typeface="Times New Roman"/>
                <a:cs typeface="Times New Roman"/>
              </a:rPr>
              <a:t>Future work: multimodal fusion (RGB + IR), domain adaptation, and cross-terrain generalization</a:t>
            </a:r>
          </a:p>
        </p:txBody>
      </p:sp>
      <p:sp>
        <p:nvSpPr>
          <p:cNvPr id="7" name="TextBox 6"/>
          <p:cNvSpPr txBox="1"/>
          <p:nvPr/>
        </p:nvSpPr>
        <p:spPr>
          <a:xfrm>
            <a:off x="990600" y="6400800"/>
            <a:ext cx="10918938" cy="284180"/>
          </a:xfrm>
          <a:prstGeom prst="rect">
            <a:avLst/>
          </a:prstGeom>
          <a:noFill/>
        </p:spPr>
        <p:txBody>
          <a:bodyPr wrap="square">
            <a:spAutoFit/>
          </a:bodyPr>
          <a:lstStyle/>
          <a:p>
            <a:pPr marL="12700">
              <a:lnSpc>
                <a:spcPts val="1635"/>
              </a:lnSpc>
            </a:pPr>
            <a:r>
              <a:rPr lang="en-IN" sz="1300"/>
              <a:t>03-03-2025                                                                                              </a:t>
            </a:r>
            <a:r>
              <a:rPr lang="en-IN" sz="1200" spc="-85">
                <a:solidFill>
                  <a:schemeClr val="tx1"/>
                </a:solidFill>
              </a:rPr>
              <a:t>Dept of AIML                                                                                                                          </a:t>
            </a:r>
            <a:r>
              <a:rPr lang="en-IN" sz="1300" spc="-20">
                <a:solidFill>
                  <a:schemeClr val="tx1"/>
                </a:solidFill>
              </a:rPr>
              <a:t>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388" y="339910"/>
            <a:ext cx="11151223" cy="813505"/>
          </a:xfrm>
          <a:prstGeom prst="rect">
            <a:avLst/>
          </a:prstGeom>
        </p:spPr>
        <p:txBody>
          <a:bodyPr vert="horz" wrap="square" lIns="0" tIns="13335" rIns="0" bIns="0" rtlCol="0">
            <a:spAutoFit/>
          </a:bodyPr>
          <a:lstStyle/>
          <a:p>
            <a:pPr marL="4260215">
              <a:lnSpc>
                <a:spcPct val="100000"/>
              </a:lnSpc>
              <a:spcBef>
                <a:spcPts val="105"/>
              </a:spcBef>
            </a:pPr>
            <a:r>
              <a:rPr spc="130"/>
              <a:t>REFERENCE</a:t>
            </a:r>
          </a:p>
        </p:txBody>
      </p:sp>
      <p:sp>
        <p:nvSpPr>
          <p:cNvPr id="3" name="object 3"/>
          <p:cNvSpPr txBox="1">
            <a:spLocks noGrp="1"/>
          </p:cNvSpPr>
          <p:nvPr>
            <p:ph type="body" idx="1"/>
          </p:nvPr>
        </p:nvSpPr>
        <p:spPr>
          <a:xfrm>
            <a:off x="674196" y="914400"/>
            <a:ext cx="11129645" cy="5239896"/>
          </a:xfrm>
          <a:prstGeom prst="rect">
            <a:avLst/>
          </a:prstGeom>
        </p:spPr>
        <p:txBody>
          <a:bodyPr vert="horz" wrap="square" lIns="0" tIns="12700" rIns="0" bIns="0" rtlCol="0">
            <a:spAutoFit/>
          </a:bodyPr>
          <a:lstStyle/>
          <a:p>
            <a:pPr marL="469900" marR="264795" indent="-457200" algn="just">
              <a:spcBef>
                <a:spcPts val="100"/>
              </a:spcBef>
              <a:buAutoNum type="arabicPeriod"/>
            </a:pPr>
            <a:r>
              <a:rPr lang="en-IN" spc="-10"/>
              <a:t>S, Ranjit. (2025). Camouflaged Military Personnel Detection Using SSIM-</a:t>
            </a:r>
            <a:r>
              <a:rPr lang="en-IN" spc="-10" err="1"/>
              <a:t>BasedFaster</a:t>
            </a:r>
            <a:r>
              <a:rPr lang="en-IN" spc="-10"/>
              <a:t> R-CNN Model. INTERNATIONAL JOURNAL OF ARTIFICIALINTELLIGENCE &amp; MACHINE LEARNING. 4. 36-47.10.34218/IJAIML_04_02_003.</a:t>
            </a:r>
          </a:p>
          <a:p>
            <a:pPr marL="469900" marR="264795" indent="-457200" algn="just">
              <a:spcBef>
                <a:spcPts val="100"/>
              </a:spcBef>
              <a:buAutoNum type="arabicPeriod"/>
            </a:pPr>
            <a:endParaRPr lang="en-IN" spc="-10"/>
          </a:p>
          <a:p>
            <a:pPr marL="469900" marR="264795" indent="-457200" algn="just">
              <a:spcBef>
                <a:spcPts val="100"/>
              </a:spcBef>
              <a:buAutoNum type="arabicPeriod"/>
            </a:pPr>
            <a:r>
              <a:rPr lang="en-IN" spc="-10"/>
              <a:t>2. </a:t>
            </a:r>
            <a:r>
              <a:rPr lang="en-IN" spc="-10" err="1"/>
              <a:t>Laidouni</a:t>
            </a:r>
            <a:r>
              <a:rPr lang="en-IN" spc="-10"/>
              <a:t>, Mohammed </a:t>
            </a:r>
            <a:r>
              <a:rPr lang="en-IN" spc="-10" err="1"/>
              <a:t>Zouaoui</a:t>
            </a:r>
            <a:r>
              <a:rPr lang="en-IN" spc="-10"/>
              <a:t> &amp; </a:t>
            </a:r>
            <a:r>
              <a:rPr lang="en-IN" spc="-10" err="1"/>
              <a:t>Bondzulic</a:t>
            </a:r>
            <a:r>
              <a:rPr lang="en-IN" spc="-10"/>
              <a:t>, Boban &amp; Pavlović, Boban. (2025).Military Camouflaged Target Detection Through Multimodal Images: A </a:t>
            </a:r>
            <a:r>
              <a:rPr lang="en-IN" spc="-10" err="1"/>
              <a:t>ComparativeStudy</a:t>
            </a:r>
            <a:r>
              <a:rPr lang="en-IN" spc="-10"/>
              <a:t>.</a:t>
            </a:r>
          </a:p>
          <a:p>
            <a:pPr marL="469900" marR="264795" indent="-457200" algn="just">
              <a:spcBef>
                <a:spcPts val="100"/>
              </a:spcBef>
              <a:buAutoNum type="arabicPeriod"/>
            </a:pPr>
            <a:endParaRPr lang="en-IN" spc="-10"/>
          </a:p>
          <a:p>
            <a:pPr marL="469900" marR="264795" indent="-457200" algn="just">
              <a:spcBef>
                <a:spcPts val="100"/>
              </a:spcBef>
              <a:buAutoNum type="arabicPeriod"/>
            </a:pPr>
            <a:r>
              <a:rPr lang="en-IN" spc="-10"/>
              <a:t>3. </a:t>
            </a:r>
            <a:r>
              <a:rPr lang="en-IN" spc="-10" err="1"/>
              <a:t>Padhy</a:t>
            </a:r>
            <a:r>
              <a:rPr lang="en-IN" spc="-10"/>
              <a:t>, I., J, T.S.C.M.R., CH, V.K.R. et al. Camouflaged object detection </a:t>
            </a:r>
            <a:r>
              <a:rPr lang="en-IN" spc="-10" err="1"/>
              <a:t>usinghybrid</a:t>
            </a:r>
            <a:r>
              <a:rPr lang="en-IN" spc="-10"/>
              <a:t>-deep learning model. </a:t>
            </a:r>
            <a:r>
              <a:rPr lang="en-IN" spc="-10" err="1"/>
              <a:t>Multimed</a:t>
            </a:r>
            <a:r>
              <a:rPr lang="en-IN" spc="-10"/>
              <a:t> Tools </a:t>
            </a:r>
            <a:r>
              <a:rPr lang="en-IN" spc="-10" err="1"/>
              <a:t>Appl</a:t>
            </a:r>
            <a:r>
              <a:rPr lang="en-IN" spc="-10"/>
              <a:t> 84, 31771–31791 (2025).https://doi.org/10.1007/s11042-024-20371-z</a:t>
            </a:r>
          </a:p>
          <a:p>
            <a:pPr marL="469900" marR="264795" indent="-457200" algn="just">
              <a:spcBef>
                <a:spcPts val="100"/>
              </a:spcBef>
              <a:buAutoNum type="arabicPeriod"/>
            </a:pPr>
            <a:endParaRPr lang="en-IN" spc="-10"/>
          </a:p>
          <a:p>
            <a:pPr marL="469900" marR="264795" indent="-457200" algn="just">
              <a:spcBef>
                <a:spcPts val="100"/>
              </a:spcBef>
              <a:buAutoNum type="arabicPeriod"/>
            </a:pPr>
            <a:r>
              <a:rPr lang="en-IN" spc="-10"/>
              <a:t>4. Chen, H.; Wang, X.; </a:t>
            </a:r>
            <a:r>
              <a:rPr lang="en-IN" spc="-10" err="1"/>
              <a:t>Jin</a:t>
            </a:r>
            <a:r>
              <a:rPr lang="en-IN" spc="-10"/>
              <a:t>, H. Hybrid-Recursive-Refinement Network for </a:t>
            </a:r>
            <a:r>
              <a:rPr lang="en-IN" spc="-10" err="1"/>
              <a:t>CamouflagedObject</a:t>
            </a:r>
            <a:r>
              <a:rPr lang="en-IN" spc="-10"/>
              <a:t> Detection. J. Imaging 2025, 11, 299.https://doi.org/10.3390/jimaging110902995. Haider, A., Muhammad, G., Khan, T.A. et al. Identification of camouflage </a:t>
            </a:r>
            <a:r>
              <a:rPr lang="en-IN" spc="-10" err="1"/>
              <a:t>militaryindividuals</a:t>
            </a:r>
            <a:r>
              <a:rPr lang="en-IN" spc="-10"/>
              <a:t> with deep learning approaches DFAN and SINETV2. Sci Rep 15, 33271(2025). </a:t>
            </a:r>
            <a:r>
              <a:rPr lang="en-IN" spc="-10">
                <a:hlinkClick r:id="rId2"/>
              </a:rPr>
              <a:t>https://doi.org/10.1038/s41598-025-18886-y</a:t>
            </a:r>
            <a:endParaRPr lang="en-IN" spc="-10"/>
          </a:p>
          <a:p>
            <a:pPr marL="469900" marR="264795" indent="-457200" algn="just">
              <a:spcBef>
                <a:spcPts val="100"/>
              </a:spcBef>
              <a:buAutoNum type="arabicPeriod"/>
            </a:pPr>
            <a:endParaRPr lang="en-IN" spc="-10"/>
          </a:p>
          <a:p>
            <a:pPr marL="469900" marR="264795" indent="-457200" algn="just">
              <a:spcBef>
                <a:spcPts val="100"/>
              </a:spcBef>
              <a:buAutoNum type="arabicPeriod"/>
            </a:pPr>
            <a:r>
              <a:rPr lang="en-US" spc="-10"/>
              <a:t>Haider, A., Muhammad, G., Khan, T.A. et al. Identification of camouflage </a:t>
            </a:r>
            <a:r>
              <a:rPr lang="en-US" spc="-10" err="1"/>
              <a:t>militaryindividuals</a:t>
            </a:r>
            <a:r>
              <a:rPr lang="en-US" spc="-10"/>
              <a:t> with deep learning approaches DFAN and SINETV2. Sci Rep 15, 33271(2025). https://doi.org/10.1038/s41598-025-18886-y</a:t>
            </a:r>
            <a:endParaRPr spc="-10"/>
          </a:p>
        </p:txBody>
      </p:sp>
      <p:sp>
        <p:nvSpPr>
          <p:cNvPr id="11" name="TextBox 10">
            <a:extLst>
              <a:ext uri="{FF2B5EF4-FFF2-40B4-BE49-F238E27FC236}">
                <a16:creationId xmlns:a16="http://schemas.microsoft.com/office/drawing/2014/main" id="{6BA59C97-BA98-AB9A-E5D7-A8B37B8EA0E3}"/>
              </a:ext>
            </a:extLst>
          </p:cNvPr>
          <p:cNvSpPr txBox="1"/>
          <p:nvPr/>
        </p:nvSpPr>
        <p:spPr>
          <a:xfrm>
            <a:off x="914400" y="6308741"/>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14</a:t>
            </a:r>
            <a:endParaRPr lang="en-IN" sz="1200" spc="-85">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388" y="152400"/>
            <a:ext cx="11151223" cy="813505"/>
          </a:xfrm>
          <a:prstGeom prst="rect">
            <a:avLst/>
          </a:prstGeom>
        </p:spPr>
        <p:txBody>
          <a:bodyPr vert="horz" wrap="square" lIns="0" tIns="13335" rIns="0" bIns="0" rtlCol="0">
            <a:spAutoFit/>
          </a:bodyPr>
          <a:lstStyle/>
          <a:p>
            <a:pPr marL="4260215">
              <a:lnSpc>
                <a:spcPct val="100000"/>
              </a:lnSpc>
              <a:spcBef>
                <a:spcPts val="105"/>
              </a:spcBef>
            </a:pPr>
            <a:r>
              <a:rPr spc="130"/>
              <a:t>REFERENCE</a:t>
            </a:r>
          </a:p>
        </p:txBody>
      </p:sp>
      <p:sp>
        <p:nvSpPr>
          <p:cNvPr id="3" name="object 3"/>
          <p:cNvSpPr txBox="1">
            <a:spLocks noGrp="1"/>
          </p:cNvSpPr>
          <p:nvPr>
            <p:ph type="body" idx="1"/>
          </p:nvPr>
        </p:nvSpPr>
        <p:spPr>
          <a:xfrm>
            <a:off x="809046" y="716141"/>
            <a:ext cx="11129645" cy="5750549"/>
          </a:xfrm>
          <a:prstGeom prst="rect">
            <a:avLst/>
          </a:prstGeom>
        </p:spPr>
        <p:txBody>
          <a:bodyPr vert="horz" wrap="square" lIns="0" tIns="12700" rIns="0" bIns="0" rtlCol="0">
            <a:spAutoFit/>
          </a:bodyPr>
          <a:lstStyle/>
          <a:p>
            <a:pPr marL="12700" marR="264795" indent="3175">
              <a:lnSpc>
                <a:spcPct val="117100"/>
              </a:lnSpc>
              <a:spcBef>
                <a:spcPts val="100"/>
              </a:spcBef>
            </a:pPr>
            <a:r>
              <a:rPr lang="en-IN"/>
              <a:t>6. J. Singh, “</a:t>
            </a:r>
            <a:r>
              <a:rPr lang="en-IN" err="1"/>
              <a:t>CamoVision</a:t>
            </a:r>
            <a:r>
              <a:rPr lang="en-IN"/>
              <a:t>: A Dual-Mode Deep Learning Framework for </a:t>
            </a:r>
            <a:r>
              <a:rPr lang="en-IN" err="1"/>
              <a:t>CamouflagedObject</a:t>
            </a:r>
            <a:r>
              <a:rPr lang="en-IN"/>
              <a:t> Detection in Images and Videos”, Eng. Technol. Appl. Sci. Res., vol. 15, no. 6,pp. 30154–30160, Dec. 2025.</a:t>
            </a:r>
          </a:p>
          <a:p>
            <a:pPr marL="12700" marR="264795" indent="3175">
              <a:lnSpc>
                <a:spcPct val="117100"/>
              </a:lnSpc>
              <a:spcBef>
                <a:spcPts val="100"/>
              </a:spcBef>
            </a:pPr>
            <a:endParaRPr lang="en-IN"/>
          </a:p>
          <a:p>
            <a:pPr marL="12700" marR="264795" indent="3175">
              <a:lnSpc>
                <a:spcPct val="117100"/>
              </a:lnSpc>
              <a:spcBef>
                <a:spcPts val="100"/>
              </a:spcBef>
            </a:pPr>
            <a:r>
              <a:rPr lang="en-IN"/>
              <a:t>7. Peng, Y., Wang, J., Yu, Z., You, Y., &amp; Sun, Y. (2024). Camouflage soldier </a:t>
            </a:r>
            <a:r>
              <a:rPr lang="en-IN" err="1"/>
              <a:t>objectdetection</a:t>
            </a:r>
            <a:r>
              <a:rPr lang="en-IN"/>
              <a:t> network based on the attention mechanism and pyramidal feature </a:t>
            </a:r>
            <a:r>
              <a:rPr lang="en-IN" err="1"/>
              <a:t>shrinking.Multimedia</a:t>
            </a:r>
            <a:r>
              <a:rPr lang="en-IN"/>
              <a:t> Tools &amp; Applications, 83(33), 79917–79938.https://doi.org/10.1007/s11042-024-18618-w</a:t>
            </a:r>
          </a:p>
          <a:p>
            <a:pPr marL="12700" marR="264795" indent="3175">
              <a:lnSpc>
                <a:spcPct val="117100"/>
              </a:lnSpc>
              <a:spcBef>
                <a:spcPts val="100"/>
              </a:spcBef>
            </a:pPr>
            <a:endParaRPr lang="en-IN"/>
          </a:p>
          <a:p>
            <a:pPr marL="12700" marR="264795" indent="3175">
              <a:lnSpc>
                <a:spcPct val="117100"/>
              </a:lnSpc>
              <a:spcBef>
                <a:spcPts val="100"/>
              </a:spcBef>
            </a:pPr>
            <a:r>
              <a:rPr lang="en-IN"/>
              <a:t>8. R. Peng et al., "Camouflaged Target Detection Based on Multimodal Image </a:t>
            </a:r>
            <a:r>
              <a:rPr lang="en-IN" err="1"/>
              <a:t>InputPixel</a:t>
            </a:r>
            <a:r>
              <a:rPr lang="en-IN"/>
              <a:t>-Level Fusion," in Frontiers of Information Technology &amp; </a:t>
            </a:r>
            <a:r>
              <a:rPr lang="en-IN" err="1"/>
              <a:t>ElectronicEngineering</a:t>
            </a:r>
            <a:r>
              <a:rPr lang="en-IN"/>
              <a:t>, vol. 25, no. 9, pp. 1226-1239, January 2024, doi:10.1631/FITEE.2300503.</a:t>
            </a:r>
          </a:p>
          <a:p>
            <a:pPr marL="12700" marR="264795" indent="3175">
              <a:lnSpc>
                <a:spcPct val="117100"/>
              </a:lnSpc>
              <a:spcBef>
                <a:spcPts val="100"/>
              </a:spcBef>
            </a:pPr>
            <a:endParaRPr lang="en-IN"/>
          </a:p>
          <a:p>
            <a:pPr marL="12700" marR="264795" indent="3175">
              <a:lnSpc>
                <a:spcPct val="117100"/>
              </a:lnSpc>
              <a:spcBef>
                <a:spcPts val="100"/>
              </a:spcBef>
            </a:pPr>
            <a:r>
              <a:rPr lang="en-IN"/>
              <a:t>9. Hsiang, Han-Cheng &amp; Wang, </a:t>
            </a:r>
            <a:r>
              <a:rPr lang="en-IN" err="1"/>
              <a:t>JinYuan</a:t>
            </a:r>
            <a:r>
              <a:rPr lang="en-IN"/>
              <a:t> &amp; Liu, Yong. </a:t>
            </a:r>
            <a:r>
              <a:rPr lang="en-IN" err="1"/>
              <a:t>CPANet</a:t>
            </a:r>
            <a:r>
              <a:rPr lang="en-IN"/>
              <a:t>: Cross-</a:t>
            </a:r>
            <a:r>
              <a:rPr lang="en-IN" err="1"/>
              <a:t>DomainPolynomial</a:t>
            </a:r>
            <a:r>
              <a:rPr lang="en-IN"/>
              <a:t> Attention Network for Camouflaged Object Detection. IEEE Access. PP.1-1. </a:t>
            </a:r>
          </a:p>
          <a:p>
            <a:pPr marL="12700" marR="264795" indent="3175">
              <a:lnSpc>
                <a:spcPct val="117100"/>
              </a:lnSpc>
              <a:spcBef>
                <a:spcPts val="100"/>
              </a:spcBef>
            </a:pPr>
            <a:endParaRPr lang="en-IN"/>
          </a:p>
          <a:p>
            <a:pPr marL="12700" marR="264795" indent="3175">
              <a:lnSpc>
                <a:spcPct val="117100"/>
              </a:lnSpc>
              <a:spcBef>
                <a:spcPts val="100"/>
              </a:spcBef>
            </a:pPr>
            <a:r>
              <a:rPr lang="en-IN"/>
              <a:t>10.1109/ACCESS.2026.3655403.10. Yadav, A., Kumar, E. Object Detection on Real-Time Video with FPN and </a:t>
            </a:r>
            <a:r>
              <a:rPr lang="en-IN" err="1"/>
              <a:t>ModifiedMask</a:t>
            </a:r>
            <a:r>
              <a:rPr lang="en-IN"/>
              <a:t> RCNN Based on Inception-ResNetV2. Wireless </a:t>
            </a:r>
            <a:r>
              <a:rPr lang="en-IN" err="1"/>
              <a:t>Pers</a:t>
            </a:r>
            <a:r>
              <a:rPr lang="en-IN"/>
              <a:t> </a:t>
            </a:r>
            <a:r>
              <a:rPr lang="en-IN" err="1"/>
              <a:t>Commun</a:t>
            </a:r>
            <a:r>
              <a:rPr lang="en-IN"/>
              <a:t> 138, 2065–2090(2024). https://doi.org/10.1007/s11277-024-11539-9</a:t>
            </a:r>
            <a:endParaRPr spc="-10"/>
          </a:p>
        </p:txBody>
      </p:sp>
      <p:sp>
        <p:nvSpPr>
          <p:cNvPr id="8" name="TextBox 7">
            <a:extLst>
              <a:ext uri="{FF2B5EF4-FFF2-40B4-BE49-F238E27FC236}">
                <a16:creationId xmlns:a16="http://schemas.microsoft.com/office/drawing/2014/main" id="{C6162E5E-209F-EBD6-8A45-D480EFA9046F}"/>
              </a:ext>
            </a:extLst>
          </p:cNvPr>
          <p:cNvSpPr txBox="1"/>
          <p:nvPr/>
        </p:nvSpPr>
        <p:spPr>
          <a:xfrm>
            <a:off x="914399" y="6421420"/>
            <a:ext cx="10918938" cy="284180"/>
          </a:xfrm>
          <a:prstGeom prst="rect">
            <a:avLst/>
          </a:prstGeom>
          <a:noFill/>
        </p:spPr>
        <p:txBody>
          <a:bodyPr wrap="square" lIns="91440" tIns="45720" rIns="91440" bIns="45720" anchor="t">
            <a:spAutoFit/>
          </a:bodyPr>
          <a:lstStyle/>
          <a:p>
            <a:pPr marL="12700" algn="l">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a:t>
            </a:r>
            <a:r>
              <a:rPr lang="en-IN" sz="1300" spc="-20">
                <a:solidFill>
                  <a:schemeClr val="tx1"/>
                </a:solidFill>
              </a:rPr>
              <a:t>                   15</a:t>
            </a:r>
            <a:endParaRPr lang="en-IN" sz="1200" spc="-85">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40967" y="816329"/>
            <a:ext cx="11106785" cy="5225341"/>
          </a:xfrm>
          <a:prstGeom prst="rect">
            <a:avLst/>
          </a:prstGeom>
        </p:spPr>
        <p:txBody>
          <a:bodyPr vert="horz" wrap="square" lIns="0" tIns="12700" rIns="0" bIns="0" rtlCol="0">
            <a:spAutoFit/>
          </a:bodyPr>
          <a:lstStyle/>
          <a:p>
            <a:pPr marL="13335" marR="278765">
              <a:lnSpc>
                <a:spcPct val="105900"/>
              </a:lnSpc>
              <a:spcBef>
                <a:spcPts val="100"/>
              </a:spcBef>
              <a:tabLst>
                <a:tab pos="346710" algn="l"/>
              </a:tabLst>
            </a:pPr>
            <a:r>
              <a:rPr lang="en-IN" sz="1850">
                <a:latin typeface="Times New Roman"/>
                <a:cs typeface="Times New Roman"/>
              </a:rPr>
              <a:t>11. H. O. </a:t>
            </a:r>
            <a:r>
              <a:rPr lang="en-IN" sz="1850" err="1">
                <a:latin typeface="Times New Roman"/>
                <a:cs typeface="Times New Roman"/>
              </a:rPr>
              <a:t>Velesaca</a:t>
            </a:r>
            <a:r>
              <a:rPr lang="en-IN" sz="1850">
                <a:latin typeface="Times New Roman"/>
                <a:cs typeface="Times New Roman"/>
              </a:rPr>
              <a:t>, P. A. Mero, A. Reyes-Angulo and A. D. </a:t>
            </a:r>
            <a:r>
              <a:rPr lang="en-IN" sz="1850" err="1">
                <a:latin typeface="Times New Roman"/>
                <a:cs typeface="Times New Roman"/>
              </a:rPr>
              <a:t>Sappa</a:t>
            </a:r>
            <a:r>
              <a:rPr lang="en-IN" sz="1850">
                <a:latin typeface="Times New Roman"/>
                <a:cs typeface="Times New Roman"/>
              </a:rPr>
              <a:t>, "</a:t>
            </a:r>
            <a:r>
              <a:rPr lang="en-IN" sz="1850" err="1">
                <a:latin typeface="Times New Roman"/>
                <a:cs typeface="Times New Roman"/>
              </a:rPr>
              <a:t>AINet</a:t>
            </a:r>
            <a:r>
              <a:rPr lang="en-IN" sz="1850">
                <a:latin typeface="Times New Roman"/>
                <a:cs typeface="Times New Roman"/>
              </a:rPr>
              <a:t>: </a:t>
            </a:r>
            <a:r>
              <a:rPr lang="en-IN" sz="1850" err="1">
                <a:latin typeface="Times New Roman"/>
                <a:cs typeface="Times New Roman"/>
              </a:rPr>
              <a:t>IntegratingMamba</a:t>
            </a:r>
            <a:r>
              <a:rPr lang="en-IN" sz="1850">
                <a:latin typeface="Times New Roman"/>
                <a:cs typeface="Times New Roman"/>
              </a:rPr>
              <a:t> and CBAM for Enhanced Camouflage Object Detection," in IEEE </a:t>
            </a:r>
            <a:r>
              <a:rPr lang="en-IN" sz="1850" err="1">
                <a:latin typeface="Times New Roman"/>
                <a:cs typeface="Times New Roman"/>
              </a:rPr>
              <a:t>Access,doi</a:t>
            </a:r>
            <a:r>
              <a:rPr lang="en-IN" sz="1850">
                <a:latin typeface="Times New Roman"/>
                <a:cs typeface="Times New Roman"/>
              </a:rPr>
              <a:t>: 10.1109/ACCESS.2026.3668115.</a:t>
            </a:r>
          </a:p>
          <a:p>
            <a:pPr marL="13335" marR="278765">
              <a:lnSpc>
                <a:spcPct val="105900"/>
              </a:lnSpc>
              <a:spcBef>
                <a:spcPts val="100"/>
              </a:spcBef>
              <a:tabLst>
                <a:tab pos="346710" algn="l"/>
              </a:tabLst>
            </a:pPr>
            <a:endParaRPr lang="en-IN" sz="1850">
              <a:latin typeface="Times New Roman"/>
              <a:cs typeface="Times New Roman"/>
            </a:endParaRPr>
          </a:p>
          <a:p>
            <a:pPr marL="13335" marR="278765">
              <a:lnSpc>
                <a:spcPct val="105900"/>
              </a:lnSpc>
              <a:spcBef>
                <a:spcPts val="100"/>
              </a:spcBef>
              <a:tabLst>
                <a:tab pos="346710" algn="l"/>
              </a:tabLst>
            </a:pPr>
            <a:r>
              <a:rPr lang="en-IN" sz="1850">
                <a:latin typeface="Times New Roman"/>
                <a:cs typeface="Times New Roman"/>
              </a:rPr>
              <a:t>12. Xiao, H., Liu, Z., Luo, F. et al. </a:t>
            </a:r>
            <a:r>
              <a:rPr lang="en-IN" sz="1850" err="1">
                <a:latin typeface="Times New Roman"/>
                <a:cs typeface="Times New Roman"/>
              </a:rPr>
              <a:t>Ulcod</a:t>
            </a:r>
            <a:r>
              <a:rPr lang="en-IN" sz="1850">
                <a:latin typeface="Times New Roman"/>
                <a:cs typeface="Times New Roman"/>
              </a:rPr>
              <a:t>-net: an ultra-lightweight camouflage </a:t>
            </a:r>
            <a:r>
              <a:rPr lang="en-IN" sz="1850" err="1">
                <a:latin typeface="Times New Roman"/>
                <a:cs typeface="Times New Roman"/>
              </a:rPr>
              <a:t>objectdetection</a:t>
            </a:r>
            <a:r>
              <a:rPr lang="en-IN" sz="1850">
                <a:latin typeface="Times New Roman"/>
                <a:cs typeface="Times New Roman"/>
              </a:rPr>
              <a:t> framework with gated multi-level feature fusion and dual-</a:t>
            </a:r>
            <a:r>
              <a:rPr lang="en-IN" sz="1850" err="1">
                <a:latin typeface="Times New Roman"/>
                <a:cs typeface="Times New Roman"/>
              </a:rPr>
              <a:t>constraintrefinement</a:t>
            </a:r>
            <a:r>
              <a:rPr lang="en-IN" sz="1850">
                <a:latin typeface="Times New Roman"/>
                <a:cs typeface="Times New Roman"/>
              </a:rPr>
              <a:t>. Complex </a:t>
            </a:r>
            <a:r>
              <a:rPr lang="en-IN" sz="1850" err="1">
                <a:latin typeface="Times New Roman"/>
                <a:cs typeface="Times New Roman"/>
              </a:rPr>
              <a:t>Intell</a:t>
            </a:r>
            <a:r>
              <a:rPr lang="en-IN" sz="1850">
                <a:latin typeface="Times New Roman"/>
                <a:cs typeface="Times New Roman"/>
              </a:rPr>
              <a:t>. Syst. 12, 76 (2026). </a:t>
            </a:r>
            <a:r>
              <a:rPr lang="en-IN" sz="1850">
                <a:latin typeface="Times New Roman"/>
                <a:cs typeface="Times New Roman"/>
                <a:hlinkClick r:id="rId2"/>
              </a:rPr>
              <a:t>https://doi.org/10.1007/s40747-025-02201-3</a:t>
            </a:r>
            <a:endParaRPr lang="en-IN" sz="1850">
              <a:latin typeface="Times New Roman"/>
              <a:cs typeface="Times New Roman"/>
            </a:endParaRPr>
          </a:p>
          <a:p>
            <a:pPr marL="13335" marR="278765">
              <a:lnSpc>
                <a:spcPct val="105900"/>
              </a:lnSpc>
              <a:spcBef>
                <a:spcPts val="100"/>
              </a:spcBef>
              <a:tabLst>
                <a:tab pos="346710" algn="l"/>
              </a:tabLst>
            </a:pPr>
            <a:endParaRPr lang="en-IN" sz="1850">
              <a:latin typeface="Times New Roman"/>
              <a:cs typeface="Times New Roman"/>
            </a:endParaRPr>
          </a:p>
          <a:p>
            <a:pPr marL="13335" marR="278765">
              <a:lnSpc>
                <a:spcPct val="105900"/>
              </a:lnSpc>
              <a:spcBef>
                <a:spcPts val="100"/>
              </a:spcBef>
              <a:tabLst>
                <a:tab pos="346710" algn="l"/>
              </a:tabLst>
            </a:pPr>
            <a:r>
              <a:rPr lang="en-IN" sz="1850">
                <a:latin typeface="Times New Roman"/>
                <a:cs typeface="Times New Roman"/>
              </a:rPr>
              <a:t>13. Fu, R.; Li, Y.; Chen, C.-C.; Duan, Y.; Yao, P.; Zhou, K. </a:t>
            </a:r>
            <a:r>
              <a:rPr lang="en-IN" sz="1850" err="1">
                <a:latin typeface="Times New Roman"/>
                <a:cs typeface="Times New Roman"/>
              </a:rPr>
              <a:t>ATDMNet</a:t>
            </a:r>
            <a:r>
              <a:rPr lang="en-IN" sz="1850">
                <a:latin typeface="Times New Roman"/>
                <a:cs typeface="Times New Roman"/>
              </a:rPr>
              <a:t>: Multi-Head </a:t>
            </a:r>
            <a:r>
              <a:rPr lang="en-IN" sz="1850" err="1">
                <a:latin typeface="Times New Roman"/>
                <a:cs typeface="Times New Roman"/>
              </a:rPr>
              <a:t>AgentAttention</a:t>
            </a:r>
            <a:r>
              <a:rPr lang="en-IN" sz="1850">
                <a:latin typeface="Times New Roman"/>
                <a:cs typeface="Times New Roman"/>
              </a:rPr>
              <a:t> and Top-k Dynamic Mask for Camouflaged Object Detection. Sensors2025, 25, 3001. </a:t>
            </a:r>
            <a:r>
              <a:rPr lang="en-IN" sz="1850">
                <a:latin typeface="Times New Roman"/>
                <a:cs typeface="Times New Roman"/>
                <a:hlinkClick r:id="rId3"/>
              </a:rPr>
              <a:t>https://doi.org/10.3390/s25103001</a:t>
            </a:r>
            <a:endParaRPr lang="en-IN" sz="1850">
              <a:latin typeface="Times New Roman"/>
              <a:cs typeface="Times New Roman"/>
            </a:endParaRPr>
          </a:p>
          <a:p>
            <a:pPr marL="13335" marR="278765">
              <a:lnSpc>
                <a:spcPct val="105900"/>
              </a:lnSpc>
              <a:spcBef>
                <a:spcPts val="100"/>
              </a:spcBef>
              <a:tabLst>
                <a:tab pos="346710" algn="l"/>
              </a:tabLst>
            </a:pPr>
            <a:endParaRPr lang="en-IN" sz="1850">
              <a:latin typeface="Times New Roman"/>
              <a:cs typeface="Times New Roman"/>
            </a:endParaRPr>
          </a:p>
          <a:p>
            <a:pPr marL="13335" marR="278765">
              <a:lnSpc>
                <a:spcPct val="105900"/>
              </a:lnSpc>
              <a:spcBef>
                <a:spcPts val="100"/>
              </a:spcBef>
              <a:tabLst>
                <a:tab pos="346710" algn="l"/>
              </a:tabLst>
            </a:pPr>
            <a:r>
              <a:rPr lang="en-IN" sz="1850">
                <a:latin typeface="Times New Roman"/>
                <a:cs typeface="Times New Roman"/>
              </a:rPr>
              <a:t>14. J. Yang and Y. Du, "Improved Camouflage Personnel Detection Based on YOLOv8,"2025 6th International Conference on Computer Vision, Image and Deep Learning(CVIDL), Ningbo, China, 2025, pp. 54-57, doi:10.1109/CVIDL65390.2025.11086024.</a:t>
            </a:r>
          </a:p>
          <a:p>
            <a:pPr marL="13335" marR="278765">
              <a:lnSpc>
                <a:spcPct val="105900"/>
              </a:lnSpc>
              <a:spcBef>
                <a:spcPts val="100"/>
              </a:spcBef>
              <a:tabLst>
                <a:tab pos="346710" algn="l"/>
              </a:tabLst>
            </a:pPr>
            <a:endParaRPr lang="en-IN" sz="1850">
              <a:latin typeface="Times New Roman"/>
              <a:cs typeface="Times New Roman"/>
            </a:endParaRPr>
          </a:p>
          <a:p>
            <a:pPr marL="13335" marR="278765">
              <a:lnSpc>
                <a:spcPct val="105900"/>
              </a:lnSpc>
              <a:spcBef>
                <a:spcPts val="100"/>
              </a:spcBef>
              <a:tabLst>
                <a:tab pos="346710" algn="l"/>
              </a:tabLst>
            </a:pPr>
            <a:r>
              <a:rPr lang="en-IN" sz="1850">
                <a:latin typeface="Times New Roman"/>
                <a:cs typeface="Times New Roman"/>
              </a:rPr>
              <a:t>15. S, Ranjit. (2025). Camouflaged Military Personnel Detection Using SSIM-</a:t>
            </a:r>
            <a:r>
              <a:rPr lang="en-IN" sz="1850" err="1">
                <a:latin typeface="Times New Roman"/>
                <a:cs typeface="Times New Roman"/>
              </a:rPr>
              <a:t>BasedFaster</a:t>
            </a:r>
            <a:r>
              <a:rPr lang="en-IN" sz="1850">
                <a:latin typeface="Times New Roman"/>
                <a:cs typeface="Times New Roman"/>
              </a:rPr>
              <a:t> R-CNN Model. INTERNATIONAL JOURNAL OF ARTIFICIALINTELLIGENCE &amp; MACHINE LEARNING. 4. 36-47.10.34218/IJAIML_04_02_003.</a:t>
            </a:r>
            <a:endParaRPr sz="1850">
              <a:latin typeface="Times New Roman"/>
              <a:cs typeface="Times New Roman"/>
            </a:endParaRPr>
          </a:p>
        </p:txBody>
      </p:sp>
      <p:sp>
        <p:nvSpPr>
          <p:cNvPr id="9" name="TextBox 8">
            <a:extLst>
              <a:ext uri="{FF2B5EF4-FFF2-40B4-BE49-F238E27FC236}">
                <a16:creationId xmlns:a16="http://schemas.microsoft.com/office/drawing/2014/main" id="{428FA2CC-9228-B6D5-152B-DF042496732E}"/>
              </a:ext>
            </a:extLst>
          </p:cNvPr>
          <p:cNvSpPr txBox="1"/>
          <p:nvPr/>
        </p:nvSpPr>
        <p:spPr>
          <a:xfrm>
            <a:off x="914400" y="6308741"/>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a:t>
            </a:r>
            <a:r>
              <a:rPr lang="en-IN" sz="1300" spc="-20">
                <a:solidFill>
                  <a:schemeClr val="tx1"/>
                </a:solidFill>
              </a:rPr>
              <a:t>            16</a:t>
            </a:r>
            <a:endParaRPr lang="en-IN" sz="1200" spc="-85">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B6E793-4009-802C-5AEE-AFD40BCDD6BB}"/>
              </a:ext>
            </a:extLst>
          </p:cNvPr>
          <p:cNvSpPr txBox="1"/>
          <p:nvPr/>
        </p:nvSpPr>
        <p:spPr>
          <a:xfrm>
            <a:off x="762000" y="685800"/>
            <a:ext cx="10820400" cy="1754326"/>
          </a:xfrm>
          <a:prstGeom prst="rect">
            <a:avLst/>
          </a:prstGeom>
          <a:noFill/>
        </p:spPr>
        <p:txBody>
          <a:bodyPr wrap="square">
            <a:spAutoFit/>
          </a:bodyPr>
          <a:lstStyle/>
          <a:p>
            <a:r>
              <a:rPr lang="en-IN"/>
              <a:t>16. Yuan, C.; Liu, L.; Li, Y.; Li, J. SAM2-DFBCNet: A Camouflaged Object </a:t>
            </a:r>
            <a:r>
              <a:rPr lang="en-IN" err="1"/>
              <a:t>DetectionNetwork</a:t>
            </a:r>
            <a:r>
              <a:rPr lang="en-IN"/>
              <a:t> Based on the </a:t>
            </a:r>
            <a:r>
              <a:rPr lang="en-IN" err="1"/>
              <a:t>Heira</a:t>
            </a:r>
            <a:r>
              <a:rPr lang="en-IN"/>
              <a:t> Architecture of SAM2. Sensors 2025, 25, 4509.https://doi.org/10.3390/s25144509</a:t>
            </a:r>
          </a:p>
          <a:p>
            <a:endParaRPr lang="en-IN"/>
          </a:p>
          <a:p>
            <a:r>
              <a:rPr lang="en-IN"/>
              <a:t>17. S. Liu, J. </a:t>
            </a:r>
            <a:r>
              <a:rPr lang="en-IN" err="1"/>
              <a:t>Zha</a:t>
            </a:r>
            <a:r>
              <a:rPr lang="en-IN"/>
              <a:t>, J. Sun, Z. Li and G. Wang, "</a:t>
            </a:r>
            <a:r>
              <a:rPr lang="en-IN" err="1"/>
              <a:t>EdgeYOLO</a:t>
            </a:r>
            <a:r>
              <a:rPr lang="en-IN"/>
              <a:t>: An Edge-Real-Time </a:t>
            </a:r>
            <a:r>
              <a:rPr lang="en-IN" err="1"/>
              <a:t>ObjectDetector</a:t>
            </a:r>
            <a:r>
              <a:rPr lang="en-IN"/>
              <a:t>," 2023 42nd Chinese Control Conference (CCC), Tianjin, China, 2023, pp.7507-7512, </a:t>
            </a:r>
            <a:r>
              <a:rPr lang="en-IN" err="1"/>
              <a:t>doi</a:t>
            </a:r>
            <a:r>
              <a:rPr lang="en-IN"/>
              <a:t>: 10.23919/CCC58697.2023.10239786</a:t>
            </a:r>
          </a:p>
        </p:txBody>
      </p:sp>
      <p:sp>
        <p:nvSpPr>
          <p:cNvPr id="4" name="TextBox 3">
            <a:extLst>
              <a:ext uri="{FF2B5EF4-FFF2-40B4-BE49-F238E27FC236}">
                <a16:creationId xmlns:a16="http://schemas.microsoft.com/office/drawing/2014/main" id="{FE9ABF34-7408-7718-FBAE-E49E9C40A972}"/>
              </a:ext>
            </a:extLst>
          </p:cNvPr>
          <p:cNvSpPr txBox="1"/>
          <p:nvPr/>
        </p:nvSpPr>
        <p:spPr>
          <a:xfrm>
            <a:off x="838200" y="6324600"/>
            <a:ext cx="10918938" cy="284180"/>
          </a:xfrm>
          <a:prstGeom prst="rect">
            <a:avLst/>
          </a:prstGeom>
          <a:noFill/>
        </p:spPr>
        <p:txBody>
          <a:bodyPr wrap="square">
            <a:spAutoFit/>
          </a:bodyPr>
          <a:lstStyle/>
          <a:p>
            <a:pPr marL="12700">
              <a:lnSpc>
                <a:spcPts val="1635"/>
              </a:lnSpc>
            </a:pPr>
            <a:r>
              <a:rPr lang="en-IN" sz="1300"/>
              <a:t>03-03-</a:t>
            </a:r>
            <a:r>
              <a:rPr lang="en-IN" sz="1300" spc="-20"/>
              <a:t>2025                                                                                              </a:t>
            </a:r>
            <a:r>
              <a:rPr lang="en-IN" sz="1200" spc="-10">
                <a:solidFill>
                  <a:schemeClr val="tx1"/>
                </a:solidFill>
              </a:rPr>
              <a:t>Dept</a:t>
            </a:r>
            <a:r>
              <a:rPr lang="en-IN" sz="1200" spc="-50">
                <a:solidFill>
                  <a:schemeClr val="tx1"/>
                </a:solidFill>
              </a:rPr>
              <a:t> </a:t>
            </a:r>
            <a:r>
              <a:rPr lang="en-IN" sz="1200" spc="-30">
                <a:solidFill>
                  <a:schemeClr val="tx1"/>
                </a:solidFill>
              </a:rPr>
              <a:t>of</a:t>
            </a:r>
            <a:r>
              <a:rPr lang="en-IN" sz="1200" spc="-20">
                <a:solidFill>
                  <a:schemeClr val="tx1"/>
                </a:solidFill>
              </a:rPr>
              <a:t> </a:t>
            </a:r>
            <a:r>
              <a:rPr lang="en-IN" sz="1200" spc="-85">
                <a:solidFill>
                  <a:schemeClr val="tx1"/>
                </a:solidFill>
              </a:rPr>
              <a:t>AIML                                                                                                                                                 17</a:t>
            </a:r>
          </a:p>
        </p:txBody>
      </p:sp>
    </p:spTree>
    <p:extLst>
      <p:ext uri="{BB962C8B-B14F-4D97-AF65-F5344CB8AC3E}">
        <p14:creationId xmlns:p14="http://schemas.microsoft.com/office/powerpoint/2010/main" val="2147156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2999</Words>
  <Application>Microsoft Office PowerPoint</Application>
  <PresentationFormat>Widescreen</PresentationFormat>
  <Paragraphs>517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MT</vt:lpstr>
      <vt:lpstr>Calibri</vt:lpstr>
      <vt:lpstr>Times New Roman</vt:lpstr>
      <vt:lpstr>Office Theme</vt:lpstr>
      <vt:lpstr>PowerPoint Presentation</vt:lpstr>
      <vt:lpstr>CONTENTS</vt:lpstr>
      <vt:lpstr>ABSTRACT</vt:lpstr>
      <vt:lpstr>INTRODUCTION</vt:lpstr>
      <vt:lpstr>LITERATURE SURVEY</vt:lpstr>
      <vt:lpstr>LITERATURE SURVEY CONT....</vt:lpstr>
      <vt:lpstr>LITERATURE SURVEY CONT....</vt:lpstr>
      <vt:lpstr>LITERATURE SURVEY CONT....</vt:lpstr>
      <vt:lpstr>PowerPoint Presentation</vt:lpstr>
      <vt:lpstr>PowerPoint Presentation</vt:lpstr>
      <vt:lpstr>PROBLEM STATEMENT</vt:lpstr>
      <vt:lpstr>OBJECTIVES</vt:lpstr>
      <vt:lpstr>RESEARCH GAP</vt:lpstr>
      <vt:lpstr>PROPOSED SYSTEM</vt:lpstr>
      <vt:lpstr>FUNCTIONAL REQUIREMENTS</vt:lpstr>
      <vt:lpstr>NON-FUNCTIONAL REQUIREMENTS</vt:lpstr>
      <vt:lpstr>SOFTWARE REQUIREMENTS</vt:lpstr>
      <vt:lpstr>HARDWARE REQUIREMENTS</vt:lpstr>
      <vt:lpstr>SYSTEM ARCHITECTURE</vt:lpstr>
      <vt:lpstr>EXECUTION FLOW</vt:lpstr>
      <vt:lpstr>USE CASE DIAGRAM</vt:lpstr>
      <vt:lpstr>CONSTRAINTS</vt:lpstr>
      <vt:lpstr>TESTING &amp; EVALUATION</vt:lpstr>
      <vt:lpstr>CONCLUSION</vt:lpstr>
      <vt:lpstr>REFERENCE</vt:lpstr>
      <vt:lpstr>REFERENCE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Chaithanya R Rao</dc:creator>
  <cp:lastModifiedBy>Chaithanya R Rao</cp:lastModifiedBy>
  <cp:revision>129</cp:revision>
  <dcterms:created xsi:type="dcterms:W3CDTF">2026-03-02T05:55:16Z</dcterms:created>
  <dcterms:modified xsi:type="dcterms:W3CDTF">2026-05-04T08:03:33Z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2025-03-27T00:00:00Z</vt:filetime>
  </property>
  <property fmtid="{D5CDD505-2E9C-101B-9397-08002B2CF9AE}" pid="3" name="Producer">
    <vt:lpwstr>jsPDF 2.5.1</vt:lpwstr>
  </property>
  <property fmtid="{D5CDD505-2E9C-101B-9397-08002B2CF9AE}" pid="4" name="LastSaved">
    <vt:filetime>2025-03-27T00:00:00Z</vt:filetime>
  </property>
</Properties>
</file>